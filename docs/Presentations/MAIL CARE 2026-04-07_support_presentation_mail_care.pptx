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 type="screen4x3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236" y="-90"/>
      </p:cViewPr>
      <p:guideLst>
        <p:guide pos="2160" orient="horz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handoutMasters/_rels/handoutMaster1.xml.rels><?xml version="1.0" encoding="UTF-8" standalone="yes"?>								<Relationships xmlns="http://schemas.openxmlformats.org/package/2006/relationships">								<Relationship Id="rId1" Type="http://schemas.openxmlformats.org/officeDocument/2006/relationships/theme" Target="../theme/theme0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50000" y="500000"/>
            <a:ext cx="4200000" cy="400000"/>
          </a:xfrm>
        </p:spPr>
        <p:txBody>
          <a:bodyPr wrap="square"/>
          <a:lstStyle/>
          <a:p>
            <a:pPr marL="342900" indent="-228600">
              <a:defRPr sz="1350" dirty="0"/>
            </a:pPr>
            <a:r>
              <a:rPr lang="fr-FR" sz="1350" dirty="0"/>
              <a:t>ASSISTANT MAIL ACCESSIBLE</a:t>
            </a:r>
            <a:endParaRPr lang="fr-FR" sz="1350" dirty="0"/>
          </a:p>
        </p:txBody>
      </p:sp>
      <p:sp>
        <p:nvSpPr>
          <p:cNvPr id="3" name="Title"/>
          <p:cNvSpPr txBox="1"/>
          <p:nvPr/>
        </p:nvSpPr>
        <p:spPr>
          <a:xfrm>
            <a:off x="750000" y="1050000"/>
            <a:ext cx="10600000" cy="1700000"/>
          </a:xfrm>
        </p:spPr>
        <p:txBody>
          <a:bodyPr wrap="square"/>
          <a:lstStyle/>
          <a:p>
            <a:r>
              <a:rPr lang="fr-FR" sz="4300" b="1">
                <a:solidFill>
                  <a:srgbClr val="183F38"/>
                </a:solidFill>
              </a:rPr>
              <a:t>Mail Care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980000" y="3100000"/>
            <a:ext cx="10200000" cy="2700000"/>
          </a:xfrm>
        </p:spPr>
        <p:txBody>
          <a:bodyPr wrap="square"/>
          <a:lstStyle/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Lire, comprendre, classer, dicter, corriger et envoyer devient plus simple.</a:t>
            </a:r>
            <a:endParaRPr lang="fr-FR" sz="2300" dirty="0"/>
          </a:p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Un assistant qui s'adapte aux capacités de l'utilisateur.</a:t>
            </a:r>
            <a:endParaRPr lang="fr-FR" sz="2300" dirty="0"/>
          </a:p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IA + voix + accessibilité + contrôle humain.</a:t>
            </a:r>
            <a:endParaRPr lang="fr-FR" sz="2300" dirty="0"/>
          </a:p>
        </p:txBody>
      </p:sp>
      <p:sp>
        <p:nvSpPr>
          <p:cNvPr id="5" name="Footer"/>
          <p:cNvSpPr txBox="1"/>
          <p:nvPr/>
        </p:nvSpPr>
        <p:spPr>
          <a:xfrm>
            <a:off x="750000" y="6400000"/>
            <a:ext cx="42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Mail Care</a:t>
            </a:r>
            <a:endParaRPr lang="fr-FR" sz="1000" dirty="0"/>
          </a:p>
        </p:txBody>
      </p:sp>
      <p:sp>
        <p:nvSpPr>
          <p:cNvPr id="6" name="Index"/>
          <p:cNvSpPr txBox="1"/>
          <p:nvPr/>
        </p:nvSpPr>
        <p:spPr>
          <a:xfrm>
            <a:off x="10800000" y="6400000"/>
            <a:ext cx="9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01 / 13</a:t>
            </a:r>
            <a:endParaRPr lang="fr-FR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bg>
      <p:bgPr>
        <a:solidFill>
          <a:srgbClr val="EA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50000" y="500000"/>
            <a:ext cx="4200000" cy="400000"/>
          </a:xfrm>
        </p:spPr>
        <p:txBody>
          <a:bodyPr wrap="square"/>
          <a:lstStyle/>
          <a:p>
            <a:pPr marL="342900" indent="-228600">
              <a:defRPr sz="1350" dirty="0"/>
            </a:pPr>
            <a:r>
              <a:rPr lang="fr-FR" sz="1350" dirty="0"/>
              <a:t>LE PROBLÈME</a:t>
            </a:r>
            <a:endParaRPr lang="fr-FR" sz="1350" dirty="0"/>
          </a:p>
        </p:txBody>
      </p:sp>
      <p:sp>
        <p:nvSpPr>
          <p:cNvPr id="3" name="Title"/>
          <p:cNvSpPr txBox="1"/>
          <p:nvPr/>
        </p:nvSpPr>
        <p:spPr>
          <a:xfrm>
            <a:off x="750000" y="1050000"/>
            <a:ext cx="10600000" cy="1700000"/>
          </a:xfrm>
        </p:spPr>
        <p:txBody>
          <a:bodyPr wrap="square"/>
          <a:lstStyle/>
          <a:p>
            <a:r>
              <a:rPr lang="fr-FR" sz="4300" b="1">
                <a:solidFill>
                  <a:srgbClr val="183F38"/>
                </a:solidFill>
              </a:rPr>
              <a:t>La messagerie est indispensable, mais pas toujours accessible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980000" y="3100000"/>
            <a:ext cx="10200000" cy="2700000"/>
          </a:xfrm>
        </p:spPr>
        <p:txBody>
          <a:bodyPr wrap="square"/>
          <a:lstStyle/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Lecture dense et fatigue cognitive.</a:t>
            </a:r>
            <a:endParaRPr lang="fr-FR" sz="2300" dirty="0"/>
          </a:p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Saisie difficile au clavier ou à la souris.</a:t>
            </a:r>
            <a:endParaRPr lang="fr-FR" sz="2300" dirty="0"/>
          </a:p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Stress de formulation et risque d'erreur avant envoi.</a:t>
            </a:r>
            <a:endParaRPr lang="fr-FR" sz="2300" dirty="0"/>
          </a:p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Ces obstacles peuvent réduire l'autonomie numérique.</a:t>
            </a:r>
            <a:endParaRPr lang="fr-FR" sz="2300" dirty="0"/>
          </a:p>
        </p:txBody>
      </p:sp>
      <p:sp>
        <p:nvSpPr>
          <p:cNvPr id="5" name="Footer"/>
          <p:cNvSpPr txBox="1"/>
          <p:nvPr/>
        </p:nvSpPr>
        <p:spPr>
          <a:xfrm>
            <a:off x="750000" y="6400000"/>
            <a:ext cx="42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Mail Care</a:t>
            </a:r>
            <a:endParaRPr lang="fr-FR" sz="1000" dirty="0"/>
          </a:p>
        </p:txBody>
      </p:sp>
      <p:sp>
        <p:nvSpPr>
          <p:cNvPr id="6" name="Index"/>
          <p:cNvSpPr txBox="1"/>
          <p:nvPr/>
        </p:nvSpPr>
        <p:spPr>
          <a:xfrm>
            <a:off x="10800000" y="6400000"/>
            <a:ext cx="9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02 / 13</a:t>
            </a:r>
            <a:endParaRPr lang="fr-FR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50000" y="500000"/>
            <a:ext cx="4200000" cy="400000"/>
          </a:xfrm>
        </p:spPr>
        <p:txBody>
          <a:bodyPr wrap="square"/>
          <a:lstStyle/>
          <a:p>
            <a:pPr marL="342900" indent="-228600">
              <a:defRPr sz="1350" dirty="0"/>
            </a:pPr>
            <a:r>
              <a:rPr lang="fr-FR" sz="1350" dirty="0"/>
              <a:t>LA SOLUTION</a:t>
            </a:r>
            <a:endParaRPr lang="fr-FR" sz="1350" dirty="0"/>
          </a:p>
        </p:txBody>
      </p:sp>
      <p:sp>
        <p:nvSpPr>
          <p:cNvPr id="3" name="Title"/>
          <p:cNvSpPr txBox="1"/>
          <p:nvPr/>
        </p:nvSpPr>
        <p:spPr>
          <a:xfrm>
            <a:off x="750000" y="1050000"/>
            <a:ext cx="10600000" cy="1700000"/>
          </a:xfrm>
        </p:spPr>
        <p:txBody>
          <a:bodyPr wrap="square"/>
          <a:lstStyle/>
          <a:p>
            <a:r>
              <a:rPr lang="fr-FR" sz="4300" b="1">
                <a:solidFill>
                  <a:srgbClr val="183F38"/>
                </a:solidFill>
              </a:rPr>
              <a:t>Un assistant qui accompagne sans faire à la place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980000" y="3100000"/>
            <a:ext cx="10200000" cy="2700000"/>
          </a:xfrm>
        </p:spPr>
        <p:txBody>
          <a:bodyPr wrap="square"/>
          <a:lstStyle/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Se connecter et ouvrir la page mail.</a:t>
            </a:r>
            <a:endParaRPr lang="fr-FR" sz="2300" dirty="0"/>
          </a:p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Choisir un message ou créer un nouveau mail.</a:t>
            </a:r>
            <a:endParaRPr lang="fr-FR" sz="2300" dirty="0"/>
          </a:p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Classer, prioriser, demander une aide IA, dicter ou corriger.</a:t>
            </a:r>
            <a:endParaRPr lang="fr-FR" sz="2300" dirty="0"/>
          </a:p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Valider, rejeter, modifier ou supprimer avant envoi.</a:t>
            </a:r>
            <a:endParaRPr lang="fr-FR" sz="2300" dirty="0"/>
          </a:p>
        </p:txBody>
      </p:sp>
      <p:sp>
        <p:nvSpPr>
          <p:cNvPr id="5" name="Footer"/>
          <p:cNvSpPr txBox="1"/>
          <p:nvPr/>
        </p:nvSpPr>
        <p:spPr>
          <a:xfrm>
            <a:off x="750000" y="6400000"/>
            <a:ext cx="42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Mail Care</a:t>
            </a:r>
            <a:endParaRPr lang="fr-FR" sz="1000" dirty="0"/>
          </a:p>
        </p:txBody>
      </p:sp>
      <p:sp>
        <p:nvSpPr>
          <p:cNvPr id="6" name="Index"/>
          <p:cNvSpPr txBox="1"/>
          <p:nvPr/>
        </p:nvSpPr>
        <p:spPr>
          <a:xfrm>
            <a:off x="10800000" y="6400000"/>
            <a:ext cx="9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03 / 13</a:t>
            </a:r>
            <a:endParaRPr lang="fr-FR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bg>
      <p:bgPr>
        <a:solidFill>
          <a:srgbClr val="EA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50000" y="500000"/>
            <a:ext cx="4200000" cy="400000"/>
          </a:xfrm>
        </p:spPr>
        <p:txBody>
          <a:bodyPr wrap="square"/>
          <a:lstStyle/>
          <a:p>
            <a:pPr marL="342900" indent="-228600">
              <a:defRPr sz="1350" dirty="0"/>
            </a:pPr>
            <a:r>
              <a:rPr lang="fr-FR" sz="1350" dirty="0"/>
              <a:t>FONCTIONS PRINCIPALES</a:t>
            </a:r>
            <a:endParaRPr lang="fr-FR" sz="1350" dirty="0"/>
          </a:p>
        </p:txBody>
      </p:sp>
      <p:sp>
        <p:nvSpPr>
          <p:cNvPr id="3" name="Title"/>
          <p:cNvSpPr txBox="1"/>
          <p:nvPr/>
        </p:nvSpPr>
        <p:spPr>
          <a:xfrm>
            <a:off x="750000" y="1050000"/>
            <a:ext cx="10600000" cy="1700000"/>
          </a:xfrm>
        </p:spPr>
        <p:txBody>
          <a:bodyPr wrap="square"/>
          <a:lstStyle/>
          <a:p>
            <a:r>
              <a:rPr lang="fr-FR" sz="4300" b="1">
                <a:solidFill>
                  <a:srgbClr val="183F38"/>
                </a:solidFill>
              </a:rPr>
              <a:t>Comprendre, classer, rédiger, corriger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980000" y="3100000"/>
            <a:ext cx="10200000" cy="2700000"/>
          </a:xfrm>
        </p:spPr>
        <p:txBody>
          <a:bodyPr wrap="square"/>
          <a:lstStyle/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Analyse d'un mail : sujet, informations utiles, réponse possible.</a:t>
            </a:r>
            <a:endParaRPr lang="fr-FR" sz="2300" dirty="0"/>
          </a:p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Classement des mails : urgence, demandes d'action, validation, priorités.</a:t>
            </a:r>
            <a:endParaRPr lang="fr-FR" sz="2300" dirty="0"/>
          </a:p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Rédaction assistée : brouillon de réponse ou nouveau mail.</a:t>
            </a:r>
            <a:endParaRPr lang="fr-FR" sz="2300" dirty="0"/>
          </a:p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Dictée vocale et édition vocale IA.</a:t>
            </a:r>
            <a:endParaRPr lang="fr-FR" sz="2300" dirty="0"/>
          </a:p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Accessibilité : lecture progressive, boutons, confort visuel.</a:t>
            </a:r>
            <a:endParaRPr lang="fr-FR" sz="2300" dirty="0"/>
          </a:p>
        </p:txBody>
      </p:sp>
      <p:sp>
        <p:nvSpPr>
          <p:cNvPr id="5" name="Footer"/>
          <p:cNvSpPr txBox="1"/>
          <p:nvPr/>
        </p:nvSpPr>
        <p:spPr>
          <a:xfrm>
            <a:off x="750000" y="6400000"/>
            <a:ext cx="42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Mail Care</a:t>
            </a:r>
            <a:endParaRPr lang="fr-FR" sz="1000" dirty="0"/>
          </a:p>
        </p:txBody>
      </p:sp>
      <p:sp>
        <p:nvSpPr>
          <p:cNvPr id="6" name="Index"/>
          <p:cNvSpPr txBox="1"/>
          <p:nvPr/>
        </p:nvSpPr>
        <p:spPr>
          <a:xfrm>
            <a:off x="10800000" y="6400000"/>
            <a:ext cx="9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04 / 13</a:t>
            </a:r>
            <a:endParaRPr lang="fr-FR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50000" y="500000"/>
            <a:ext cx="4200000" cy="400000"/>
          </a:xfrm>
        </p:spPr>
        <p:txBody>
          <a:bodyPr wrap="square"/>
          <a:lstStyle/>
          <a:p>
            <a:pPr marL="342900" indent="-228600">
              <a:defRPr sz="1350" dirty="0"/>
            </a:pPr>
            <a:r>
              <a:rPr lang="fr-FR" sz="1350" dirty="0"/>
              <a:t>INNOVATION D'USAGE</a:t>
            </a:r>
            <a:endParaRPr lang="fr-FR" sz="1350" dirty="0"/>
          </a:p>
        </p:txBody>
      </p:sp>
      <p:sp>
        <p:nvSpPr>
          <p:cNvPr id="3" name="Title"/>
          <p:cNvSpPr txBox="1"/>
          <p:nvPr/>
        </p:nvSpPr>
        <p:spPr>
          <a:xfrm>
            <a:off x="750000" y="1050000"/>
            <a:ext cx="10600000" cy="1700000"/>
          </a:xfrm>
        </p:spPr>
        <p:txBody>
          <a:bodyPr wrap="square"/>
          <a:lstStyle/>
          <a:p>
            <a:r>
              <a:rPr lang="fr-FR" sz="4300" b="1">
                <a:solidFill>
                  <a:srgbClr val="183F38"/>
                </a:solidFill>
              </a:rPr>
              <a:t>L'édition entièrement vocale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980000" y="3100000"/>
            <a:ext cx="10200000" cy="2700000"/>
          </a:xfrm>
        </p:spPr>
        <p:txBody>
          <a:bodyPr wrap="square"/>
          <a:lstStyle/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Modifier sans sélectionner manuellement le texte.</a:t>
            </a:r>
            <a:endParaRPr lang="fr-FR" sz="2300" dirty="0"/>
          </a:p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Éviter le positionnement précis du curseur.</a:t>
            </a:r>
            <a:endParaRPr lang="fr-FR" sz="2300" dirty="0"/>
          </a:p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Exemple : « Dans Bonjour Madame, ajoute Mademoiselle virgule devant Madame. »</a:t>
            </a:r>
            <a:endParaRPr lang="fr-FR" sz="2300" dirty="0"/>
          </a:p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Exemple : « Positionne-toi en fin de page et ajoute le mot cordialement. »</a:t>
            </a:r>
            <a:endParaRPr lang="fr-FR" sz="2300" dirty="0"/>
          </a:p>
        </p:txBody>
      </p:sp>
      <p:sp>
        <p:nvSpPr>
          <p:cNvPr id="5" name="Footer"/>
          <p:cNvSpPr txBox="1"/>
          <p:nvPr/>
        </p:nvSpPr>
        <p:spPr>
          <a:xfrm>
            <a:off x="750000" y="6400000"/>
            <a:ext cx="42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Mail Care</a:t>
            </a:r>
            <a:endParaRPr lang="fr-FR" sz="1000" dirty="0"/>
          </a:p>
        </p:txBody>
      </p:sp>
      <p:sp>
        <p:nvSpPr>
          <p:cNvPr id="6" name="Index"/>
          <p:cNvSpPr txBox="1"/>
          <p:nvPr/>
        </p:nvSpPr>
        <p:spPr>
          <a:xfrm>
            <a:off x="10800000" y="6400000"/>
            <a:ext cx="9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05 / 13</a:t>
            </a:r>
            <a:endParaRPr lang="fr-FR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bg>
      <p:bgPr>
        <a:solidFill>
          <a:srgbClr val="EA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50000" y="500000"/>
            <a:ext cx="4200000" cy="400000"/>
          </a:xfrm>
        </p:spPr>
        <p:txBody>
          <a:bodyPr wrap="square"/>
          <a:lstStyle/>
          <a:p>
            <a:pPr marL="342900" indent="-228600">
              <a:defRPr sz="1350" dirty="0"/>
            </a:pPr>
            <a:r>
              <a:rPr lang="fr-FR" sz="1350" dirty="0"/>
              <a:t>SANS PAROLE</a:t>
            </a:r>
            <a:endParaRPr lang="fr-FR" sz="1350" dirty="0"/>
          </a:p>
        </p:txBody>
      </p:sp>
      <p:sp>
        <p:nvSpPr>
          <p:cNvPr id="3" name="Title"/>
          <p:cNvSpPr txBox="1"/>
          <p:nvPr/>
        </p:nvSpPr>
        <p:spPr>
          <a:xfrm>
            <a:off x="750000" y="1050000"/>
            <a:ext cx="10600000" cy="1700000"/>
          </a:xfrm>
        </p:spPr>
        <p:txBody>
          <a:bodyPr wrap="square"/>
          <a:lstStyle/>
          <a:p>
            <a:r>
              <a:rPr lang="fr-FR" sz="4300" b="1">
                <a:solidFill>
                  <a:srgbClr val="183F38"/>
                </a:solidFill>
              </a:rPr>
              <a:t>L'accessibilité ne doit pas dépendre uniquement de la voix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980000" y="3100000"/>
            <a:ext cx="10200000" cy="2700000"/>
          </a:xfrm>
        </p:spPr>
        <p:txBody>
          <a:bodyPr wrap="square"/>
          <a:lstStyle/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Clavier classique ou adapté, clavier virtuel, contacteur.</a:t>
            </a:r>
            <a:endParaRPr lang="fr-FR" sz="2300" dirty="0"/>
          </a:p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Navigation web assistée et sélection progressive.</a:t>
            </a:r>
            <a:endParaRPr lang="fr-FR" sz="2300" dirty="0"/>
          </a:p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Lecture progressive, boutons agrandis, confirmations renforcées.</a:t>
            </a:r>
            <a:endParaRPr lang="fr-FR" sz="2300" dirty="0"/>
          </a:p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Copier-coller depuis un outil d'aide à la communication.</a:t>
            </a:r>
            <a:endParaRPr lang="fr-FR" sz="2300" dirty="0"/>
          </a:p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La voix est un accélérateur, pas le seul mode d'accès.</a:t>
            </a:r>
            <a:endParaRPr lang="fr-FR" sz="2300" dirty="0"/>
          </a:p>
        </p:txBody>
      </p:sp>
      <p:sp>
        <p:nvSpPr>
          <p:cNvPr id="5" name="Footer"/>
          <p:cNvSpPr txBox="1"/>
          <p:nvPr/>
        </p:nvSpPr>
        <p:spPr>
          <a:xfrm>
            <a:off x="750000" y="6400000"/>
            <a:ext cx="42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Mail Care</a:t>
            </a:r>
            <a:endParaRPr lang="fr-FR" sz="1000" dirty="0"/>
          </a:p>
        </p:txBody>
      </p:sp>
      <p:sp>
        <p:nvSpPr>
          <p:cNvPr id="6" name="Index"/>
          <p:cNvSpPr txBox="1"/>
          <p:nvPr/>
        </p:nvSpPr>
        <p:spPr>
          <a:xfrm>
            <a:off x="10800000" y="6400000"/>
            <a:ext cx="9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06 / 13</a:t>
            </a:r>
            <a:endParaRPr lang="fr-FR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50000" y="500000"/>
            <a:ext cx="4200000" cy="400000"/>
          </a:xfrm>
        </p:spPr>
        <p:txBody>
          <a:bodyPr wrap="square"/>
          <a:lstStyle/>
          <a:p>
            <a:pPr marL="342900" indent="-228600">
              <a:defRPr sz="1350" dirty="0"/>
            </a:pPr>
            <a:r>
              <a:rPr lang="fr-FR" sz="1350" dirty="0"/>
              <a:t>PUBLICS PRIORITAIRES</a:t>
            </a:r>
            <a:endParaRPr lang="fr-FR" sz="1350" dirty="0"/>
          </a:p>
        </p:txBody>
      </p:sp>
      <p:sp>
        <p:nvSpPr>
          <p:cNvPr id="3" name="Title"/>
          <p:cNvSpPr txBox="1"/>
          <p:nvPr/>
        </p:nvSpPr>
        <p:spPr>
          <a:xfrm>
            <a:off x="750000" y="1050000"/>
            <a:ext cx="10600000" cy="1700000"/>
          </a:xfrm>
        </p:spPr>
        <p:txBody>
          <a:bodyPr wrap="square"/>
          <a:lstStyle/>
          <a:p>
            <a:r>
              <a:rPr lang="fr-FR" sz="4300" b="1">
                <a:solidFill>
                  <a:srgbClr val="183F38"/>
                </a:solidFill>
              </a:rPr>
              <a:t>Conçu pour réduire les obstacles d'usage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980000" y="3100000"/>
            <a:ext cx="10200000" cy="2700000"/>
          </a:xfrm>
        </p:spPr>
        <p:txBody>
          <a:bodyPr wrap="square"/>
          <a:lstStyle/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Personnes en situation de handicap.</a:t>
            </a:r>
            <a:endParaRPr lang="fr-FR" sz="2300" dirty="0"/>
          </a:p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Personnes privées de la parole ou utilisant une communication alternative.</a:t>
            </a:r>
            <a:endParaRPr lang="fr-FR" sz="2300" dirty="0"/>
          </a:p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Personnes âgées, notamment plus de 75 ans.</a:t>
            </a:r>
            <a:endParaRPr lang="fr-FR" sz="2300" dirty="0"/>
          </a:p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Aidants, associations et structures d’accompagnement.</a:t>
            </a:r>
            <a:endParaRPr lang="fr-FR" sz="2300" dirty="0"/>
          </a:p>
        </p:txBody>
      </p:sp>
      <p:sp>
        <p:nvSpPr>
          <p:cNvPr id="5" name="Footer"/>
          <p:cNvSpPr txBox="1"/>
          <p:nvPr/>
        </p:nvSpPr>
        <p:spPr>
          <a:xfrm>
            <a:off x="750000" y="6400000"/>
            <a:ext cx="42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Mail Care</a:t>
            </a:r>
            <a:endParaRPr lang="fr-FR" sz="1000" dirty="0"/>
          </a:p>
        </p:txBody>
      </p:sp>
      <p:sp>
        <p:nvSpPr>
          <p:cNvPr id="6" name="Index"/>
          <p:cNvSpPr txBox="1"/>
          <p:nvPr/>
        </p:nvSpPr>
        <p:spPr>
          <a:xfrm>
            <a:off x="10800000" y="6400000"/>
            <a:ext cx="9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07 / 13</a:t>
            </a:r>
            <a:endParaRPr lang="fr-FR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bg>
      <p:bgPr>
        <a:solidFill>
          <a:srgbClr val="EA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50000" y="500000"/>
            <a:ext cx="4200000" cy="400000"/>
          </a:xfrm>
        </p:spPr>
        <p:txBody>
          <a:bodyPr wrap="square"/>
          <a:lstStyle/>
          <a:p>
            <a:pPr marL="342900" indent="-228600">
              <a:defRPr sz="1350" dirty="0"/>
            </a:pPr>
            <a:r>
              <a:rPr lang="fr-FR" sz="1350" dirty="0"/>
              <a:t>POUR LES ORGANISATIONS</a:t>
            </a:r>
            <a:endParaRPr lang="fr-FR" sz="1350" dirty="0"/>
          </a:p>
        </p:txBody>
      </p:sp>
      <p:sp>
        <p:nvSpPr>
          <p:cNvPr id="3" name="Title"/>
          <p:cNvSpPr txBox="1"/>
          <p:nvPr/>
        </p:nvSpPr>
        <p:spPr>
          <a:xfrm>
            <a:off x="750000" y="1050000"/>
            <a:ext cx="10600000" cy="1700000"/>
          </a:xfrm>
        </p:spPr>
        <p:txBody>
          <a:bodyPr wrap="square"/>
          <a:lstStyle/>
          <a:p>
            <a:r>
              <a:rPr lang="fr-FR" sz="4300" b="1">
                <a:solidFill>
                  <a:srgbClr val="183F38"/>
                </a:solidFill>
              </a:rPr>
              <a:t>Un levier d'inclusion numérique et professionnelle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980000" y="3100000"/>
            <a:ext cx="10200000" cy="2700000"/>
          </a:xfrm>
        </p:spPr>
        <p:txBody>
          <a:bodyPr wrap="square"/>
          <a:lstStyle/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Aménagement de poste et maintien dans l'emploi.</a:t>
            </a:r>
            <a:endParaRPr lang="fr-FR" sz="2300" dirty="0"/>
          </a:p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Accompagnement des personnes en difficulté avec la communication écrite.</a:t>
            </a:r>
            <a:endParaRPr lang="fr-FR" sz="2300" dirty="0"/>
          </a:p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Usage possible en entreprise, association, collectivité ou structure médico-sociale.</a:t>
            </a:r>
            <a:endParaRPr lang="fr-FR" sz="2300" dirty="0"/>
          </a:p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Contrat spécifique selon le périmètre et le niveau de support.</a:t>
            </a:r>
            <a:endParaRPr lang="fr-FR" sz="2300" dirty="0"/>
          </a:p>
        </p:txBody>
      </p:sp>
      <p:sp>
        <p:nvSpPr>
          <p:cNvPr id="5" name="Footer"/>
          <p:cNvSpPr txBox="1"/>
          <p:nvPr/>
        </p:nvSpPr>
        <p:spPr>
          <a:xfrm>
            <a:off x="750000" y="6400000"/>
            <a:ext cx="42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Mail Care</a:t>
            </a:r>
            <a:endParaRPr lang="fr-FR" sz="1000" dirty="0"/>
          </a:p>
        </p:txBody>
      </p:sp>
      <p:sp>
        <p:nvSpPr>
          <p:cNvPr id="6" name="Index"/>
          <p:cNvSpPr txBox="1"/>
          <p:nvPr/>
        </p:nvSpPr>
        <p:spPr>
          <a:xfrm>
            <a:off x="10800000" y="6400000"/>
            <a:ext cx="9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08 / 13</a:t>
            </a:r>
            <a:endParaRPr lang="fr-FR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50000" y="500000"/>
            <a:ext cx="4200000" cy="400000"/>
          </a:xfrm>
        </p:spPr>
        <p:txBody>
          <a:bodyPr wrap="square"/>
          <a:lstStyle/>
          <a:p>
            <a:pPr marL="342900" indent="-228600">
              <a:defRPr sz="1350" dirty="0"/>
            </a:pPr>
            <a:r>
              <a:rPr lang="fr-FR" sz="1350" dirty="0"/>
              <a:t>DIFFÉRENCIATION</a:t>
            </a:r>
            <a:endParaRPr lang="fr-FR" sz="1350" dirty="0"/>
          </a:p>
        </p:txBody>
      </p:sp>
      <p:sp>
        <p:nvSpPr>
          <p:cNvPr id="3" name="Title"/>
          <p:cNvSpPr txBox="1"/>
          <p:nvPr/>
        </p:nvSpPr>
        <p:spPr>
          <a:xfrm>
            <a:off x="750000" y="1050000"/>
            <a:ext cx="10600000" cy="1700000"/>
          </a:xfrm>
        </p:spPr>
        <p:txBody>
          <a:bodyPr wrap="square"/>
          <a:lstStyle/>
          <a:p>
            <a:r>
              <a:rPr lang="fr-FR" sz="4300" b="1">
                <a:solidFill>
                  <a:srgbClr val="183F38"/>
                </a:solidFill>
              </a:rPr>
              <a:t>Plus qu'un outil de productivité : une solution d'accessibilité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980000" y="3100000"/>
            <a:ext cx="10200000" cy="2700000"/>
          </a:xfrm>
        </p:spPr>
        <p:txBody>
          <a:bodyPr wrap="square"/>
          <a:lstStyle/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Voix, IA et modes alternatifs.</a:t>
            </a:r>
            <a:endParaRPr lang="fr-FR" sz="2300" dirty="0"/>
          </a:p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Classement intelligent et règles de traitement.</a:t>
            </a:r>
            <a:endParaRPr lang="fr-FR" sz="2300" dirty="0"/>
          </a:p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Contrôle humain avant envoi.</a:t>
            </a:r>
            <a:endParaRPr lang="fr-FR" sz="2300" dirty="0"/>
          </a:p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RGPD par conception et minimisation des données.</a:t>
            </a:r>
            <a:endParaRPr lang="fr-FR" sz="2300" dirty="0"/>
          </a:p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Installation locale Mac/Windows, DGX Spark ou architecture serveur.</a:t>
            </a:r>
            <a:endParaRPr lang="fr-FR" sz="2300" dirty="0"/>
          </a:p>
        </p:txBody>
      </p:sp>
      <p:sp>
        <p:nvSpPr>
          <p:cNvPr id="5" name="Footer"/>
          <p:cNvSpPr txBox="1"/>
          <p:nvPr/>
        </p:nvSpPr>
        <p:spPr>
          <a:xfrm>
            <a:off x="750000" y="6400000"/>
            <a:ext cx="42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Mail Care</a:t>
            </a:r>
            <a:endParaRPr lang="fr-FR" sz="1000" dirty="0"/>
          </a:p>
        </p:txBody>
      </p:sp>
      <p:sp>
        <p:nvSpPr>
          <p:cNvPr id="6" name="Index"/>
          <p:cNvSpPr txBox="1"/>
          <p:nvPr/>
        </p:nvSpPr>
        <p:spPr>
          <a:xfrm>
            <a:off x="10800000" y="6400000"/>
            <a:ext cx="9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09 / 13</a:t>
            </a:r>
            <a:endParaRPr lang="fr-FR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bg>
      <p:bgPr>
        <a:solidFill>
          <a:srgbClr val="EA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50000" y="500000"/>
            <a:ext cx="4200000" cy="400000"/>
          </a:xfrm>
        </p:spPr>
        <p:txBody>
          <a:bodyPr wrap="square"/>
          <a:lstStyle/>
          <a:p>
            <a:pPr marL="342900" indent="-228600">
              <a:defRPr sz="1350" dirty="0"/>
            </a:pPr>
            <a:r>
              <a:rPr lang="fr-FR" sz="1350" dirty="0"/>
              <a:t>DONNÉES ET CONFIANCE</a:t>
            </a:r>
            <a:endParaRPr lang="fr-FR" sz="1350" dirty="0"/>
          </a:p>
        </p:txBody>
      </p:sp>
      <p:sp>
        <p:nvSpPr>
          <p:cNvPr id="3" name="Title"/>
          <p:cNvSpPr txBox="1"/>
          <p:nvPr/>
        </p:nvSpPr>
        <p:spPr>
          <a:xfrm>
            <a:off x="750000" y="1050000"/>
            <a:ext cx="10600000" cy="1700000"/>
          </a:xfrm>
        </p:spPr>
        <p:txBody>
          <a:bodyPr wrap="square"/>
          <a:lstStyle/>
          <a:p>
            <a:r>
              <a:rPr lang="fr-FR" sz="4300" b="1">
                <a:solidFill>
                  <a:srgbClr val="183F38"/>
                </a:solidFill>
              </a:rPr>
              <a:t>Les mails restent dans les boîtes mail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980000" y="3100000"/>
            <a:ext cx="10200000" cy="2700000"/>
          </a:xfrm>
        </p:spPr>
        <p:txBody>
          <a:bodyPr wrap="square"/>
          <a:lstStyle/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L'application n'a pas vocation à archiver les boîtes mail.</a:t>
            </a:r>
            <a:endParaRPr lang="fr-FR" sz="2300" dirty="0"/>
          </a:p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Conservation limitée aux données nécessaires au fonctionnement.</a:t>
            </a:r>
            <a:endParaRPr lang="fr-FR" sz="2300" dirty="0"/>
          </a:p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Pas de conservation durable de l'audio brut par défaut.</a:t>
            </a:r>
            <a:endParaRPr lang="fr-FR" sz="2300" dirty="0"/>
          </a:p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Export RGPD du compte connecté.</a:t>
            </a:r>
            <a:endParaRPr lang="fr-FR" sz="2300" dirty="0"/>
          </a:p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Choix local ou API à expliciter.</a:t>
            </a:r>
            <a:endParaRPr lang="fr-FR" sz="2300" dirty="0"/>
          </a:p>
        </p:txBody>
      </p:sp>
      <p:sp>
        <p:nvSpPr>
          <p:cNvPr id="5" name="Footer"/>
          <p:cNvSpPr txBox="1"/>
          <p:nvPr/>
        </p:nvSpPr>
        <p:spPr>
          <a:xfrm>
            <a:off x="750000" y="6400000"/>
            <a:ext cx="42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Mail Care</a:t>
            </a:r>
            <a:endParaRPr lang="fr-FR" sz="1000" dirty="0"/>
          </a:p>
        </p:txBody>
      </p:sp>
      <p:sp>
        <p:nvSpPr>
          <p:cNvPr id="6" name="Index"/>
          <p:cNvSpPr txBox="1"/>
          <p:nvPr/>
        </p:nvSpPr>
        <p:spPr>
          <a:xfrm>
            <a:off x="10800000" y="6400000"/>
            <a:ext cx="9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10 / 13</a:t>
            </a:r>
            <a:endParaRPr lang="fr-FR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50000" y="500000"/>
            <a:ext cx="4200000" cy="400000"/>
          </a:xfrm>
        </p:spPr>
        <p:txBody>
          <a:bodyPr wrap="square"/>
          <a:lstStyle/>
          <a:p>
            <a:pPr marL="342900" indent="-228600">
              <a:defRPr sz="1350" dirty="0"/>
            </a:pPr>
            <a:r>
              <a:rPr lang="fr-FR" sz="1350" dirty="0"/>
              <a:t>MODÈLE DE SERVICE</a:t>
            </a:r>
            <a:endParaRPr lang="fr-FR" sz="1350" dirty="0"/>
          </a:p>
        </p:txBody>
      </p:sp>
      <p:sp>
        <p:nvSpPr>
          <p:cNvPr id="3" name="Title"/>
          <p:cNvSpPr txBox="1"/>
          <p:nvPr/>
        </p:nvSpPr>
        <p:spPr>
          <a:xfrm>
            <a:off x="750000" y="1050000"/>
            <a:ext cx="10600000" cy="1700000"/>
          </a:xfrm>
        </p:spPr>
        <p:txBody>
          <a:bodyPr wrap="square"/>
          <a:lstStyle/>
          <a:p>
            <a:r>
              <a:rPr lang="fr-FR" sz="4300" b="1">
                <a:solidFill>
                  <a:srgbClr val="183F38"/>
                </a:solidFill>
              </a:rPr>
              <a:t>Une tarification alignée avec la vocation sociale du produit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980000" y="3100000"/>
            <a:ext cx="10200000" cy="2700000"/>
          </a:xfrm>
        </p:spPr>
        <p:txBody>
          <a:bodyPr wrap="square"/>
          <a:lstStyle/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Gratuit pour les personnes justifiant d'une situation de handicap.</a:t>
            </a:r>
            <a:endParaRPr lang="fr-FR" sz="2300" dirty="0"/>
          </a:p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Gratuit pour les personnes âgées de plus de 75 ans.</a:t>
            </a:r>
            <a:endParaRPr lang="fr-FR" sz="2300" dirty="0"/>
          </a:p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20 € par mois pour les autres utilisateurs individuels.</a:t>
            </a:r>
            <a:endParaRPr lang="fr-FR" sz="2300" dirty="0"/>
          </a:p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Contrat spécifique pour entreprises, associations et collectivités.</a:t>
            </a:r>
            <a:endParaRPr lang="fr-FR" sz="2300" dirty="0"/>
          </a:p>
        </p:txBody>
      </p:sp>
      <p:sp>
        <p:nvSpPr>
          <p:cNvPr id="5" name="Footer"/>
          <p:cNvSpPr txBox="1"/>
          <p:nvPr/>
        </p:nvSpPr>
        <p:spPr>
          <a:xfrm>
            <a:off x="750000" y="6400000"/>
            <a:ext cx="42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Mail Care</a:t>
            </a:r>
            <a:endParaRPr lang="fr-FR" sz="1000" dirty="0"/>
          </a:p>
        </p:txBody>
      </p:sp>
      <p:sp>
        <p:nvSpPr>
          <p:cNvPr id="6" name="Index"/>
          <p:cNvSpPr txBox="1"/>
          <p:nvPr/>
        </p:nvSpPr>
        <p:spPr>
          <a:xfrm>
            <a:off x="10800000" y="6400000"/>
            <a:ext cx="9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11 / 13</a:t>
            </a:r>
            <a:endParaRPr lang="fr-FR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bg>
      <p:bgPr>
        <a:solidFill>
          <a:srgbClr val="EA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50000" y="500000"/>
            <a:ext cx="4200000" cy="400000"/>
          </a:xfrm>
        </p:spPr>
        <p:txBody>
          <a:bodyPr wrap="square"/>
          <a:lstStyle/>
          <a:p>
            <a:pPr marL="342900" indent="-228600">
              <a:defRPr sz="1350" dirty="0"/>
            </a:pPr>
            <a:r>
              <a:rPr lang="fr-FR" sz="1350" dirty="0"/>
              <a:t>MESSAGES CLÉS</a:t>
            </a:r>
            <a:endParaRPr lang="fr-FR" sz="1350" dirty="0"/>
          </a:p>
        </p:txBody>
      </p:sp>
      <p:sp>
        <p:nvSpPr>
          <p:cNvPr id="3" name="Title"/>
          <p:cNvSpPr txBox="1"/>
          <p:nvPr/>
        </p:nvSpPr>
        <p:spPr>
          <a:xfrm>
            <a:off x="750000" y="1050000"/>
            <a:ext cx="10600000" cy="1700000"/>
          </a:xfrm>
        </p:spPr>
        <p:txBody>
          <a:bodyPr wrap="square"/>
          <a:lstStyle/>
          <a:p>
            <a:r>
              <a:rPr lang="fr-FR" sz="4300" b="1">
                <a:solidFill>
                  <a:srgbClr val="183F38"/>
                </a:solidFill>
              </a:rPr>
              <a:t>Des formulations prêtes à réutiliser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980000" y="3100000"/>
            <a:ext cx="10200000" cy="2700000"/>
          </a:xfrm>
        </p:spPr>
        <p:txBody>
          <a:bodyPr wrap="square"/>
          <a:lstStyle/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Mail Care rend l'e-mail plus simple, plus vocal et plus accessible grâce à l'IA.</a:t>
            </a:r>
            <a:endParaRPr lang="fr-FR" sz="2300" dirty="0"/>
          </a:p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L'application qui prend soin de vos mails et favorise l'autonomie numérique.</a:t>
            </a:r>
            <a:endParaRPr lang="fr-FR" sz="2300" dirty="0"/>
          </a:p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Un outil d’inclusion numérique pour accompagner sans faire à la place.</a:t>
            </a:r>
            <a:endParaRPr lang="fr-FR" sz="2300" dirty="0"/>
          </a:p>
        </p:txBody>
      </p:sp>
      <p:sp>
        <p:nvSpPr>
          <p:cNvPr id="5" name="Footer"/>
          <p:cNvSpPr txBox="1"/>
          <p:nvPr/>
        </p:nvSpPr>
        <p:spPr>
          <a:xfrm>
            <a:off x="750000" y="6400000"/>
            <a:ext cx="42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Mail Care</a:t>
            </a:r>
            <a:endParaRPr lang="fr-FR" sz="1000" dirty="0"/>
          </a:p>
        </p:txBody>
      </p:sp>
      <p:sp>
        <p:nvSpPr>
          <p:cNvPr id="6" name="Index"/>
          <p:cNvSpPr txBox="1"/>
          <p:nvPr/>
        </p:nvSpPr>
        <p:spPr>
          <a:xfrm>
            <a:off x="10800000" y="6400000"/>
            <a:ext cx="9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12 / 13</a:t>
            </a:r>
            <a:endParaRPr lang="fr-FR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50000" y="500000"/>
            <a:ext cx="4200000" cy="400000"/>
          </a:xfrm>
        </p:spPr>
        <p:txBody>
          <a:bodyPr wrap="square"/>
          <a:lstStyle/>
          <a:p>
            <a:pPr marL="342900" indent="-228600">
              <a:defRPr sz="1350" dirty="0"/>
            </a:pPr>
            <a:r>
              <a:rPr lang="fr-FR" sz="1350" dirty="0"/>
              <a:t>CONCLUSION</a:t>
            </a:r>
            <a:endParaRPr lang="fr-FR" sz="1350" dirty="0"/>
          </a:p>
        </p:txBody>
      </p:sp>
      <p:sp>
        <p:nvSpPr>
          <p:cNvPr id="3" name="Title"/>
          <p:cNvSpPr txBox="1"/>
          <p:nvPr/>
        </p:nvSpPr>
        <p:spPr>
          <a:xfrm>
            <a:off x="750000" y="1050000"/>
            <a:ext cx="10600000" cy="1700000"/>
          </a:xfrm>
        </p:spPr>
        <p:txBody>
          <a:bodyPr wrap="square"/>
          <a:lstStyle/>
          <a:p>
            <a:r>
              <a:rPr lang="fr-FR" sz="4300" b="1">
                <a:solidFill>
                  <a:srgbClr val="183F38"/>
                </a:solidFill>
              </a:rPr>
              <a:t>Rendre la messagerie plus inclusive, plus simple et plus autonome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980000" y="3100000"/>
            <a:ext cx="10200000" cy="2700000"/>
          </a:xfrm>
        </p:spPr>
        <p:txBody>
          <a:bodyPr wrap="square"/>
          <a:lstStyle/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Aider à lire, classer, rédiger, dicter, corriger et valider.</a:t>
            </a:r>
            <a:endParaRPr lang="fr-FR" sz="2300" dirty="0"/>
          </a:p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Réduire les obstacles pour les personnes qui en ont le plus besoin.</a:t>
            </a:r>
            <a:endParaRPr lang="fr-FR" sz="2300" dirty="0"/>
          </a:p>
          <a:p>
            <a:pPr marL="342900" indent="-228600">
              <a:buFont typeface="Arial"/>
              <a:buChar char="•"/>
              <a:defRPr sz="2300" dirty="0"/>
            </a:pPr>
            <a:r>
              <a:rPr lang="fr-FR" sz="2300" dirty="0"/>
              <a:t>L'IA accompagne. La personne décide.</a:t>
            </a:r>
            <a:endParaRPr lang="fr-FR" sz="2300" dirty="0"/>
          </a:p>
        </p:txBody>
      </p:sp>
      <p:sp>
        <p:nvSpPr>
          <p:cNvPr id="5" name="Footer"/>
          <p:cNvSpPr txBox="1"/>
          <p:nvPr/>
        </p:nvSpPr>
        <p:spPr>
          <a:xfrm>
            <a:off x="750000" y="6400000"/>
            <a:ext cx="42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Mail Care</a:t>
            </a:r>
            <a:endParaRPr lang="fr-FR" sz="1000" dirty="0"/>
          </a:p>
        </p:txBody>
      </p:sp>
      <p:sp>
        <p:nvSpPr>
          <p:cNvPr id="6" name="Index"/>
          <p:cNvSpPr txBox="1"/>
          <p:nvPr/>
        </p:nvSpPr>
        <p:spPr>
          <a:xfrm>
            <a:off x="10800000" y="6400000"/>
            <a:ext cx="900000" cy="300000"/>
          </a:xfrm>
        </p:spPr>
        <p:txBody>
          <a:bodyPr wrap="square"/>
          <a:lstStyle/>
          <a:p>
            <a:pPr marL="342900" indent="-228600">
              <a:defRPr sz="1000" dirty="0"/>
            </a:pPr>
            <a:r>
              <a:rPr lang="fr-FR" sz="1000" dirty="0"/>
              <a:t>13 / 13</a:t>
            </a:r>
            <a:endParaRPr lang="fr-FR" sz="1000" dirty="0"/>
          </a:p>
        </p:txBody>
      </p:sp>
    </p:spTree>
  </p:cSld>
  <p:clrMapOvr>
    <a:masterClrMapping/>
  </p:clrMapOvr>
</p:sld>
</file>

<file path=ppt/theme/_rels/theme1.xml.rels><?xml version="1.0" encoding="UTF-8" standalone="yes"?><Relationships xmlns="http://schemas.openxmlformats.org/package/2006/relationships"></Relationships>
</file>

<file path=ppt/theme/theme0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Mail Care Theme">
  <a:themeElements>
    <a:clrScheme name="Mail Care">
      <a:dk1>
        <a:srgbClr val="14211F"/>
      </a:dk1>
      <a:lt1>
        <a:srgbClr val="F5EFE4"/>
      </a:lt1>
      <a:dk2>
        <a:srgbClr val="183F38"/>
      </a:dk2>
      <a:lt2>
        <a:srgbClr val="EAF4ED"/>
      </a:lt2>
      <a:accent1>
        <a:srgbClr val="0F766E"/>
      </a:accent1>
      <a:accent2>
        <a:srgbClr val="E7A83B"/>
      </a:accent2>
      <a:accent3>
        <a:srgbClr val="C9634B"/>
      </a:accent3>
      <a:accent4>
        <a:srgbClr val="B9E6D3"/>
      </a:accent4>
      <a:accent5>
        <a:srgbClr val="60736F"/>
      </a:accent5>
      <a:accent6>
        <a:srgbClr val="FFFFFF"/>
      </a:accent6>
      <a:hlink>
        <a:srgbClr val="0F766E"/>
      </a:hlink>
      <a:folHlink>
        <a:srgbClr val="C9634B"/>
      </a:folHlink>
    </a:clrScheme>
    <a:fontScheme name="Mail Care Fonts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Mail Care Format">
      <a:fillStyleLst>
        <a:solidFill>
          <a:schemeClr val="phClr"/>
        </a:solidFill>
        <a:solidFill>
          <a:srgbClr val="000000"/>
        </a:solidFill>
        <a:solidFill>
          <a:srgbClr val="000000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  <a:solidFill>
          <a:srgbClr val="000000"/>
        </a:solidFill>
        <a:solidFill>
          <a:srgbClr val="000000"/>
        </a:soli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Mail Care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Mail Care - Support de présentation</dc:title>
  <dc:creator>Accessible Mail Assistant</dc:creator>
  <cp:lastModifiedBy>Codex</cp:lastModifiedBy>
  <dcterms:created xsi:type="dcterms:W3CDTF">2026-04-07T18:57:57Z</dcterms:created>
  <dcterms:modified xsi:type="dcterms:W3CDTF">2026-04-07T18:57:57Z</dcterms:modified>
</cp:coreProperties>
</file>