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1265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1407299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7595801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8838762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2624031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165756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727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5236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Image de couverture générée par OpenAI Image Generation.,- Browser Use Cloud est présenté comme une solution de browser automation avec sessions, workspaces, proxies et skills : https://docs.browser-use.com/ citeturn0search1</a:t>
            </a:r>
            <a:endParaRPr lang="en-US"/>
          </a:p>
        </p:txBody>
      </p:sp>
      <p:sp>
        <p:nvSpPr>
          <p:cNvPr id="1313397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782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6643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Synthèse basée sur les spécifications du projet élaborées avec l’utilisateur ; aucune source externe de benchmark clinique n’est revendiquée.</a:t>
            </a:r>
            <a:endParaRPr lang="en-US"/>
          </a:p>
        </p:txBody>
      </p:sp>
      <p:sp>
        <p:nvSpPr>
          <p:cNvPr id="911401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144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8987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Le modèle Browser Use est présenté comme “Agent tasks” avec sessions et workspaces persistants : https://docs.browser-use.com/ citeturn0search1</a:t>
            </a:r>
            <a:endParaRPr lang="en-US"/>
          </a:p>
        </p:txBody>
      </p:sp>
      <p:sp>
        <p:nvSpPr>
          <p:cNvPr id="1232895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241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9123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Browser Use Cloud fournit sessions, profiles, workspaces et browser infrastructure : https://docs.browser-use.com/ citeturn0search1,- DeepSeek API est compatible OpenAI via simple changement de base_url : https://api-docs.deepseek.com/ citeturn0search6,- Mistral recommande vLLM avec API compatible OpenAI pour le self-hosting : https://docs.mistral.ai/deployment/self-deployment/vllm citeturn0search3</a:t>
            </a:r>
            <a:endParaRPr lang="en-US"/>
          </a:p>
        </p:txBody>
      </p:sp>
      <p:sp>
        <p:nvSpPr>
          <p:cNvPr id="978105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37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2901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Les gains présentés sont des hypothèses de conception issues du dossier projet, non des mesures cliniques.</a:t>
            </a:r>
            <a:endParaRPr lang="en-US"/>
          </a:p>
        </p:txBody>
      </p:sp>
      <p:sp>
        <p:nvSpPr>
          <p:cNvPr id="8186633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079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996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Browser Use expose des tâches, sessions et infrastructure navigateur ; le comportement précis de scroll doit rester piloté par le design produit et les paramètres de l’application : https://docs.browser-use.com/ citeturn0search1</a:t>
            </a:r>
            <a:endParaRPr lang="en-US"/>
          </a:p>
        </p:txBody>
      </p:sp>
      <p:sp>
        <p:nvSpPr>
          <p:cNvPr id="926668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695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494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Le support de modèles externes est explicitement prévu : Browser Use open source peut connecter n’importe quel LLM compatible OpenAI via URL personnalisée : https://docs.browser-use.com/supported-models citeturn0search24</a:t>
            </a:r>
            <a:endParaRPr lang="en-US"/>
          </a:p>
        </p:txBody>
      </p:sp>
      <p:sp>
        <p:nvSpPr>
          <p:cNvPr id="482201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933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3941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Repères de marché : Browser Use pricing public et options de session/skills : https://browser-use.com/pricing citeturn0search0turn0search4</a:t>
            </a:r>
            <a:endParaRPr lang="en-US"/>
          </a:p>
        </p:txBody>
      </p:sp>
      <p:sp>
        <p:nvSpPr>
          <p:cNvPr id="1771276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363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3386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Roadmap issue des arbitrages produits discutés dans le dossier ; pas de source externe.</a:t>
            </a:r>
            <a:endParaRPr lang="en-US"/>
          </a:p>
        </p:txBody>
      </p:sp>
      <p:sp>
        <p:nvSpPr>
          <p:cNvPr id="1405902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417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8970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Synthèse finale basée sur le dossier projet créé dans cette session.</a:t>
            </a:r>
            <a:endParaRPr lang="en-US"/>
          </a:p>
        </p:txBody>
      </p:sp>
      <p:sp>
        <p:nvSpPr>
          <p:cNvPr id="1806227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STER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54232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noFill/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1036035085" name="Text 1"/>
          <p:cNvSpPr/>
          <p:nvPr/>
        </p:nvSpPr>
        <p:spPr bwMode="auto">
          <a:xfrm>
            <a:off x="36576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AAB6E8"/>
                </a:solidFill>
                <a:latin typeface="Aptos"/>
                <a:ea typeface="Aptos"/>
                <a:cs typeface="Aptos"/>
              </a:rPr>
              <a:t>Agent mail accessible</a:t>
            </a:r>
            <a:endParaRPr lang="en-US" sz="800"/>
          </a:p>
        </p:txBody>
      </p:sp>
      <p:sp>
        <p:nvSpPr>
          <p:cNvPr id="2118483851" name="Text 2"/>
          <p:cNvSpPr/>
          <p:nvPr/>
        </p:nvSpPr>
        <p:spPr bwMode="auto">
          <a:xfrm>
            <a:off x="8778240" y="6473952"/>
            <a:ext cx="301751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AAB6E8"/>
                </a:solidFill>
                <a:latin typeface="Aptos"/>
                <a:ea typeface="Aptos"/>
                <a:cs typeface="Aptos"/>
              </a:rPr>
              <a:t>Confidentiel – version de travail</a:t>
            </a:r>
            <a:endParaRPr lang="en-US" sz="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872605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pic>
        <p:nvPicPr>
          <p:cNvPr id="1534482693" name="Image 0" descr="/mnt/data/a_pair_of_digital_3d_rendered_images_showcases_acc.png"/>
          <p:cNvPicPr>
            <a:picLocks noChangeAspect="1"/>
          </p:cNvPicPr>
          <p:nvPr/>
        </p:nvPicPr>
        <p:blipFill rotWithShape="1">
          <a:blip r:embed="rId3"/>
          <a:srcRect l="21468" t="0" r="21468" b="0"/>
          <a:stretch/>
        </p:blipFill>
        <p:spPr bwMode="auto">
          <a:xfrm>
            <a:off x="6537960" y="256032"/>
            <a:ext cx="5650992" cy="6601968"/>
          </a:xfrm>
          <a:prstGeom prst="rect">
            <a:avLst/>
          </a:prstGeom>
        </p:spPr>
      </p:pic>
      <p:sp>
        <p:nvSpPr>
          <p:cNvPr id="304875692" name="Shape 1"/>
          <p:cNvSpPr/>
          <p:nvPr/>
        </p:nvSpPr>
        <p:spPr bwMode="auto">
          <a:xfrm>
            <a:off x="-2742" y="0"/>
            <a:ext cx="12191695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00930310" name="Text 2"/>
          <p:cNvSpPr/>
          <p:nvPr/>
        </p:nvSpPr>
        <p:spPr bwMode="auto">
          <a:xfrm>
            <a:off x="548640" y="9144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 mail accessible assisté par IA</a:t>
            </a:r>
            <a:endParaRPr lang="en-US" sz="2600"/>
          </a:p>
        </p:txBody>
      </p:sp>
      <p:sp>
        <p:nvSpPr>
          <p:cNvPr id="1565416522" name="Text 3"/>
          <p:cNvSpPr/>
          <p:nvPr/>
        </p:nvSpPr>
        <p:spPr bwMode="auto">
          <a:xfrm>
            <a:off x="566928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7D3FF"/>
                </a:solidFill>
                <a:latin typeface="Aptos"/>
                <a:ea typeface="Aptos"/>
                <a:cs typeface="Aptos"/>
              </a:rPr>
              <a:t>Présentation technique et commerciale</a:t>
            </a:r>
            <a:endParaRPr lang="en-US" sz="1500"/>
          </a:p>
        </p:txBody>
      </p:sp>
      <p:sp>
        <p:nvSpPr>
          <p:cNvPr id="1040337446" name="Text 4"/>
          <p:cNvSpPr/>
          <p:nvPr/>
        </p:nvSpPr>
        <p:spPr bwMode="auto">
          <a:xfrm>
            <a:off x="566928" y="2148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DDE6FF"/>
                </a:solidFill>
                <a:latin typeface="Aptos"/>
                <a:ea typeface="Aptos"/>
                <a:cs typeface="Aptos"/>
              </a:rPr>
              <a:t>UI accessible • moteur IA configurable • Browser Use débrayable</a:t>
            </a:r>
            <a:endParaRPr lang="en-US" sz="1200"/>
          </a:p>
        </p:txBody>
      </p:sp>
      <p:sp>
        <p:nvSpPr>
          <p:cNvPr id="541429450" name="Shape 5"/>
          <p:cNvSpPr/>
          <p:nvPr/>
        </p:nvSpPr>
        <p:spPr bwMode="auto">
          <a:xfrm>
            <a:off x="640080" y="49377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1162889435" name="Text 6"/>
          <p:cNvSpPr/>
          <p:nvPr/>
        </p:nvSpPr>
        <p:spPr bwMode="auto">
          <a:xfrm>
            <a:off x="822960" y="4910327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-58 %</a:t>
            </a:r>
            <a:endParaRPr lang="en-US" sz="2200"/>
          </a:p>
        </p:txBody>
      </p:sp>
      <p:sp>
        <p:nvSpPr>
          <p:cNvPr id="1812047418" name="Text 7"/>
          <p:cNvSpPr/>
          <p:nvPr/>
        </p:nvSpPr>
        <p:spPr bwMode="auto">
          <a:xfrm>
            <a:off x="777240" y="5413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temps estimé de gestion</a:t>
            </a:r>
            <a:endParaRPr lang="en-US" sz="1050"/>
          </a:p>
        </p:txBody>
      </p:sp>
      <p:sp>
        <p:nvSpPr>
          <p:cNvPr id="26468369" name="Shape 8"/>
          <p:cNvSpPr/>
          <p:nvPr/>
        </p:nvSpPr>
        <p:spPr bwMode="auto">
          <a:xfrm>
            <a:off x="2240280" y="49377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1320775838" name="Text 9"/>
          <p:cNvSpPr/>
          <p:nvPr/>
        </p:nvSpPr>
        <p:spPr bwMode="auto">
          <a:xfrm flipH="0" flipV="0">
            <a:off x="2377440" y="4910327"/>
            <a:ext cx="1526675" cy="310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60–80 %</a:t>
            </a:r>
            <a:endParaRPr lang="en-US" sz="2200"/>
          </a:p>
        </p:txBody>
      </p:sp>
      <p:sp>
        <p:nvSpPr>
          <p:cNvPr id="1380706961" name="Text 10"/>
          <p:cNvSpPr/>
          <p:nvPr/>
        </p:nvSpPr>
        <p:spPr bwMode="auto">
          <a:xfrm>
            <a:off x="2377440" y="5413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actions manuelles évitées</a:t>
            </a:r>
            <a:endParaRPr lang="en-US" sz="1050"/>
          </a:p>
        </p:txBody>
      </p:sp>
      <p:sp>
        <p:nvSpPr>
          <p:cNvPr id="1715278843" name="Shape 11"/>
          <p:cNvSpPr/>
          <p:nvPr/>
        </p:nvSpPr>
        <p:spPr bwMode="auto">
          <a:xfrm>
            <a:off x="3840480" y="49377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1989416480" name="Text 12"/>
          <p:cNvSpPr/>
          <p:nvPr/>
        </p:nvSpPr>
        <p:spPr bwMode="auto">
          <a:xfrm flipH="0" flipV="0">
            <a:off x="3977640" y="4910327"/>
            <a:ext cx="1757171" cy="310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fr-FR" sz="2200" b="1">
                <a:solidFill>
                  <a:srgbClr val="FFFFFF"/>
                </a:solidFill>
              </a:rPr>
              <a:t>3</a:t>
            </a:r>
            <a:r>
              <a:rPr lang="fr-FR" sz="2200" b="1">
                <a:solidFill>
                  <a:srgbClr val="FFFFFF"/>
                </a:solidFill>
              </a:rPr>
              <a:t> </a:t>
            </a:r>
            <a:r>
              <a:rPr lang="en-US" sz="2200" b="1">
                <a:solidFill>
                  <a:srgbClr val="FFFFFF"/>
                </a:solidFill>
              </a:rPr>
              <a:t>couch</a:t>
            </a:r>
            <a:r>
              <a:rPr lang="fr-FR" sz="2200" b="1">
                <a:solidFill>
                  <a:srgbClr val="FFFFFF"/>
                </a:solidFill>
              </a:rPr>
              <a:t>e</a:t>
            </a:r>
            <a:r>
              <a:rPr lang="en-US" sz="2200" b="1">
                <a:solidFill>
                  <a:srgbClr val="FFFFFF"/>
                </a:solidFill>
              </a:rPr>
              <a:t>s</a:t>
            </a:r>
            <a:endParaRPr lang="en-US" sz="2200" b="1">
              <a:solidFill>
                <a:srgbClr val="FFFFFF"/>
              </a:solidFill>
            </a:endParaRPr>
          </a:p>
        </p:txBody>
      </p:sp>
      <p:sp>
        <p:nvSpPr>
          <p:cNvPr id="1242258708" name="Text 13"/>
          <p:cNvSpPr/>
          <p:nvPr/>
        </p:nvSpPr>
        <p:spPr bwMode="auto">
          <a:xfrm>
            <a:off x="3977640" y="5413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UI • IA • Browser Use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399536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401900486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Problème adressé</a:t>
            </a:r>
            <a:endParaRPr lang="en-US" sz="2800"/>
          </a:p>
        </p:txBody>
      </p:sp>
      <p:sp>
        <p:nvSpPr>
          <p:cNvPr id="1323531662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Pourquoi une messagerie classique reste coûteuse pour certains utilisateurs</a:t>
            </a:r>
            <a:endParaRPr lang="en-US" sz="1100"/>
          </a:p>
        </p:txBody>
      </p:sp>
      <p:sp>
        <p:nvSpPr>
          <p:cNvPr id="1511306923" name="Shape 3"/>
          <p:cNvSpPr/>
          <p:nvPr/>
        </p:nvSpPr>
        <p:spPr bwMode="auto">
          <a:xfrm>
            <a:off x="594360" y="13258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29867294" name="Shape 4"/>
          <p:cNvSpPr/>
          <p:nvPr/>
        </p:nvSpPr>
        <p:spPr bwMode="auto">
          <a:xfrm>
            <a:off x="594360" y="1325880"/>
            <a:ext cx="54864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30459008" name="Text 5"/>
          <p:cNvSpPr/>
          <p:nvPr/>
        </p:nvSpPr>
        <p:spPr bwMode="auto">
          <a:xfrm>
            <a:off x="758952" y="14356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Charge interactionnelle élevée</a:t>
            </a:r>
            <a:endParaRPr lang="en-US" sz="1400"/>
          </a:p>
        </p:txBody>
      </p:sp>
      <p:sp>
        <p:nvSpPr>
          <p:cNvPr id="1857562161" name="Text 6"/>
          <p:cNvSpPr/>
          <p:nvPr/>
        </p:nvSpPr>
        <p:spPr bwMode="auto">
          <a:xfrm>
            <a:off x="758952" y="1709928"/>
            <a:ext cx="340156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La webmail impose une succession de gestes fins : ouvrir, viser, scroller, revenir, joindre, vérifier. Pour un utilisateur fatigable ou en suivi oculaire, ces micro-actions deviennent le principal frein à l’autonomie.</a:t>
            </a:r>
            <a:endParaRPr lang="en-US" sz="1100"/>
          </a:p>
        </p:txBody>
      </p:sp>
      <p:sp>
        <p:nvSpPr>
          <p:cNvPr id="832630492" name="Shape 7"/>
          <p:cNvSpPr/>
          <p:nvPr/>
        </p:nvSpPr>
        <p:spPr bwMode="auto">
          <a:xfrm>
            <a:off x="4434840" y="13258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6889748" name="Shape 8"/>
          <p:cNvSpPr/>
          <p:nvPr/>
        </p:nvSpPr>
        <p:spPr bwMode="auto">
          <a:xfrm>
            <a:off x="4434840" y="1325880"/>
            <a:ext cx="54864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77849499" name="Text 9"/>
          <p:cNvSpPr/>
          <p:nvPr/>
        </p:nvSpPr>
        <p:spPr bwMode="auto">
          <a:xfrm>
            <a:off x="4599432" y="14356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Coût cognitif</a:t>
            </a:r>
            <a:endParaRPr lang="en-US" sz="1400"/>
          </a:p>
        </p:txBody>
      </p:sp>
      <p:sp>
        <p:nvSpPr>
          <p:cNvPr id="1088373019" name="Text 10"/>
          <p:cNvSpPr/>
          <p:nvPr/>
        </p:nvSpPr>
        <p:spPr bwMode="auto">
          <a:xfrm>
            <a:off x="4599432" y="1709928"/>
            <a:ext cx="340156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Retrouver le bon mail, gérer les onglets, les pièces jointes et les liens détourne l’</a:t>
            </a: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attention de la vraie valeur : lire, comprendre, décider et valider.</a:t>
            </a:r>
            <a:endParaRPr lang="en-US" sz="1100"/>
          </a:p>
        </p:txBody>
      </p:sp>
      <p:sp>
        <p:nvSpPr>
          <p:cNvPr id="605503084" name="Shape 11"/>
          <p:cNvSpPr/>
          <p:nvPr/>
        </p:nvSpPr>
        <p:spPr bwMode="auto">
          <a:xfrm>
            <a:off x="8275320" y="13258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63607587" name="Shape 12"/>
          <p:cNvSpPr/>
          <p:nvPr/>
        </p:nvSpPr>
        <p:spPr bwMode="auto">
          <a:xfrm>
            <a:off x="8275320" y="1325880"/>
            <a:ext cx="54864" cy="19202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</p:sp>
      <p:sp>
        <p:nvSpPr>
          <p:cNvPr id="1516515184" name="Text 13"/>
          <p:cNvSpPr/>
          <p:nvPr/>
        </p:nvSpPr>
        <p:spPr bwMode="auto">
          <a:xfrm>
            <a:off x="8439912" y="1435608"/>
            <a:ext cx="301751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Risque opérationnel</a:t>
            </a:r>
            <a:endParaRPr lang="en-US" sz="1400"/>
          </a:p>
        </p:txBody>
      </p:sp>
      <p:sp>
        <p:nvSpPr>
          <p:cNvPr id="1973727495" name="Text 14"/>
          <p:cNvSpPr/>
          <p:nvPr/>
        </p:nvSpPr>
        <p:spPr bwMode="auto">
          <a:xfrm>
            <a:off x="8439912" y="1709928"/>
            <a:ext cx="303580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Oublis de pièces jointes, retours de navigation, perte de contexte et fatigue augmentent le risque d’erreur et la dépendance à un a</a:t>
            </a: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idan</a:t>
            </a: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t.</a:t>
            </a:r>
            <a:endParaRPr lang="en-US" sz="1100"/>
          </a:p>
        </p:txBody>
      </p:sp>
      <p:sp>
        <p:nvSpPr>
          <p:cNvPr id="1938322605" name="Shape 15"/>
          <p:cNvSpPr/>
          <p:nvPr/>
        </p:nvSpPr>
        <p:spPr bwMode="auto">
          <a:xfrm>
            <a:off x="630935" y="3611880"/>
            <a:ext cx="109728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96496904" name="Shape 16"/>
          <p:cNvSpPr/>
          <p:nvPr/>
        </p:nvSpPr>
        <p:spPr bwMode="auto">
          <a:xfrm>
            <a:off x="594360" y="3611880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67185119" name="Text 17"/>
          <p:cNvSpPr/>
          <p:nvPr/>
        </p:nvSpPr>
        <p:spPr bwMode="auto">
          <a:xfrm>
            <a:off x="758952" y="3721608"/>
            <a:ext cx="10698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Réponse produit</a:t>
            </a:r>
            <a:endParaRPr lang="en-US" sz="1400"/>
          </a:p>
        </p:txBody>
      </p:sp>
      <p:sp>
        <p:nvSpPr>
          <p:cNvPr id="867510603" name="Text 18"/>
          <p:cNvSpPr/>
          <p:nvPr/>
        </p:nvSpPr>
        <p:spPr bwMode="auto">
          <a:xfrm>
            <a:off x="758952" y="3995928"/>
            <a:ext cx="1071676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L</a:t>
            </a: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e système traite un mail à la fois, présente le contenu complet à gauche, la répon</a:t>
            </a:r>
            <a:r>
              <a:rPr lang="fr-FR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æ</a:t>
            </a: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se proposée à droite, et laisse Browser Use absorber la mécanique web répétitive pendant que l’utilisateur conserve la décision finale.</a:t>
            </a:r>
            <a:r>
              <a:rPr lang="fr-FR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æ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55722" name="Shape 0"/>
          <p:cNvSpPr/>
          <p:nvPr/>
        </p:nvSpPr>
        <p:spPr bwMode="auto">
          <a:xfrm>
            <a:off x="-15087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285051982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Workflow cible</a:t>
            </a:r>
            <a:endParaRPr lang="en-US" sz="2800"/>
          </a:p>
        </p:txBody>
      </p:sp>
      <p:sp>
        <p:nvSpPr>
          <p:cNvPr id="1072458068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Du lancement de l’agent jusqu’au mail suivant</a:t>
            </a:r>
            <a:endParaRPr lang="en-US" sz="1100"/>
          </a:p>
        </p:txBody>
      </p:sp>
      <p:sp>
        <p:nvSpPr>
          <p:cNvPr id="1022100684" name="Shape 3"/>
          <p:cNvSpPr/>
          <p:nvPr/>
        </p:nvSpPr>
        <p:spPr bwMode="auto">
          <a:xfrm>
            <a:off x="731520" y="141732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58469901" name="Text 4"/>
          <p:cNvSpPr/>
          <p:nvPr/>
        </p:nvSpPr>
        <p:spPr bwMode="auto">
          <a:xfrm>
            <a:off x="868680" y="1572768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1</a:t>
            </a:r>
            <a:endParaRPr lang="en-US" sz="1600"/>
          </a:p>
        </p:txBody>
      </p:sp>
      <p:sp>
        <p:nvSpPr>
          <p:cNvPr id="1533206210" name="Text 5"/>
          <p:cNvSpPr/>
          <p:nvPr/>
        </p:nvSpPr>
        <p:spPr bwMode="auto">
          <a:xfrm>
            <a:off x="1371600" y="1527048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1. Ouvrir la boîte mail</a:t>
            </a:r>
            <a:endParaRPr lang="en-US" sz="1300"/>
          </a:p>
        </p:txBody>
      </p:sp>
      <p:sp>
        <p:nvSpPr>
          <p:cNvPr id="2017510282" name="Text 6"/>
          <p:cNvSpPr/>
          <p:nvPr/>
        </p:nvSpPr>
        <p:spPr bwMode="auto">
          <a:xfrm>
            <a:off x="4526280" y="1517904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D7DFFA"/>
                </a:solidFill>
              </a:rPr>
              <a:t>Browser Use lance le navigateur et retrouve la réception.</a:t>
            </a:r>
            <a:endParaRPr lang="en-US" sz="1100"/>
          </a:p>
        </p:txBody>
      </p:sp>
      <p:sp>
        <p:nvSpPr>
          <p:cNvPr id="544700370" name="Shape 7"/>
          <p:cNvSpPr/>
          <p:nvPr/>
        </p:nvSpPr>
        <p:spPr bwMode="auto">
          <a:xfrm>
            <a:off x="731520" y="2313432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848697362" name="Text 8"/>
          <p:cNvSpPr/>
          <p:nvPr/>
        </p:nvSpPr>
        <p:spPr bwMode="auto">
          <a:xfrm>
            <a:off x="868680" y="2468880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2</a:t>
            </a:r>
            <a:endParaRPr lang="en-US" sz="1600"/>
          </a:p>
        </p:txBody>
      </p:sp>
      <p:sp>
        <p:nvSpPr>
          <p:cNvPr id="495044189" name="Text 9"/>
          <p:cNvSpPr/>
          <p:nvPr/>
        </p:nvSpPr>
        <p:spPr bwMode="auto">
          <a:xfrm>
            <a:off x="1371600" y="2423160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2. Sélectionner le bon mail</a:t>
            </a:r>
            <a:endParaRPr lang="en-US" sz="1300"/>
          </a:p>
        </p:txBody>
      </p:sp>
      <p:sp>
        <p:nvSpPr>
          <p:cNvPr id="1939575162" name="Text 10"/>
          <p:cNvSpPr/>
          <p:nvPr/>
        </p:nvSpPr>
        <p:spPr bwMode="auto">
          <a:xfrm>
            <a:off x="4526280" y="2414016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D7DFFA"/>
                </a:solidFill>
              </a:rPr>
              <a:t>Le prochain message prioritaire est identifié puis ouvert.</a:t>
            </a:r>
            <a:endParaRPr lang="en-US" sz="1100"/>
          </a:p>
        </p:txBody>
      </p:sp>
      <p:sp>
        <p:nvSpPr>
          <p:cNvPr id="991709419" name="Shape 11"/>
          <p:cNvSpPr/>
          <p:nvPr/>
        </p:nvSpPr>
        <p:spPr bwMode="auto">
          <a:xfrm>
            <a:off x="731520" y="3209544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921243215" name="Text 12"/>
          <p:cNvSpPr/>
          <p:nvPr/>
        </p:nvSpPr>
        <p:spPr bwMode="auto">
          <a:xfrm>
            <a:off x="868680" y="3364992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3</a:t>
            </a:r>
            <a:endParaRPr lang="en-US" sz="1600"/>
          </a:p>
        </p:txBody>
      </p:sp>
      <p:sp>
        <p:nvSpPr>
          <p:cNvPr id="1147374002" name="Text 13"/>
          <p:cNvSpPr/>
          <p:nvPr/>
        </p:nvSpPr>
        <p:spPr bwMode="auto">
          <a:xfrm>
            <a:off x="1371600" y="3319272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3. Analyser le contexte</a:t>
            </a:r>
            <a:endParaRPr lang="en-US" sz="1300"/>
          </a:p>
        </p:txBody>
      </p:sp>
      <p:sp>
        <p:nvSpPr>
          <p:cNvPr id="795618416" name="Text 14"/>
          <p:cNvSpPr/>
          <p:nvPr/>
        </p:nvSpPr>
        <p:spPr bwMode="auto">
          <a:xfrm>
            <a:off x="4526280" y="3310127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D7DFFA"/>
                </a:solidFill>
              </a:rPr>
              <a:t>Le LLM lit le mail, la date, les liens, les pièces jointes et les règles.</a:t>
            </a:r>
            <a:endParaRPr lang="en-US" sz="1100"/>
          </a:p>
        </p:txBody>
      </p:sp>
      <p:sp>
        <p:nvSpPr>
          <p:cNvPr id="994787227" name="Shape 15"/>
          <p:cNvSpPr/>
          <p:nvPr/>
        </p:nvSpPr>
        <p:spPr bwMode="auto">
          <a:xfrm>
            <a:off x="731520" y="4105656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685071961" name="Text 16"/>
          <p:cNvSpPr/>
          <p:nvPr/>
        </p:nvSpPr>
        <p:spPr bwMode="auto">
          <a:xfrm>
            <a:off x="868680" y="4261104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4</a:t>
            </a:r>
            <a:endParaRPr lang="en-US" sz="1600"/>
          </a:p>
        </p:txBody>
      </p:sp>
      <p:sp>
        <p:nvSpPr>
          <p:cNvPr id="1661296447" name="Text 17"/>
          <p:cNvSpPr/>
          <p:nvPr/>
        </p:nvSpPr>
        <p:spPr bwMode="auto">
          <a:xfrm>
            <a:off x="1371600" y="4215384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4. Exécuter les manipulations web</a:t>
            </a:r>
            <a:endParaRPr lang="en-US" sz="1300"/>
          </a:p>
        </p:txBody>
      </p:sp>
      <p:sp>
        <p:nvSpPr>
          <p:cNvPr id="746794905" name="Text 18"/>
          <p:cNvSpPr/>
          <p:nvPr/>
        </p:nvSpPr>
        <p:spPr bwMode="auto">
          <a:xfrm>
            <a:off x="4526279" y="4206240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D7DFFA"/>
                </a:solidFill>
              </a:rPr>
              <a:t>Liens, pièces jointes, portail métier, brouillon, retour à la réception.</a:t>
            </a:r>
            <a:endParaRPr lang="en-US" sz="1100"/>
          </a:p>
        </p:txBody>
      </p:sp>
      <p:sp>
        <p:nvSpPr>
          <p:cNvPr id="1976507008" name="Shape 19"/>
          <p:cNvSpPr/>
          <p:nvPr/>
        </p:nvSpPr>
        <p:spPr bwMode="auto">
          <a:xfrm>
            <a:off x="731520" y="5001768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436861160" name="Text 20"/>
          <p:cNvSpPr/>
          <p:nvPr/>
        </p:nvSpPr>
        <p:spPr bwMode="auto">
          <a:xfrm>
            <a:off x="868680" y="5157216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5</a:t>
            </a:r>
            <a:endParaRPr lang="en-US" sz="1600"/>
          </a:p>
        </p:txBody>
      </p:sp>
      <p:sp>
        <p:nvSpPr>
          <p:cNvPr id="1416621333" name="Text 21"/>
          <p:cNvSpPr/>
          <p:nvPr/>
        </p:nvSpPr>
        <p:spPr bwMode="auto">
          <a:xfrm>
            <a:off x="1371600" y="5111496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5. Laisser la main à l’utilisateur</a:t>
            </a:r>
            <a:endParaRPr lang="en-US" sz="1300"/>
          </a:p>
        </p:txBody>
      </p:sp>
      <p:sp>
        <p:nvSpPr>
          <p:cNvPr id="1638967840" name="Text 22"/>
          <p:cNvSpPr/>
          <p:nvPr/>
        </p:nvSpPr>
        <p:spPr bwMode="auto">
          <a:xfrm>
            <a:off x="4526280" y="510235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D7DFFA"/>
                </a:solidFill>
              </a:rPr>
              <a:t>Lecture, correction du textarea, validation, rejet ou ignore.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784979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48425518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Architecture modulaire</a:t>
            </a:r>
            <a:endParaRPr lang="en-US" sz="2800"/>
          </a:p>
        </p:txBody>
      </p:sp>
      <p:sp>
        <p:nvSpPr>
          <p:cNvPr id="1295118384" name="Text 2"/>
          <p:cNvSpPr/>
          <p:nvPr/>
        </p:nvSpPr>
        <p:spPr bwMode="auto">
          <a:xfrm>
            <a:off x="548639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Découplage complet entre UI, IA et automation navigateur</a:t>
            </a:r>
            <a:endParaRPr lang="en-US" sz="1100"/>
          </a:p>
        </p:txBody>
      </p:sp>
      <p:sp>
        <p:nvSpPr>
          <p:cNvPr id="1973710534" name="Shape 3"/>
          <p:cNvSpPr/>
          <p:nvPr/>
        </p:nvSpPr>
        <p:spPr bwMode="auto">
          <a:xfrm>
            <a:off x="2011680" y="1828800"/>
            <a:ext cx="178308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238007035" name="Shape 4"/>
          <p:cNvSpPr/>
          <p:nvPr/>
        </p:nvSpPr>
        <p:spPr bwMode="auto">
          <a:xfrm>
            <a:off x="5715000" y="1828800"/>
            <a:ext cx="187452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723596497" name="Shape 5"/>
          <p:cNvSpPr/>
          <p:nvPr/>
        </p:nvSpPr>
        <p:spPr bwMode="auto">
          <a:xfrm>
            <a:off x="9326880" y="1828800"/>
            <a:ext cx="0" cy="219456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095752807" name="Shape 6"/>
          <p:cNvSpPr/>
          <p:nvPr/>
        </p:nvSpPr>
        <p:spPr bwMode="auto">
          <a:xfrm>
            <a:off x="7589520" y="4023360"/>
            <a:ext cx="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78371617" name="Shape 7"/>
          <p:cNvSpPr/>
          <p:nvPr/>
        </p:nvSpPr>
        <p:spPr bwMode="auto">
          <a:xfrm>
            <a:off x="3794760" y="4023360"/>
            <a:ext cx="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145730656" name="Shape 8"/>
          <p:cNvSpPr/>
          <p:nvPr/>
        </p:nvSpPr>
        <p:spPr bwMode="auto">
          <a:xfrm>
            <a:off x="5715000" y="1828800"/>
            <a:ext cx="0" cy="219456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483873422" name="Shape 9"/>
          <p:cNvSpPr/>
          <p:nvPr/>
        </p:nvSpPr>
        <p:spPr bwMode="auto">
          <a:xfrm>
            <a:off x="594360" y="12801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63221046" name="Shape 10"/>
          <p:cNvSpPr/>
          <p:nvPr/>
        </p:nvSpPr>
        <p:spPr bwMode="auto">
          <a:xfrm>
            <a:off x="594360" y="1280160"/>
            <a:ext cx="54864" cy="1097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505662735" name="Text 11"/>
          <p:cNvSpPr/>
          <p:nvPr/>
        </p:nvSpPr>
        <p:spPr bwMode="auto">
          <a:xfrm>
            <a:off x="758952" y="13898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UI accessible</a:t>
            </a:r>
            <a:endParaRPr lang="en-US" sz="1400"/>
          </a:p>
        </p:txBody>
      </p:sp>
      <p:sp>
        <p:nvSpPr>
          <p:cNvPr id="1230506449" name="Text 12"/>
          <p:cNvSpPr/>
          <p:nvPr/>
        </p:nvSpPr>
        <p:spPr bwMode="auto">
          <a:xfrm flipH="0" flipV="0">
            <a:off x="758952" y="1361833"/>
            <a:ext cx="2212848" cy="933932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Mail complet, réponse éditable, paramètres visuels, scroll, classification.</a:t>
            </a:r>
            <a:endParaRPr lang="en-US" sz="1100"/>
          </a:p>
        </p:txBody>
      </p:sp>
      <p:sp>
        <p:nvSpPr>
          <p:cNvPr id="679152443" name="Shape 13"/>
          <p:cNvSpPr/>
          <p:nvPr/>
        </p:nvSpPr>
        <p:spPr bwMode="auto">
          <a:xfrm>
            <a:off x="3566160" y="12801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91458934" name="Shape 14"/>
          <p:cNvSpPr/>
          <p:nvPr/>
        </p:nvSpPr>
        <p:spPr bwMode="auto">
          <a:xfrm>
            <a:off x="3566160" y="128016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2199173" name="Text 15"/>
          <p:cNvSpPr/>
          <p:nvPr/>
        </p:nvSpPr>
        <p:spPr bwMode="auto">
          <a:xfrm>
            <a:off x="3730752" y="13898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Orchestrateur</a:t>
            </a:r>
            <a:endParaRPr lang="en-US" sz="1400"/>
          </a:p>
        </p:txBody>
      </p:sp>
      <p:sp>
        <p:nvSpPr>
          <p:cNvPr id="2013960490" name="Text 16"/>
          <p:cNvSpPr/>
          <p:nvPr/>
        </p:nvSpPr>
        <p:spPr bwMode="auto">
          <a:xfrm flipH="0" flipV="0">
            <a:off x="3721607" y="1361833"/>
            <a:ext cx="2212848" cy="877824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Distribue les tâches, collecte les états, journalise, applique les règles.</a:t>
            </a:r>
            <a:endParaRPr lang="en-US" sz="1100"/>
          </a:p>
        </p:txBody>
      </p:sp>
      <p:sp>
        <p:nvSpPr>
          <p:cNvPr id="144276783" name="Shape 17"/>
          <p:cNvSpPr/>
          <p:nvPr/>
        </p:nvSpPr>
        <p:spPr bwMode="auto">
          <a:xfrm>
            <a:off x="6702552" y="12801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03458876" name="Shape 18"/>
          <p:cNvSpPr/>
          <p:nvPr/>
        </p:nvSpPr>
        <p:spPr bwMode="auto">
          <a:xfrm>
            <a:off x="6492240" y="128016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59966153" name="Text 19"/>
          <p:cNvSpPr/>
          <p:nvPr/>
        </p:nvSpPr>
        <p:spPr bwMode="auto">
          <a:xfrm>
            <a:off x="6656832" y="13898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Moteur IA</a:t>
            </a:r>
            <a:endParaRPr lang="en-US" sz="1400"/>
          </a:p>
        </p:txBody>
      </p:sp>
      <p:sp>
        <p:nvSpPr>
          <p:cNvPr id="1469778862" name="Text 20"/>
          <p:cNvSpPr/>
          <p:nvPr/>
        </p:nvSpPr>
        <p:spPr bwMode="auto">
          <a:xfrm flipH="0" flipV="0">
            <a:off x="6799010" y="1361833"/>
            <a:ext cx="2367403" cy="1015606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L</a:t>
            </a: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LM local ou distant : compréhension, classification, réponse, confiance.</a:t>
            </a:r>
            <a:endParaRPr lang="en-US" sz="1100"/>
          </a:p>
        </p:txBody>
      </p:sp>
      <p:sp>
        <p:nvSpPr>
          <p:cNvPr id="320209550" name="Shape 21"/>
          <p:cNvSpPr/>
          <p:nvPr/>
        </p:nvSpPr>
        <p:spPr bwMode="auto">
          <a:xfrm>
            <a:off x="9407949" y="128016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97050897" name="Shape 22"/>
          <p:cNvSpPr/>
          <p:nvPr/>
        </p:nvSpPr>
        <p:spPr bwMode="auto">
          <a:xfrm>
            <a:off x="9144000" y="128016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51656110" name="Text 23"/>
          <p:cNvSpPr/>
          <p:nvPr/>
        </p:nvSpPr>
        <p:spPr bwMode="auto">
          <a:xfrm>
            <a:off x="9308592" y="138988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Browser Use</a:t>
            </a:r>
            <a:endParaRPr lang="en-US" sz="1400"/>
          </a:p>
        </p:txBody>
      </p:sp>
      <p:sp>
        <p:nvSpPr>
          <p:cNvPr id="707422321" name="Text 24"/>
          <p:cNvSpPr/>
          <p:nvPr/>
        </p:nvSpPr>
        <p:spPr bwMode="auto">
          <a:xfrm>
            <a:off x="9535965" y="1389887"/>
            <a:ext cx="21671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Ouvre, clique, scroll, navigue, joint, revient.</a:t>
            </a:r>
            <a:endParaRPr lang="en-US" sz="1100"/>
          </a:p>
        </p:txBody>
      </p:sp>
      <p:sp>
        <p:nvSpPr>
          <p:cNvPr id="1533813796" name="Shape 25"/>
          <p:cNvSpPr/>
          <p:nvPr/>
        </p:nvSpPr>
        <p:spPr bwMode="auto">
          <a:xfrm>
            <a:off x="594360" y="352044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14902404" name="Shape 26"/>
          <p:cNvSpPr/>
          <p:nvPr/>
        </p:nvSpPr>
        <p:spPr bwMode="auto">
          <a:xfrm>
            <a:off x="594360" y="3520440"/>
            <a:ext cx="54864" cy="1143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</p:sp>
      <p:sp>
        <p:nvSpPr>
          <p:cNvPr id="58812881" name="Text 27"/>
          <p:cNvSpPr/>
          <p:nvPr/>
        </p:nvSpPr>
        <p:spPr bwMode="auto">
          <a:xfrm>
            <a:off x="758952" y="3630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Données &amp; règles</a:t>
            </a:r>
            <a:endParaRPr lang="en-US" sz="1400"/>
          </a:p>
        </p:txBody>
      </p:sp>
      <p:sp>
        <p:nvSpPr>
          <p:cNvPr id="592798914" name="Text 28"/>
          <p:cNvSpPr/>
          <p:nvPr/>
        </p:nvSpPr>
        <p:spPr bwMode="auto">
          <a:xfrm>
            <a:off x="768096" y="3630168"/>
            <a:ext cx="24871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Prix, âge, références, URLs officielles, documents sortants.</a:t>
            </a:r>
            <a:endParaRPr lang="en-US" sz="1100"/>
          </a:p>
        </p:txBody>
      </p:sp>
      <p:sp>
        <p:nvSpPr>
          <p:cNvPr id="1735556183" name="Shape 29"/>
          <p:cNvSpPr/>
          <p:nvPr/>
        </p:nvSpPr>
        <p:spPr bwMode="auto">
          <a:xfrm>
            <a:off x="3840480" y="352044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0043518" name="Shape 30"/>
          <p:cNvSpPr/>
          <p:nvPr/>
        </p:nvSpPr>
        <p:spPr bwMode="auto">
          <a:xfrm>
            <a:off x="3840480" y="3520440"/>
            <a:ext cx="54864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606601023" name="Text 31"/>
          <p:cNvSpPr/>
          <p:nvPr/>
        </p:nvSpPr>
        <p:spPr bwMode="auto">
          <a:xfrm>
            <a:off x="4005072" y="36301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Journalisation &amp; audit</a:t>
            </a:r>
            <a:endParaRPr lang="en-US" sz="1400"/>
          </a:p>
        </p:txBody>
      </p:sp>
      <p:sp>
        <p:nvSpPr>
          <p:cNvPr id="1974719752" name="Text 32"/>
          <p:cNvSpPr/>
          <p:nvPr/>
        </p:nvSpPr>
        <p:spPr bwMode="auto">
          <a:xfrm>
            <a:off x="3995928" y="3630168"/>
            <a:ext cx="34015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Actions Browser Use, simulations d’envoi, rejets, métriques.</a:t>
            </a:r>
            <a:endParaRPr lang="en-US" sz="1100"/>
          </a:p>
        </p:txBody>
      </p:sp>
      <p:sp>
        <p:nvSpPr>
          <p:cNvPr id="2079704230" name="Shape 33"/>
          <p:cNvSpPr/>
          <p:nvPr/>
        </p:nvSpPr>
        <p:spPr bwMode="auto">
          <a:xfrm>
            <a:off x="7955280" y="3520440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10727040" name="Shape 34"/>
          <p:cNvSpPr/>
          <p:nvPr/>
        </p:nvSpPr>
        <p:spPr bwMode="auto">
          <a:xfrm>
            <a:off x="7955280" y="3520440"/>
            <a:ext cx="54864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09045730" name="Text 35"/>
          <p:cNvSpPr/>
          <p:nvPr/>
        </p:nvSpPr>
        <p:spPr bwMode="auto">
          <a:xfrm>
            <a:off x="8119872" y="363016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Canaux d’exécution</a:t>
            </a:r>
            <a:endParaRPr lang="en-US" sz="1400"/>
          </a:p>
        </p:txBody>
      </p:sp>
      <p:sp>
        <p:nvSpPr>
          <p:cNvPr id="76074898" name="Text 36"/>
          <p:cNvSpPr/>
          <p:nvPr/>
        </p:nvSpPr>
        <p:spPr bwMode="auto">
          <a:xfrm>
            <a:off x="8119872" y="3630168"/>
            <a:ext cx="335584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Webmail, portail métier, documentation officielle, dépôt documentaire.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388564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835781156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Gains opérationnels estimés</a:t>
            </a:r>
            <a:endParaRPr lang="en-US" sz="2800"/>
          </a:p>
        </p:txBody>
      </p:sp>
      <p:sp>
        <p:nvSpPr>
          <p:cNvPr id="743819500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Ordres de grandeur à valider en tests utilisateurs</a:t>
            </a:r>
            <a:endParaRPr lang="en-US" sz="1100"/>
          </a:p>
        </p:txBody>
      </p:sp>
      <p:sp>
        <p:nvSpPr>
          <p:cNvPr id="81672700" name="Shape 3"/>
          <p:cNvSpPr/>
          <p:nvPr/>
        </p:nvSpPr>
        <p:spPr bwMode="auto">
          <a:xfrm>
            <a:off x="502920" y="1417320"/>
            <a:ext cx="201168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1936626055" name="Text 4"/>
          <p:cNvSpPr/>
          <p:nvPr/>
        </p:nvSpPr>
        <p:spPr bwMode="auto">
          <a:xfrm>
            <a:off x="557784" y="149047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Tâche</a:t>
            </a:r>
            <a:endParaRPr lang="en-US" sz="1050"/>
          </a:p>
        </p:txBody>
      </p:sp>
      <p:sp>
        <p:nvSpPr>
          <p:cNvPr id="117690016" name="Shape 5"/>
          <p:cNvSpPr/>
          <p:nvPr/>
        </p:nvSpPr>
        <p:spPr bwMode="auto">
          <a:xfrm>
            <a:off x="2514600" y="1417320"/>
            <a:ext cx="192024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741942434" name="Text 6"/>
          <p:cNvSpPr/>
          <p:nvPr/>
        </p:nvSpPr>
        <p:spPr bwMode="auto">
          <a:xfrm>
            <a:off x="2569464" y="1490472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Manuel</a:t>
            </a:r>
            <a:endParaRPr lang="en-US" sz="1050"/>
          </a:p>
        </p:txBody>
      </p:sp>
      <p:sp>
        <p:nvSpPr>
          <p:cNvPr id="2098905275" name="Shape 7"/>
          <p:cNvSpPr/>
          <p:nvPr/>
        </p:nvSpPr>
        <p:spPr bwMode="auto">
          <a:xfrm>
            <a:off x="4434840" y="1417320"/>
            <a:ext cx="228600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1766807836" name="Text 8"/>
          <p:cNvSpPr/>
          <p:nvPr/>
        </p:nvSpPr>
        <p:spPr bwMode="auto">
          <a:xfrm>
            <a:off x="4489704" y="149047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Avec Browser Use</a:t>
            </a:r>
            <a:endParaRPr lang="en-US" sz="1050"/>
          </a:p>
        </p:txBody>
      </p:sp>
      <p:sp>
        <p:nvSpPr>
          <p:cNvPr id="576586828" name="Shape 9"/>
          <p:cNvSpPr/>
          <p:nvPr/>
        </p:nvSpPr>
        <p:spPr bwMode="auto">
          <a:xfrm>
            <a:off x="6720840" y="1417320"/>
            <a:ext cx="109728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985646405" name="Text 10"/>
          <p:cNvSpPr/>
          <p:nvPr/>
        </p:nvSpPr>
        <p:spPr bwMode="auto">
          <a:xfrm>
            <a:off x="6775704" y="149047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Gain temps</a:t>
            </a:r>
            <a:endParaRPr lang="en-US" sz="1050"/>
          </a:p>
        </p:txBody>
      </p:sp>
      <p:sp>
        <p:nvSpPr>
          <p:cNvPr id="1045682597" name="Shape 11"/>
          <p:cNvSpPr/>
          <p:nvPr/>
        </p:nvSpPr>
        <p:spPr bwMode="auto">
          <a:xfrm>
            <a:off x="7818120" y="1417320"/>
            <a:ext cx="384048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1460758476" name="Text 12"/>
          <p:cNvSpPr/>
          <p:nvPr/>
        </p:nvSpPr>
        <p:spPr bwMode="auto">
          <a:xfrm>
            <a:off x="7872984" y="1490472"/>
            <a:ext cx="3730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Impact accessibilité</a:t>
            </a:r>
            <a:endParaRPr lang="en-US" sz="1050"/>
          </a:p>
        </p:txBody>
      </p:sp>
      <p:sp>
        <p:nvSpPr>
          <p:cNvPr id="2038113885" name="Shape 13"/>
          <p:cNvSpPr/>
          <p:nvPr/>
        </p:nvSpPr>
        <p:spPr bwMode="auto">
          <a:xfrm>
            <a:off x="502920" y="1874520"/>
            <a:ext cx="20116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123709468" name="Text 14"/>
          <p:cNvSpPr/>
          <p:nvPr/>
        </p:nvSpPr>
        <p:spPr bwMode="auto">
          <a:xfrm>
            <a:off x="557784" y="1947671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Ouvrir la messagerie</a:t>
            </a:r>
            <a:endParaRPr lang="en-US" sz="1000"/>
          </a:p>
        </p:txBody>
      </p:sp>
      <p:sp>
        <p:nvSpPr>
          <p:cNvPr id="1130605890" name="Shape 15"/>
          <p:cNvSpPr/>
          <p:nvPr/>
        </p:nvSpPr>
        <p:spPr bwMode="auto">
          <a:xfrm>
            <a:off x="2514600" y="1874520"/>
            <a:ext cx="192024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109040330" name="Text 16"/>
          <p:cNvSpPr/>
          <p:nvPr/>
        </p:nvSpPr>
        <p:spPr bwMode="auto">
          <a:xfrm>
            <a:off x="2569464" y="1947671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navigation complète</a:t>
            </a:r>
            <a:endParaRPr lang="en-US" sz="1000"/>
          </a:p>
        </p:txBody>
      </p:sp>
      <p:sp>
        <p:nvSpPr>
          <p:cNvPr id="304539791" name="Shape 17"/>
          <p:cNvSpPr/>
          <p:nvPr/>
        </p:nvSpPr>
        <p:spPr bwMode="auto">
          <a:xfrm>
            <a:off x="4434840" y="1874520"/>
            <a:ext cx="228600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758375763" name="Text 18"/>
          <p:cNvSpPr/>
          <p:nvPr/>
        </p:nvSpPr>
        <p:spPr bwMode="auto">
          <a:xfrm>
            <a:off x="4489704" y="1947671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ouverture automatique</a:t>
            </a:r>
            <a:endParaRPr lang="en-US" sz="1000"/>
          </a:p>
        </p:txBody>
      </p:sp>
      <p:sp>
        <p:nvSpPr>
          <p:cNvPr id="1928856266" name="Shape 19"/>
          <p:cNvSpPr/>
          <p:nvPr/>
        </p:nvSpPr>
        <p:spPr bwMode="auto">
          <a:xfrm>
            <a:off x="6720840" y="1874520"/>
            <a:ext cx="10972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898761" name="Text 20"/>
          <p:cNvSpPr/>
          <p:nvPr/>
        </p:nvSpPr>
        <p:spPr bwMode="auto">
          <a:xfrm>
            <a:off x="6775704" y="1947671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30–60 s</a:t>
            </a:r>
            <a:endParaRPr lang="en-US" sz="1000"/>
          </a:p>
        </p:txBody>
      </p:sp>
      <p:sp>
        <p:nvSpPr>
          <p:cNvPr id="2121605298" name="Shape 21"/>
          <p:cNvSpPr/>
          <p:nvPr/>
        </p:nvSpPr>
        <p:spPr bwMode="auto">
          <a:xfrm>
            <a:off x="7818120" y="1874520"/>
            <a:ext cx="38404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42534404" name="Text 22"/>
          <p:cNvSpPr/>
          <p:nvPr/>
        </p:nvSpPr>
        <p:spPr bwMode="auto">
          <a:xfrm>
            <a:off x="7872984" y="1947671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moins de recherche visuelle</a:t>
            </a:r>
            <a:endParaRPr lang="en-US" sz="1000"/>
          </a:p>
        </p:txBody>
      </p:sp>
      <p:sp>
        <p:nvSpPr>
          <p:cNvPr id="1456903706" name="Shape 23"/>
          <p:cNvSpPr/>
          <p:nvPr/>
        </p:nvSpPr>
        <p:spPr bwMode="auto">
          <a:xfrm>
            <a:off x="502920" y="2441448"/>
            <a:ext cx="20116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69847187" name="Text 24"/>
          <p:cNvSpPr/>
          <p:nvPr/>
        </p:nvSpPr>
        <p:spPr bwMode="auto">
          <a:xfrm>
            <a:off x="557784" y="25146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Sélectionner le mail</a:t>
            </a:r>
            <a:endParaRPr lang="en-US" sz="1000"/>
          </a:p>
        </p:txBody>
      </p:sp>
      <p:sp>
        <p:nvSpPr>
          <p:cNvPr id="779471921" name="Shape 25"/>
          <p:cNvSpPr/>
          <p:nvPr/>
        </p:nvSpPr>
        <p:spPr bwMode="auto">
          <a:xfrm>
            <a:off x="2514600" y="2441448"/>
            <a:ext cx="192024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431561533" name="Text 26"/>
          <p:cNvSpPr/>
          <p:nvPr/>
        </p:nvSpPr>
        <p:spPr bwMode="auto">
          <a:xfrm>
            <a:off x="2569464" y="2514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parcours et ciblage</a:t>
            </a:r>
            <a:endParaRPr lang="en-US" sz="1000"/>
          </a:p>
        </p:txBody>
      </p:sp>
      <p:sp>
        <p:nvSpPr>
          <p:cNvPr id="151463861" name="Shape 27"/>
          <p:cNvSpPr/>
          <p:nvPr/>
        </p:nvSpPr>
        <p:spPr bwMode="auto">
          <a:xfrm>
            <a:off x="4434840" y="2441448"/>
            <a:ext cx="228600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816497614" name="Text 28"/>
          <p:cNvSpPr/>
          <p:nvPr/>
        </p:nvSpPr>
        <p:spPr bwMode="auto">
          <a:xfrm>
            <a:off x="4489704" y="2514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sélection automatique</a:t>
            </a:r>
            <a:endParaRPr lang="en-US" sz="1000"/>
          </a:p>
        </p:txBody>
      </p:sp>
      <p:sp>
        <p:nvSpPr>
          <p:cNvPr id="2041294499" name="Shape 29"/>
          <p:cNvSpPr/>
          <p:nvPr/>
        </p:nvSpPr>
        <p:spPr bwMode="auto">
          <a:xfrm>
            <a:off x="6720840" y="2441448"/>
            <a:ext cx="10972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87322776" name="Text 30"/>
          <p:cNvSpPr/>
          <p:nvPr/>
        </p:nvSpPr>
        <p:spPr bwMode="auto">
          <a:xfrm>
            <a:off x="6775704" y="251460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15–45 s</a:t>
            </a:r>
            <a:endParaRPr lang="en-US" sz="1000"/>
          </a:p>
        </p:txBody>
      </p:sp>
      <p:sp>
        <p:nvSpPr>
          <p:cNvPr id="1636346068" name="Shape 31"/>
          <p:cNvSpPr/>
          <p:nvPr/>
        </p:nvSpPr>
        <p:spPr bwMode="auto">
          <a:xfrm>
            <a:off x="7818120" y="2441448"/>
            <a:ext cx="38404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842663362" name="Text 32"/>
          <p:cNvSpPr/>
          <p:nvPr/>
        </p:nvSpPr>
        <p:spPr bwMode="auto">
          <a:xfrm>
            <a:off x="7872984" y="2514600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moins de balayage cognitif</a:t>
            </a:r>
            <a:endParaRPr lang="en-US" sz="1000"/>
          </a:p>
        </p:txBody>
      </p:sp>
      <p:sp>
        <p:nvSpPr>
          <p:cNvPr id="585463686" name="Shape 33"/>
          <p:cNvSpPr/>
          <p:nvPr/>
        </p:nvSpPr>
        <p:spPr bwMode="auto">
          <a:xfrm>
            <a:off x="502920" y="3008376"/>
            <a:ext cx="20116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460770727" name="Text 34"/>
          <p:cNvSpPr/>
          <p:nvPr/>
        </p:nvSpPr>
        <p:spPr bwMode="auto">
          <a:xfrm>
            <a:off x="557784" y="308152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Ouvrir lien / PJ</a:t>
            </a:r>
            <a:endParaRPr lang="en-US" sz="1000"/>
          </a:p>
        </p:txBody>
      </p:sp>
      <p:sp>
        <p:nvSpPr>
          <p:cNvPr id="1663151082" name="Shape 35"/>
          <p:cNvSpPr/>
          <p:nvPr/>
        </p:nvSpPr>
        <p:spPr bwMode="auto">
          <a:xfrm>
            <a:off x="2514600" y="3008376"/>
            <a:ext cx="192024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516936241" name="Text 36"/>
          <p:cNvSpPr/>
          <p:nvPr/>
        </p:nvSpPr>
        <p:spPr bwMode="auto">
          <a:xfrm>
            <a:off x="2569464" y="308152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onglets + retour</a:t>
            </a:r>
            <a:endParaRPr lang="en-US" sz="1000"/>
          </a:p>
        </p:txBody>
      </p:sp>
      <p:sp>
        <p:nvSpPr>
          <p:cNvPr id="570057275" name="Shape 37"/>
          <p:cNvSpPr/>
          <p:nvPr/>
        </p:nvSpPr>
        <p:spPr bwMode="auto">
          <a:xfrm>
            <a:off x="4434840" y="3008376"/>
            <a:ext cx="228600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877262952" name="Text 38"/>
          <p:cNvSpPr/>
          <p:nvPr/>
        </p:nvSpPr>
        <p:spPr bwMode="auto">
          <a:xfrm>
            <a:off x="4489704" y="308152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ouverture et retour automatiques</a:t>
            </a:r>
            <a:endParaRPr lang="en-US" sz="1000"/>
          </a:p>
        </p:txBody>
      </p:sp>
      <p:sp>
        <p:nvSpPr>
          <p:cNvPr id="1050339449" name="Shape 39"/>
          <p:cNvSpPr/>
          <p:nvPr/>
        </p:nvSpPr>
        <p:spPr bwMode="auto">
          <a:xfrm>
            <a:off x="6720840" y="3008376"/>
            <a:ext cx="10972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872417945" name="Text 40"/>
          <p:cNvSpPr/>
          <p:nvPr/>
        </p:nvSpPr>
        <p:spPr bwMode="auto">
          <a:xfrm>
            <a:off x="6775704" y="3081528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20–120 s</a:t>
            </a:r>
            <a:endParaRPr lang="en-US" sz="1000"/>
          </a:p>
        </p:txBody>
      </p:sp>
      <p:sp>
        <p:nvSpPr>
          <p:cNvPr id="482811547" name="Shape 41"/>
          <p:cNvSpPr/>
          <p:nvPr/>
        </p:nvSpPr>
        <p:spPr bwMode="auto">
          <a:xfrm>
            <a:off x="7818120" y="3008376"/>
            <a:ext cx="38404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836845448" name="Text 42"/>
          <p:cNvSpPr/>
          <p:nvPr/>
        </p:nvSpPr>
        <p:spPr bwMode="auto">
          <a:xfrm>
            <a:off x="7872984" y="3081528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fort gain moteur</a:t>
            </a:r>
            <a:endParaRPr lang="en-US" sz="1000"/>
          </a:p>
        </p:txBody>
      </p:sp>
      <p:sp>
        <p:nvSpPr>
          <p:cNvPr id="932783213" name="Shape 43"/>
          <p:cNvSpPr/>
          <p:nvPr/>
        </p:nvSpPr>
        <p:spPr bwMode="auto">
          <a:xfrm>
            <a:off x="502920" y="3575303"/>
            <a:ext cx="20116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165365155" name="Text 44"/>
          <p:cNvSpPr/>
          <p:nvPr/>
        </p:nvSpPr>
        <p:spPr bwMode="auto">
          <a:xfrm>
            <a:off x="557784" y="364845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Remplir le brouillon</a:t>
            </a:r>
            <a:endParaRPr lang="en-US" sz="1000"/>
          </a:p>
        </p:txBody>
      </p:sp>
      <p:sp>
        <p:nvSpPr>
          <p:cNvPr id="5811500" name="Shape 45"/>
          <p:cNvSpPr/>
          <p:nvPr/>
        </p:nvSpPr>
        <p:spPr bwMode="auto">
          <a:xfrm>
            <a:off x="2514600" y="3575303"/>
            <a:ext cx="192024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746120576" name="Text 46"/>
          <p:cNvSpPr/>
          <p:nvPr/>
        </p:nvSpPr>
        <p:spPr bwMode="auto">
          <a:xfrm>
            <a:off x="2569464" y="3648456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copier / saisir</a:t>
            </a:r>
            <a:endParaRPr lang="en-US" sz="1000"/>
          </a:p>
        </p:txBody>
      </p:sp>
      <p:sp>
        <p:nvSpPr>
          <p:cNvPr id="89791345" name="Shape 47"/>
          <p:cNvSpPr/>
          <p:nvPr/>
        </p:nvSpPr>
        <p:spPr bwMode="auto">
          <a:xfrm>
            <a:off x="4434840" y="3575303"/>
            <a:ext cx="228600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15946550" name="Text 48"/>
          <p:cNvSpPr/>
          <p:nvPr/>
        </p:nvSpPr>
        <p:spPr bwMode="auto">
          <a:xfrm>
            <a:off x="4489704" y="3648456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insertion automatique</a:t>
            </a:r>
            <a:endParaRPr lang="en-US" sz="1000"/>
          </a:p>
        </p:txBody>
      </p:sp>
      <p:sp>
        <p:nvSpPr>
          <p:cNvPr id="97504914" name="Shape 49"/>
          <p:cNvSpPr/>
          <p:nvPr/>
        </p:nvSpPr>
        <p:spPr bwMode="auto">
          <a:xfrm>
            <a:off x="6720840" y="3575303"/>
            <a:ext cx="10972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610298136" name="Text 50"/>
          <p:cNvSpPr/>
          <p:nvPr/>
        </p:nvSpPr>
        <p:spPr bwMode="auto">
          <a:xfrm>
            <a:off x="6775704" y="3648456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20–60 s</a:t>
            </a:r>
            <a:endParaRPr lang="en-US" sz="1000"/>
          </a:p>
        </p:txBody>
      </p:sp>
      <p:sp>
        <p:nvSpPr>
          <p:cNvPr id="1368610064" name="Shape 51"/>
          <p:cNvSpPr/>
          <p:nvPr/>
        </p:nvSpPr>
        <p:spPr bwMode="auto">
          <a:xfrm>
            <a:off x="7818120" y="3575303"/>
            <a:ext cx="38404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219510739" name="Text 52"/>
          <p:cNvSpPr/>
          <p:nvPr/>
        </p:nvSpPr>
        <p:spPr bwMode="auto">
          <a:xfrm>
            <a:off x="7872984" y="3648456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très utile avec clavier virtuel</a:t>
            </a:r>
            <a:endParaRPr lang="en-US" sz="1000"/>
          </a:p>
        </p:txBody>
      </p:sp>
      <p:sp>
        <p:nvSpPr>
          <p:cNvPr id="1313111568" name="Shape 53"/>
          <p:cNvSpPr/>
          <p:nvPr/>
        </p:nvSpPr>
        <p:spPr bwMode="auto">
          <a:xfrm>
            <a:off x="502920" y="4142232"/>
            <a:ext cx="20116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39306648" name="Text 54"/>
          <p:cNvSpPr/>
          <p:nvPr/>
        </p:nvSpPr>
        <p:spPr bwMode="auto">
          <a:xfrm>
            <a:off x="557784" y="421538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Joindre document</a:t>
            </a:r>
            <a:endParaRPr lang="en-US" sz="1000"/>
          </a:p>
        </p:txBody>
      </p:sp>
      <p:sp>
        <p:nvSpPr>
          <p:cNvPr id="791234127" name="Shape 55"/>
          <p:cNvSpPr/>
          <p:nvPr/>
        </p:nvSpPr>
        <p:spPr bwMode="auto">
          <a:xfrm>
            <a:off x="2514600" y="4142232"/>
            <a:ext cx="192024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319147177" name="Text 56"/>
          <p:cNvSpPr/>
          <p:nvPr/>
        </p:nvSpPr>
        <p:spPr bwMode="auto">
          <a:xfrm>
            <a:off x="2569464" y="421538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explorateur + sélection</a:t>
            </a:r>
            <a:endParaRPr lang="en-US" sz="1000"/>
          </a:p>
        </p:txBody>
      </p:sp>
      <p:sp>
        <p:nvSpPr>
          <p:cNvPr id="209331636" name="Shape 57"/>
          <p:cNvSpPr/>
          <p:nvPr/>
        </p:nvSpPr>
        <p:spPr bwMode="auto">
          <a:xfrm>
            <a:off x="4434840" y="4142232"/>
            <a:ext cx="228600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849850001" name="Text 58"/>
          <p:cNvSpPr/>
          <p:nvPr/>
        </p:nvSpPr>
        <p:spPr bwMode="auto">
          <a:xfrm>
            <a:off x="4489704" y="421538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ajout automatique</a:t>
            </a:r>
            <a:endParaRPr lang="en-US" sz="1000"/>
          </a:p>
        </p:txBody>
      </p:sp>
      <p:sp>
        <p:nvSpPr>
          <p:cNvPr id="1364521875" name="Shape 59"/>
          <p:cNvSpPr/>
          <p:nvPr/>
        </p:nvSpPr>
        <p:spPr bwMode="auto">
          <a:xfrm>
            <a:off x="6720840" y="4142232"/>
            <a:ext cx="10972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623240290" name="Text 60"/>
          <p:cNvSpPr/>
          <p:nvPr/>
        </p:nvSpPr>
        <p:spPr bwMode="auto">
          <a:xfrm>
            <a:off x="6775704" y="4215384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30–120 s</a:t>
            </a:r>
            <a:endParaRPr lang="en-US" sz="1000"/>
          </a:p>
        </p:txBody>
      </p:sp>
      <p:sp>
        <p:nvSpPr>
          <p:cNvPr id="1482908142" name="Shape 61"/>
          <p:cNvSpPr/>
          <p:nvPr/>
        </p:nvSpPr>
        <p:spPr bwMode="auto">
          <a:xfrm>
            <a:off x="7818120" y="4142232"/>
            <a:ext cx="38404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271650796" name="Text 62"/>
          <p:cNvSpPr/>
          <p:nvPr/>
        </p:nvSpPr>
        <p:spPr bwMode="auto">
          <a:xfrm>
            <a:off x="7872984" y="4215384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fort gain moteur et cognitif</a:t>
            </a:r>
            <a:endParaRPr lang="en-US" sz="1000"/>
          </a:p>
        </p:txBody>
      </p:sp>
      <p:sp>
        <p:nvSpPr>
          <p:cNvPr id="1224235629" name="Shape 63"/>
          <p:cNvSpPr/>
          <p:nvPr/>
        </p:nvSpPr>
        <p:spPr bwMode="auto">
          <a:xfrm>
            <a:off x="502920" y="4709160"/>
            <a:ext cx="20116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368958409" name="Text 64"/>
          <p:cNvSpPr/>
          <p:nvPr/>
        </p:nvSpPr>
        <p:spPr bwMode="auto">
          <a:xfrm>
            <a:off x="557784" y="47823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Revenir au suivant</a:t>
            </a:r>
            <a:endParaRPr lang="en-US" sz="1000"/>
          </a:p>
        </p:txBody>
      </p:sp>
      <p:sp>
        <p:nvSpPr>
          <p:cNvPr id="610067248" name="Shape 65"/>
          <p:cNvSpPr/>
          <p:nvPr/>
        </p:nvSpPr>
        <p:spPr bwMode="auto">
          <a:xfrm>
            <a:off x="2514600" y="4709160"/>
            <a:ext cx="192024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66989137" name="Text 66"/>
          <p:cNvSpPr/>
          <p:nvPr/>
        </p:nvSpPr>
        <p:spPr bwMode="auto">
          <a:xfrm>
            <a:off x="2569464" y="47823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fermer / revenir / retrouver</a:t>
            </a:r>
            <a:endParaRPr lang="en-US" sz="1000"/>
          </a:p>
        </p:txBody>
      </p:sp>
      <p:sp>
        <p:nvSpPr>
          <p:cNvPr id="755839248" name="Shape 67"/>
          <p:cNvSpPr/>
          <p:nvPr/>
        </p:nvSpPr>
        <p:spPr bwMode="auto">
          <a:xfrm>
            <a:off x="4434840" y="4709160"/>
            <a:ext cx="228600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91097651" name="Text 68"/>
          <p:cNvSpPr/>
          <p:nvPr/>
        </p:nvSpPr>
        <p:spPr bwMode="auto">
          <a:xfrm>
            <a:off x="4489704" y="47823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enchaînement automatique</a:t>
            </a:r>
            <a:endParaRPr lang="en-US" sz="1000"/>
          </a:p>
        </p:txBody>
      </p:sp>
      <p:sp>
        <p:nvSpPr>
          <p:cNvPr id="1914297141" name="Shape 69"/>
          <p:cNvSpPr/>
          <p:nvPr/>
        </p:nvSpPr>
        <p:spPr bwMode="auto">
          <a:xfrm>
            <a:off x="6720840" y="4709160"/>
            <a:ext cx="10972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009534535" name="Text 70"/>
          <p:cNvSpPr/>
          <p:nvPr/>
        </p:nvSpPr>
        <p:spPr bwMode="auto">
          <a:xfrm>
            <a:off x="6775704" y="4782312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15–45 s</a:t>
            </a:r>
            <a:endParaRPr lang="en-US" sz="1000"/>
          </a:p>
        </p:txBody>
      </p:sp>
      <p:sp>
        <p:nvSpPr>
          <p:cNvPr id="897983425" name="Shape 71"/>
          <p:cNvSpPr/>
          <p:nvPr/>
        </p:nvSpPr>
        <p:spPr bwMode="auto">
          <a:xfrm>
            <a:off x="7818120" y="4709160"/>
            <a:ext cx="38404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018266108" name="Text 72"/>
          <p:cNvSpPr/>
          <p:nvPr/>
        </p:nvSpPr>
        <p:spPr bwMode="auto">
          <a:xfrm>
            <a:off x="7872984" y="4782312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moins de fatigue sérielle</a:t>
            </a:r>
            <a:endParaRPr lang="en-US" sz="1000"/>
          </a:p>
        </p:txBody>
      </p:sp>
      <p:sp>
        <p:nvSpPr>
          <p:cNvPr id="65286624" name="Shape 73"/>
          <p:cNvSpPr/>
          <p:nvPr/>
        </p:nvSpPr>
        <p:spPr bwMode="auto">
          <a:xfrm>
            <a:off x="731520" y="53492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305404922" name="Text 74"/>
          <p:cNvSpPr/>
          <p:nvPr/>
        </p:nvSpPr>
        <p:spPr bwMode="auto">
          <a:xfrm>
            <a:off x="868680" y="5477255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-58 %</a:t>
            </a:r>
            <a:endParaRPr lang="en-US" sz="2200"/>
          </a:p>
        </p:txBody>
      </p:sp>
      <p:sp>
        <p:nvSpPr>
          <p:cNvPr id="1842223113" name="Text 75"/>
          <p:cNvSpPr/>
          <p:nvPr/>
        </p:nvSpPr>
        <p:spPr bwMode="auto">
          <a:xfrm>
            <a:off x="868680" y="5824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temps global estimé</a:t>
            </a:r>
            <a:endParaRPr lang="en-US" sz="1050"/>
          </a:p>
        </p:txBody>
      </p:sp>
      <p:sp>
        <p:nvSpPr>
          <p:cNvPr id="1446792720" name="Shape 76"/>
          <p:cNvSpPr/>
          <p:nvPr/>
        </p:nvSpPr>
        <p:spPr bwMode="auto">
          <a:xfrm>
            <a:off x="2834640" y="53492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1510600859" name="Text 77"/>
          <p:cNvSpPr/>
          <p:nvPr/>
        </p:nvSpPr>
        <p:spPr bwMode="auto">
          <a:xfrm>
            <a:off x="2971800" y="5477255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60–80 %</a:t>
            </a:r>
            <a:endParaRPr lang="en-US" sz="2200"/>
          </a:p>
        </p:txBody>
      </p:sp>
      <p:sp>
        <p:nvSpPr>
          <p:cNvPr id="1218559495" name="Text 78"/>
          <p:cNvSpPr/>
          <p:nvPr/>
        </p:nvSpPr>
        <p:spPr bwMode="auto">
          <a:xfrm>
            <a:off x="2971800" y="5824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actions évitées</a:t>
            </a:r>
            <a:endParaRPr lang="en-US" sz="1050"/>
          </a:p>
        </p:txBody>
      </p:sp>
      <p:sp>
        <p:nvSpPr>
          <p:cNvPr id="922042271" name="Shape 79"/>
          <p:cNvSpPr/>
          <p:nvPr/>
        </p:nvSpPr>
        <p:spPr bwMode="auto">
          <a:xfrm>
            <a:off x="4937760" y="53492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412144" name="Text 80"/>
          <p:cNvSpPr/>
          <p:nvPr/>
        </p:nvSpPr>
        <p:spPr bwMode="auto">
          <a:xfrm>
            <a:off x="5074920" y="5477255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20 mails</a:t>
            </a:r>
            <a:endParaRPr lang="en-US" sz="2200"/>
          </a:p>
        </p:txBody>
      </p:sp>
      <p:sp>
        <p:nvSpPr>
          <p:cNvPr id="971280965" name="Text 81"/>
          <p:cNvSpPr/>
          <p:nvPr/>
        </p:nvSpPr>
        <p:spPr bwMode="auto">
          <a:xfrm>
            <a:off x="5074920" y="5824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base de simulation / jour</a:t>
            </a:r>
            <a:endParaRPr lang="en-US" sz="1050"/>
          </a:p>
        </p:txBody>
      </p:sp>
      <p:sp>
        <p:nvSpPr>
          <p:cNvPr id="1350552126" name="Text 82"/>
          <p:cNvSpPr/>
          <p:nvPr/>
        </p:nvSpPr>
        <p:spPr bwMode="auto">
          <a:xfrm>
            <a:off x="7132320" y="54864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4DEFF"/>
                </a:solidFill>
              </a:rPr>
              <a:t>Lecture : la valeur créée est surtout une réduction de gestes techniques et d’allers-retours d’interface, pas un remplacement du jugement utilisateur.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033245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343892071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Classification et scroll</a:t>
            </a:r>
            <a:endParaRPr lang="en-US" sz="2800"/>
          </a:p>
        </p:txBody>
      </p:sp>
      <p:sp>
        <p:nvSpPr>
          <p:cNvPr id="2083319596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Deux leviers qui améliorent fortement l’expérience utilisateur</a:t>
            </a:r>
            <a:endParaRPr lang="en-US" sz="1100"/>
          </a:p>
        </p:txBody>
      </p:sp>
      <p:sp>
        <p:nvSpPr>
          <p:cNvPr id="1469447783" name="Shape 3"/>
          <p:cNvSpPr/>
          <p:nvPr/>
        </p:nvSpPr>
        <p:spPr bwMode="auto">
          <a:xfrm>
            <a:off x="640080" y="13258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80351843" name="Shape 4"/>
          <p:cNvSpPr/>
          <p:nvPr/>
        </p:nvSpPr>
        <p:spPr bwMode="auto">
          <a:xfrm>
            <a:off x="640080" y="1325880"/>
            <a:ext cx="54864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74721779" name="Text 5"/>
          <p:cNvSpPr/>
          <p:nvPr/>
        </p:nvSpPr>
        <p:spPr bwMode="auto">
          <a:xfrm>
            <a:off x="804672" y="14356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Classification des mails</a:t>
            </a:r>
            <a:endParaRPr lang="en-US" sz="1400"/>
          </a:p>
        </p:txBody>
      </p:sp>
      <p:sp>
        <p:nvSpPr>
          <p:cNvPr id="1132759468" name="Text 6"/>
          <p:cNvSpPr/>
          <p:nvPr/>
        </p:nvSpPr>
        <p:spPr bwMode="auto">
          <a:xfrm>
            <a:off x="804672" y="1709928"/>
            <a:ext cx="513892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Avant ouverture, le système peut classer les messages : Urgent, Normal, Suspect, À vérifier, Administratif, Avec pièce jointe importante, Réponse simple possible. Ce tri réduit le coût cognitif de la boîte de réception et améliore la priorisation.</a:t>
            </a:r>
            <a:endParaRPr lang="en-US" sz="1100"/>
          </a:p>
        </p:txBody>
      </p:sp>
      <p:sp>
        <p:nvSpPr>
          <p:cNvPr id="1361216087" name="Shape 7"/>
          <p:cNvSpPr/>
          <p:nvPr/>
        </p:nvSpPr>
        <p:spPr bwMode="auto">
          <a:xfrm>
            <a:off x="6172200" y="13258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3826046" name="Shape 8"/>
          <p:cNvSpPr/>
          <p:nvPr/>
        </p:nvSpPr>
        <p:spPr bwMode="auto">
          <a:xfrm>
            <a:off x="6172200" y="1325880"/>
            <a:ext cx="54864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00419429" name="Text 9"/>
          <p:cNvSpPr/>
          <p:nvPr/>
        </p:nvSpPr>
        <p:spPr bwMode="auto">
          <a:xfrm>
            <a:off x="6336792" y="1435608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Scroll paramétrable</a:t>
            </a:r>
            <a:endParaRPr lang="en-US" sz="1400"/>
          </a:p>
        </p:txBody>
      </p:sp>
      <p:sp>
        <p:nvSpPr>
          <p:cNvPr id="787902867" name="Text 10"/>
          <p:cNvSpPr/>
          <p:nvPr/>
        </p:nvSpPr>
        <p:spPr bwMode="auto">
          <a:xfrm>
            <a:off x="6336792" y="1709928"/>
            <a:ext cx="509320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Le scroll n’est pas laissé au hasard. Dans les paramètres de l’application, l’utilisateur règle la quantité de contenu (1 écran, 3 paragraphes, 10 lignes) et la vitesse (Lent, Normal, Rapide).</a:t>
            </a:r>
            <a:endParaRPr lang="en-US" sz="1100"/>
          </a:p>
        </p:txBody>
      </p:sp>
      <p:sp>
        <p:nvSpPr>
          <p:cNvPr id="1792410995" name="Shape 11"/>
          <p:cNvSpPr/>
          <p:nvPr/>
        </p:nvSpPr>
        <p:spPr bwMode="auto">
          <a:xfrm>
            <a:off x="822960" y="365760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111938"/>
          </a:solidFill>
          <a:ln w="12700">
            <a:solidFill>
              <a:srgbClr val="7D8DCA">
                <a:alpha val="35000"/>
              </a:srgbClr>
            </a:solidFill>
            <a:prstDash val="solid"/>
          </a:ln>
        </p:spPr>
      </p:sp>
      <p:sp>
        <p:nvSpPr>
          <p:cNvPr id="170381981" name="Text 12"/>
          <p:cNvSpPr/>
          <p:nvPr/>
        </p:nvSpPr>
        <p:spPr bwMode="auto">
          <a:xfrm>
            <a:off x="1005840" y="38221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Bon réglage recommandé pour V1</a:t>
            </a:r>
            <a:endParaRPr lang="en-US" sz="1300"/>
          </a:p>
        </p:txBody>
      </p:sp>
      <p:sp>
        <p:nvSpPr>
          <p:cNvPr id="1910191285" name="Text 13"/>
          <p:cNvSpPr/>
          <p:nvPr/>
        </p:nvSpPr>
        <p:spPr bwMode="auto">
          <a:xfrm>
            <a:off x="1051560" y="4160519"/>
            <a:ext cx="1371600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 activé</a:t>
            </a:r>
            <a:endParaRPr lang="en-US" sz="1000"/>
          </a:p>
        </p:txBody>
      </p:sp>
      <p:sp>
        <p:nvSpPr>
          <p:cNvPr id="1409202861" name="Text 14"/>
          <p:cNvSpPr/>
          <p:nvPr/>
        </p:nvSpPr>
        <p:spPr bwMode="auto">
          <a:xfrm>
            <a:off x="2651760" y="4160519"/>
            <a:ext cx="1828800" cy="256032"/>
          </a:xfrm>
          <a:prstGeom prst="rect">
            <a:avLst/>
          </a:prstGeom>
          <a:solidFill>
            <a:srgbClr val="6366F1"/>
          </a:solidFill>
          <a:ln>
            <a:solidFill>
              <a:srgbClr val="6366F1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Scroll = 3 paragraphes</a:t>
            </a:r>
            <a:endParaRPr lang="en-US" sz="1000"/>
          </a:p>
        </p:txBody>
      </p:sp>
      <p:sp>
        <p:nvSpPr>
          <p:cNvPr id="1103856432" name="Text 15"/>
          <p:cNvSpPr/>
          <p:nvPr/>
        </p:nvSpPr>
        <p:spPr bwMode="auto">
          <a:xfrm>
            <a:off x="4709160" y="4160519"/>
            <a:ext cx="1234440" cy="256032"/>
          </a:xfrm>
          <a:prstGeom prst="rect">
            <a:avLst/>
          </a:prstGeom>
          <a:solidFill>
            <a:srgbClr val="8B5CF6"/>
          </a:solidFill>
          <a:ln>
            <a:solidFill>
              <a:srgbClr val="8B5CF6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Vitesse = normal</a:t>
            </a:r>
            <a:endParaRPr lang="en-US" sz="1000"/>
          </a:p>
        </p:txBody>
      </p:sp>
      <p:sp>
        <p:nvSpPr>
          <p:cNvPr id="773193015" name="Text 16"/>
          <p:cNvSpPr/>
          <p:nvPr/>
        </p:nvSpPr>
        <p:spPr bwMode="auto">
          <a:xfrm>
            <a:off x="6172200" y="4160519"/>
            <a:ext cx="182880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 = mixte</a:t>
            </a:r>
            <a:endParaRPr lang="en-US" sz="1000"/>
          </a:p>
        </p:txBody>
      </p:sp>
      <p:sp>
        <p:nvSpPr>
          <p:cNvPr id="743552659" name="Text 17"/>
          <p:cNvSpPr/>
          <p:nvPr/>
        </p:nvSpPr>
        <p:spPr bwMode="auto">
          <a:xfrm>
            <a:off x="8229600" y="4160519"/>
            <a:ext cx="2468880" cy="256032"/>
          </a:xfrm>
          <a:prstGeom prst="rect">
            <a:avLst/>
          </a:prstGeom>
          <a:solidFill>
            <a:srgbClr val="0EA5E9"/>
          </a:solidFill>
          <a:ln>
            <a:solidFill>
              <a:srgbClr val="0EA5E9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Boutons Monter / Descendre</a:t>
            </a:r>
            <a:endParaRPr lang="en-US" sz="1000"/>
          </a:p>
        </p:txBody>
      </p:sp>
      <p:sp>
        <p:nvSpPr>
          <p:cNvPr id="1151456412" name="Text 18"/>
          <p:cNvSpPr/>
          <p:nvPr/>
        </p:nvSpPr>
        <p:spPr bwMode="auto">
          <a:xfrm>
            <a:off x="1024128" y="45262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D7E0FF"/>
                </a:solidFill>
              </a:rPr>
              <a:t>Pourquoi c’est important : le tri réduit le coût de choix ; le scroll paramétrable réduit la fatigue visuelle et l’instabilité pour les utilisateurs en eye tracking ou clavier virtuel.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862867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538405412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Paramètres produit</a:t>
            </a:r>
            <a:endParaRPr lang="en-US" sz="2800"/>
          </a:p>
        </p:txBody>
      </p:sp>
      <p:sp>
        <p:nvSpPr>
          <p:cNvPr id="1982398677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Les réglages clés à exposer dans l’application</a:t>
            </a:r>
            <a:endParaRPr lang="en-US" sz="1100"/>
          </a:p>
        </p:txBody>
      </p:sp>
      <p:sp>
        <p:nvSpPr>
          <p:cNvPr id="474498140" name="Shape 3"/>
          <p:cNvSpPr/>
          <p:nvPr/>
        </p:nvSpPr>
        <p:spPr bwMode="auto">
          <a:xfrm>
            <a:off x="777240" y="1417320"/>
            <a:ext cx="2377440" cy="411480"/>
          </a:xfrm>
          <a:prstGeom prst="rect">
            <a:avLst/>
          </a:prstGeom>
          <a:solidFill>
            <a:srgbClr val="DDE6FF"/>
          </a:solidFill>
          <a:ln w="12700">
            <a:solidFill>
              <a:srgbClr val="9BAAE0"/>
            </a:solidFill>
            <a:prstDash val="solid"/>
          </a:ln>
        </p:spPr>
      </p:sp>
      <p:sp>
        <p:nvSpPr>
          <p:cNvPr id="1038204615" name="Text 4"/>
          <p:cNvSpPr/>
          <p:nvPr/>
        </p:nvSpPr>
        <p:spPr bwMode="auto">
          <a:xfrm>
            <a:off x="832104" y="1490472"/>
            <a:ext cx="2267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Paramètre</a:t>
            </a:r>
            <a:endParaRPr lang="en-US" sz="1050"/>
          </a:p>
        </p:txBody>
      </p:sp>
      <p:sp>
        <p:nvSpPr>
          <p:cNvPr id="1840848431" name="Shape 5"/>
          <p:cNvSpPr/>
          <p:nvPr/>
        </p:nvSpPr>
        <p:spPr bwMode="auto">
          <a:xfrm>
            <a:off x="3154680" y="1417320"/>
            <a:ext cx="4754880" cy="411480"/>
          </a:xfrm>
          <a:prstGeom prst="rect">
            <a:avLst/>
          </a:prstGeom>
          <a:solidFill>
            <a:srgbClr val="DDE6FF"/>
          </a:solidFill>
          <a:ln w="12700">
            <a:solidFill>
              <a:srgbClr val="9BAAE0"/>
            </a:solidFill>
            <a:prstDash val="solid"/>
          </a:ln>
        </p:spPr>
      </p:sp>
      <p:sp>
        <p:nvSpPr>
          <p:cNvPr id="990323082" name="Text 6"/>
          <p:cNvSpPr/>
          <p:nvPr/>
        </p:nvSpPr>
        <p:spPr bwMode="auto">
          <a:xfrm>
            <a:off x="3209544" y="1490472"/>
            <a:ext cx="4645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Valeurs</a:t>
            </a:r>
            <a:endParaRPr lang="en-US" sz="1050"/>
          </a:p>
        </p:txBody>
      </p:sp>
      <p:sp>
        <p:nvSpPr>
          <p:cNvPr id="1657485995" name="Shape 7"/>
          <p:cNvSpPr/>
          <p:nvPr/>
        </p:nvSpPr>
        <p:spPr bwMode="auto">
          <a:xfrm>
            <a:off x="7909560" y="1417320"/>
            <a:ext cx="2011680" cy="411480"/>
          </a:xfrm>
          <a:prstGeom prst="rect">
            <a:avLst/>
          </a:prstGeom>
          <a:solidFill>
            <a:srgbClr val="DDE6FF"/>
          </a:solidFill>
          <a:ln w="12700">
            <a:solidFill>
              <a:srgbClr val="9BAAE0"/>
            </a:solidFill>
            <a:prstDash val="solid"/>
          </a:ln>
        </p:spPr>
      </p:sp>
      <p:sp>
        <p:nvSpPr>
          <p:cNvPr id="208326806" name="Text 8"/>
          <p:cNvSpPr/>
          <p:nvPr/>
        </p:nvSpPr>
        <p:spPr bwMode="auto">
          <a:xfrm>
            <a:off x="7964424" y="149047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Défaut</a:t>
            </a:r>
            <a:endParaRPr lang="en-US" sz="1050"/>
          </a:p>
        </p:txBody>
      </p:sp>
      <p:sp>
        <p:nvSpPr>
          <p:cNvPr id="687537181" name="Shape 9"/>
          <p:cNvSpPr/>
          <p:nvPr/>
        </p:nvSpPr>
        <p:spPr bwMode="auto">
          <a:xfrm>
            <a:off x="777240" y="1828800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89824126" name="Text 10"/>
          <p:cNvSpPr/>
          <p:nvPr/>
        </p:nvSpPr>
        <p:spPr bwMode="auto">
          <a:xfrm>
            <a:off x="832104" y="189280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Niveau Browser Use</a:t>
            </a:r>
            <a:endParaRPr lang="en-US" sz="1000"/>
          </a:p>
        </p:txBody>
      </p:sp>
      <p:sp>
        <p:nvSpPr>
          <p:cNvPr id="925454610" name="Shape 11"/>
          <p:cNvSpPr/>
          <p:nvPr/>
        </p:nvSpPr>
        <p:spPr bwMode="auto">
          <a:xfrm>
            <a:off x="3154680" y="1828800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46249676" name="Text 12"/>
          <p:cNvSpPr/>
          <p:nvPr/>
        </p:nvSpPr>
        <p:spPr bwMode="auto">
          <a:xfrm>
            <a:off x="3209544" y="1892808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Désactivé / Limité / Étendu</a:t>
            </a:r>
            <a:endParaRPr lang="en-US" sz="1000"/>
          </a:p>
        </p:txBody>
      </p:sp>
      <p:sp>
        <p:nvSpPr>
          <p:cNvPr id="1042149882" name="Shape 13"/>
          <p:cNvSpPr/>
          <p:nvPr/>
        </p:nvSpPr>
        <p:spPr bwMode="auto">
          <a:xfrm>
            <a:off x="7909560" y="1828800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43335356" name="Text 14"/>
          <p:cNvSpPr/>
          <p:nvPr/>
        </p:nvSpPr>
        <p:spPr bwMode="auto">
          <a:xfrm>
            <a:off x="7964424" y="189280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Limité</a:t>
            </a:r>
            <a:endParaRPr lang="en-US" sz="1000"/>
          </a:p>
        </p:txBody>
      </p:sp>
      <p:sp>
        <p:nvSpPr>
          <p:cNvPr id="1484159107" name="Shape 15"/>
          <p:cNvSpPr/>
          <p:nvPr/>
        </p:nvSpPr>
        <p:spPr bwMode="auto">
          <a:xfrm>
            <a:off x="777240" y="2304288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893656467" name="Text 16"/>
          <p:cNvSpPr/>
          <p:nvPr/>
        </p:nvSpPr>
        <p:spPr bwMode="auto">
          <a:xfrm>
            <a:off x="832104" y="2368296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Moteur IA</a:t>
            </a:r>
            <a:endParaRPr lang="en-US" sz="1000"/>
          </a:p>
        </p:txBody>
      </p:sp>
      <p:sp>
        <p:nvSpPr>
          <p:cNvPr id="1796328936" name="Shape 17"/>
          <p:cNvSpPr/>
          <p:nvPr/>
        </p:nvSpPr>
        <p:spPr bwMode="auto">
          <a:xfrm>
            <a:off x="3154680" y="2304288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014846385" name="Text 18"/>
          <p:cNvSpPr/>
          <p:nvPr/>
        </p:nvSpPr>
        <p:spPr bwMode="auto">
          <a:xfrm>
            <a:off x="3209544" y="2368296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Local / Distant / Secours</a:t>
            </a:r>
            <a:endParaRPr lang="en-US" sz="1000"/>
          </a:p>
        </p:txBody>
      </p:sp>
      <p:sp>
        <p:nvSpPr>
          <p:cNvPr id="1040470452" name="Shape 19"/>
          <p:cNvSpPr/>
          <p:nvPr/>
        </p:nvSpPr>
        <p:spPr bwMode="auto">
          <a:xfrm>
            <a:off x="7909560" y="2304288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20867254" name="Text 20"/>
          <p:cNvSpPr/>
          <p:nvPr/>
        </p:nvSpPr>
        <p:spPr bwMode="auto">
          <a:xfrm>
            <a:off x="7964424" y="236829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Distant économique</a:t>
            </a:r>
            <a:endParaRPr lang="en-US" sz="1000"/>
          </a:p>
        </p:txBody>
      </p:sp>
      <p:sp>
        <p:nvSpPr>
          <p:cNvPr id="1968155378" name="Shape 21"/>
          <p:cNvSpPr/>
          <p:nvPr/>
        </p:nvSpPr>
        <p:spPr bwMode="auto">
          <a:xfrm>
            <a:off x="777240" y="2779776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99435981" name="Text 22"/>
          <p:cNvSpPr/>
          <p:nvPr/>
        </p:nvSpPr>
        <p:spPr bwMode="auto">
          <a:xfrm>
            <a:off x="832104" y="2843784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Classification mail</a:t>
            </a:r>
            <a:endParaRPr lang="en-US" sz="1000"/>
          </a:p>
        </p:txBody>
      </p:sp>
      <p:sp>
        <p:nvSpPr>
          <p:cNvPr id="1689238224" name="Shape 23"/>
          <p:cNvSpPr/>
          <p:nvPr/>
        </p:nvSpPr>
        <p:spPr bwMode="auto">
          <a:xfrm>
            <a:off x="3154680" y="2779776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433550275" name="Text 24"/>
          <p:cNvSpPr/>
          <p:nvPr/>
        </p:nvSpPr>
        <p:spPr bwMode="auto">
          <a:xfrm>
            <a:off x="3209544" y="284378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Oui / Non</a:t>
            </a:r>
            <a:endParaRPr lang="en-US" sz="1000"/>
          </a:p>
        </p:txBody>
      </p:sp>
      <p:sp>
        <p:nvSpPr>
          <p:cNvPr id="421588000" name="Shape 25"/>
          <p:cNvSpPr/>
          <p:nvPr/>
        </p:nvSpPr>
        <p:spPr bwMode="auto">
          <a:xfrm>
            <a:off x="7909560" y="2779776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44938532" name="Text 26"/>
          <p:cNvSpPr/>
          <p:nvPr/>
        </p:nvSpPr>
        <p:spPr bwMode="auto">
          <a:xfrm>
            <a:off x="7964424" y="284378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Oui</a:t>
            </a:r>
            <a:endParaRPr lang="en-US" sz="1000"/>
          </a:p>
        </p:txBody>
      </p:sp>
      <p:sp>
        <p:nvSpPr>
          <p:cNvPr id="1689772136" name="Shape 27"/>
          <p:cNvSpPr/>
          <p:nvPr/>
        </p:nvSpPr>
        <p:spPr bwMode="auto">
          <a:xfrm>
            <a:off x="777240" y="3255264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66325180" name="Text 28"/>
          <p:cNvSpPr/>
          <p:nvPr/>
        </p:nvSpPr>
        <p:spPr bwMode="auto">
          <a:xfrm>
            <a:off x="832104" y="3319272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Quantité de scroll</a:t>
            </a:r>
            <a:endParaRPr lang="en-US" sz="1000"/>
          </a:p>
        </p:txBody>
      </p:sp>
      <p:sp>
        <p:nvSpPr>
          <p:cNvPr id="1223670986" name="Shape 29"/>
          <p:cNvSpPr/>
          <p:nvPr/>
        </p:nvSpPr>
        <p:spPr bwMode="auto">
          <a:xfrm>
            <a:off x="3154680" y="3255264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262550008" name="Text 30"/>
          <p:cNvSpPr/>
          <p:nvPr/>
        </p:nvSpPr>
        <p:spPr bwMode="auto">
          <a:xfrm>
            <a:off x="3209544" y="331927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1 écran / 3 paragraphes / 10 lignes</a:t>
            </a:r>
            <a:endParaRPr lang="en-US" sz="1000"/>
          </a:p>
        </p:txBody>
      </p:sp>
      <p:sp>
        <p:nvSpPr>
          <p:cNvPr id="1326940934" name="Shape 31"/>
          <p:cNvSpPr/>
          <p:nvPr/>
        </p:nvSpPr>
        <p:spPr bwMode="auto">
          <a:xfrm>
            <a:off x="7909560" y="3255264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010937351" name="Text 32"/>
          <p:cNvSpPr/>
          <p:nvPr/>
        </p:nvSpPr>
        <p:spPr bwMode="auto">
          <a:xfrm>
            <a:off x="7964424" y="331927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3 paragraphes</a:t>
            </a:r>
            <a:endParaRPr lang="en-US" sz="1000"/>
          </a:p>
        </p:txBody>
      </p:sp>
      <p:sp>
        <p:nvSpPr>
          <p:cNvPr id="1635555989" name="Shape 33"/>
          <p:cNvSpPr/>
          <p:nvPr/>
        </p:nvSpPr>
        <p:spPr bwMode="auto">
          <a:xfrm>
            <a:off x="777240" y="3730752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464651327" name="Text 34"/>
          <p:cNvSpPr/>
          <p:nvPr/>
        </p:nvSpPr>
        <p:spPr bwMode="auto">
          <a:xfrm>
            <a:off x="832104" y="379476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Vitesse de scroll</a:t>
            </a:r>
            <a:endParaRPr lang="en-US" sz="1000"/>
          </a:p>
        </p:txBody>
      </p:sp>
      <p:sp>
        <p:nvSpPr>
          <p:cNvPr id="1837459374" name="Shape 35"/>
          <p:cNvSpPr/>
          <p:nvPr/>
        </p:nvSpPr>
        <p:spPr bwMode="auto">
          <a:xfrm>
            <a:off x="3154680" y="3730752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77376762" name="Text 36"/>
          <p:cNvSpPr/>
          <p:nvPr/>
        </p:nvSpPr>
        <p:spPr bwMode="auto">
          <a:xfrm>
            <a:off x="3209544" y="3794760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Lent / Normal / Rapide</a:t>
            </a:r>
            <a:endParaRPr lang="en-US" sz="1000"/>
          </a:p>
        </p:txBody>
      </p:sp>
      <p:sp>
        <p:nvSpPr>
          <p:cNvPr id="871599596" name="Shape 37"/>
          <p:cNvSpPr/>
          <p:nvPr/>
        </p:nvSpPr>
        <p:spPr bwMode="auto">
          <a:xfrm>
            <a:off x="7909560" y="3730752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041190703" name="Text 38"/>
          <p:cNvSpPr/>
          <p:nvPr/>
        </p:nvSpPr>
        <p:spPr bwMode="auto">
          <a:xfrm>
            <a:off x="7964424" y="37947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Normal</a:t>
            </a:r>
            <a:endParaRPr lang="en-US" sz="1000"/>
          </a:p>
        </p:txBody>
      </p:sp>
      <p:sp>
        <p:nvSpPr>
          <p:cNvPr id="1640794126" name="Shape 39"/>
          <p:cNvSpPr/>
          <p:nvPr/>
        </p:nvSpPr>
        <p:spPr bwMode="auto">
          <a:xfrm>
            <a:off x="777240" y="4206240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66299714" name="Text 40"/>
          <p:cNvSpPr/>
          <p:nvPr/>
        </p:nvSpPr>
        <p:spPr bwMode="auto">
          <a:xfrm>
            <a:off x="832104" y="427024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Mode envoi</a:t>
            </a:r>
            <a:endParaRPr lang="en-US" sz="1000"/>
          </a:p>
        </p:txBody>
      </p:sp>
      <p:sp>
        <p:nvSpPr>
          <p:cNvPr id="1262546638" name="Shape 41"/>
          <p:cNvSpPr/>
          <p:nvPr/>
        </p:nvSpPr>
        <p:spPr bwMode="auto">
          <a:xfrm>
            <a:off x="3154680" y="4206240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378595587" name="Text 42"/>
          <p:cNvSpPr/>
          <p:nvPr/>
        </p:nvSpPr>
        <p:spPr bwMode="auto">
          <a:xfrm>
            <a:off x="3209544" y="4270248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Simulation / Validation simple / Double validation</a:t>
            </a:r>
            <a:endParaRPr lang="en-US" sz="1000"/>
          </a:p>
        </p:txBody>
      </p:sp>
      <p:sp>
        <p:nvSpPr>
          <p:cNvPr id="1682901765" name="Shape 43"/>
          <p:cNvSpPr/>
          <p:nvPr/>
        </p:nvSpPr>
        <p:spPr bwMode="auto">
          <a:xfrm>
            <a:off x="7909560" y="4206240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308473573" name="Text 44"/>
          <p:cNvSpPr/>
          <p:nvPr/>
        </p:nvSpPr>
        <p:spPr bwMode="auto">
          <a:xfrm>
            <a:off x="7964424" y="427024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Simulation</a:t>
            </a:r>
            <a:endParaRPr lang="en-US" sz="1000"/>
          </a:p>
        </p:txBody>
      </p:sp>
      <p:sp>
        <p:nvSpPr>
          <p:cNvPr id="677285951" name="Shape 45"/>
          <p:cNvSpPr/>
          <p:nvPr/>
        </p:nvSpPr>
        <p:spPr bwMode="auto">
          <a:xfrm>
            <a:off x="777240" y="4681728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695170786" name="Text 46"/>
          <p:cNvSpPr/>
          <p:nvPr/>
        </p:nvSpPr>
        <p:spPr bwMode="auto">
          <a:xfrm>
            <a:off x="832104" y="4745736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Taille boutons</a:t>
            </a:r>
            <a:endParaRPr lang="en-US" sz="1000"/>
          </a:p>
        </p:txBody>
      </p:sp>
      <p:sp>
        <p:nvSpPr>
          <p:cNvPr id="39064477" name="Shape 47"/>
          <p:cNvSpPr/>
          <p:nvPr/>
        </p:nvSpPr>
        <p:spPr bwMode="auto">
          <a:xfrm>
            <a:off x="3154680" y="4681728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71265500" name="Text 48"/>
          <p:cNvSpPr/>
          <p:nvPr/>
        </p:nvSpPr>
        <p:spPr bwMode="auto">
          <a:xfrm>
            <a:off x="3209544" y="4745736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Compacte / Standard / Grande / Très grande</a:t>
            </a:r>
            <a:endParaRPr lang="en-US" sz="1000"/>
          </a:p>
        </p:txBody>
      </p:sp>
      <p:sp>
        <p:nvSpPr>
          <p:cNvPr id="666186318" name="Shape 49"/>
          <p:cNvSpPr/>
          <p:nvPr/>
        </p:nvSpPr>
        <p:spPr bwMode="auto">
          <a:xfrm>
            <a:off x="7909560" y="4681728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491920794" name="Text 50"/>
          <p:cNvSpPr/>
          <p:nvPr/>
        </p:nvSpPr>
        <p:spPr bwMode="auto">
          <a:xfrm>
            <a:off x="7964424" y="474573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Grande</a:t>
            </a:r>
            <a:endParaRPr lang="en-US" sz="1000"/>
          </a:p>
        </p:txBody>
      </p:sp>
      <p:sp>
        <p:nvSpPr>
          <p:cNvPr id="1749328606" name="Shape 51"/>
          <p:cNvSpPr/>
          <p:nvPr/>
        </p:nvSpPr>
        <p:spPr bwMode="auto">
          <a:xfrm>
            <a:off x="777240" y="5157216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628438655" name="Text 52"/>
          <p:cNvSpPr/>
          <p:nvPr/>
        </p:nvSpPr>
        <p:spPr bwMode="auto">
          <a:xfrm>
            <a:off x="832104" y="5221224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Police</a:t>
            </a:r>
            <a:endParaRPr lang="en-US" sz="1000"/>
          </a:p>
        </p:txBody>
      </p:sp>
      <p:sp>
        <p:nvSpPr>
          <p:cNvPr id="340211196" name="Shape 53"/>
          <p:cNvSpPr/>
          <p:nvPr/>
        </p:nvSpPr>
        <p:spPr bwMode="auto">
          <a:xfrm>
            <a:off x="3154680" y="5157216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143860745" name="Text 54"/>
          <p:cNvSpPr/>
          <p:nvPr/>
        </p:nvSpPr>
        <p:spPr bwMode="auto">
          <a:xfrm>
            <a:off x="3209544" y="522122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Inter / Atkinson / autre</a:t>
            </a:r>
            <a:endParaRPr lang="en-US" sz="1000"/>
          </a:p>
        </p:txBody>
      </p:sp>
      <p:sp>
        <p:nvSpPr>
          <p:cNvPr id="558297039" name="Shape 55"/>
          <p:cNvSpPr/>
          <p:nvPr/>
        </p:nvSpPr>
        <p:spPr bwMode="auto">
          <a:xfrm>
            <a:off x="7909560" y="5157216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26639409" name="Text 56"/>
          <p:cNvSpPr/>
          <p:nvPr/>
        </p:nvSpPr>
        <p:spPr bwMode="auto">
          <a:xfrm>
            <a:off x="7964424" y="522122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Inter</a:t>
            </a:r>
            <a:endParaRPr lang="en-US" sz="1000"/>
          </a:p>
        </p:txBody>
      </p:sp>
      <p:sp>
        <p:nvSpPr>
          <p:cNvPr id="758367534" name="Shape 57"/>
          <p:cNvSpPr/>
          <p:nvPr/>
        </p:nvSpPr>
        <p:spPr bwMode="auto">
          <a:xfrm>
            <a:off x="10012680" y="1417320"/>
            <a:ext cx="1508759" cy="3566160"/>
          </a:xfrm>
          <a:prstGeom prst="roundRect">
            <a:avLst>
              <a:gd name="adj" fmla="val 727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83210674" name="Shape 58"/>
          <p:cNvSpPr/>
          <p:nvPr/>
        </p:nvSpPr>
        <p:spPr bwMode="auto">
          <a:xfrm>
            <a:off x="10012680" y="1417320"/>
            <a:ext cx="54864" cy="3566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4282040" name="Text 59"/>
          <p:cNvSpPr/>
          <p:nvPr/>
        </p:nvSpPr>
        <p:spPr bwMode="auto">
          <a:xfrm>
            <a:off x="10177272" y="152704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Principe</a:t>
            </a:r>
            <a:endParaRPr lang="en-US" sz="1400"/>
          </a:p>
        </p:txBody>
      </p:sp>
      <p:sp>
        <p:nvSpPr>
          <p:cNvPr id="1480978963" name="Text 60"/>
          <p:cNvSpPr/>
          <p:nvPr/>
        </p:nvSpPr>
        <p:spPr bwMode="auto">
          <a:xfrm>
            <a:off x="10177272" y="1801367"/>
            <a:ext cx="1252728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Tout ce qui influence le confort, la vitesse ou le budget doit être pilotable : LLM, Browser Use, scroll, validation et densité visuelle.</a:t>
            </a:r>
            <a:endParaRPr sz="110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333805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676092598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Lecture technique et commerciale</a:t>
            </a:r>
            <a:endParaRPr lang="en-US" sz="2800"/>
          </a:p>
        </p:txBody>
      </p:sp>
      <p:sp>
        <p:nvSpPr>
          <p:cNvPr id="1826709387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Pourquoi le projet est maintenant suffisamment cadré pour une V1</a:t>
            </a:r>
            <a:endParaRPr lang="en-US" sz="1100"/>
          </a:p>
        </p:txBody>
      </p:sp>
      <p:sp>
        <p:nvSpPr>
          <p:cNvPr id="458715441" name="Shape 3"/>
          <p:cNvSpPr/>
          <p:nvPr/>
        </p:nvSpPr>
        <p:spPr bwMode="auto">
          <a:xfrm>
            <a:off x="640080" y="13258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97290962" name="Shape 4"/>
          <p:cNvSpPr/>
          <p:nvPr/>
        </p:nvSpPr>
        <p:spPr bwMode="auto">
          <a:xfrm>
            <a:off x="640080" y="1325880"/>
            <a:ext cx="54864" cy="1737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36538149" name="Text 5"/>
          <p:cNvSpPr/>
          <p:nvPr/>
        </p:nvSpPr>
        <p:spPr bwMode="auto">
          <a:xfrm>
            <a:off x="804672" y="14356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Technique</a:t>
            </a:r>
            <a:endParaRPr lang="en-US" sz="1400"/>
          </a:p>
        </p:txBody>
      </p:sp>
      <p:sp>
        <p:nvSpPr>
          <p:cNvPr id="1939158446" name="Text 6"/>
          <p:cNvSpPr/>
          <p:nvPr/>
        </p:nvSpPr>
        <p:spPr bwMode="auto">
          <a:xfrm>
            <a:off x="804672" y="1709928"/>
            <a:ext cx="3310127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Architecture modulaire, paramètres complets, workflow séquentiel, Browser Use débrayable, LLM sélectionnable local ou distant.</a:t>
            </a:r>
            <a:endParaRPr lang="en-US" sz="1100"/>
          </a:p>
        </p:txBody>
      </p:sp>
      <p:sp>
        <p:nvSpPr>
          <p:cNvPr id="1130247955" name="Shape 7"/>
          <p:cNvSpPr/>
          <p:nvPr/>
        </p:nvSpPr>
        <p:spPr bwMode="auto">
          <a:xfrm>
            <a:off x="4343400" y="13258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98977756" name="Shape 8"/>
          <p:cNvSpPr/>
          <p:nvPr/>
        </p:nvSpPr>
        <p:spPr bwMode="auto">
          <a:xfrm>
            <a:off x="4343400" y="1325880"/>
            <a:ext cx="54864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5613071" name="Text 9"/>
          <p:cNvSpPr/>
          <p:nvPr/>
        </p:nvSpPr>
        <p:spPr bwMode="auto">
          <a:xfrm>
            <a:off x="4507992" y="14356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Produit</a:t>
            </a:r>
            <a:endParaRPr lang="en-US" sz="1400"/>
          </a:p>
        </p:txBody>
      </p:sp>
      <p:sp>
        <p:nvSpPr>
          <p:cNvPr id="746817965" name="Text 10"/>
          <p:cNvSpPr/>
          <p:nvPr/>
        </p:nvSpPr>
        <p:spPr bwMode="auto">
          <a:xfrm>
            <a:off x="4507992" y="1709928"/>
            <a:ext cx="3310127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Valeur claire : autonomie accrue, fatigue réduite, validation finale conservée, expérience stable et </a:t>
            </a: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moderne.</a:t>
            </a:r>
            <a:endParaRPr lang="en-US" sz="1100"/>
          </a:p>
        </p:txBody>
      </p:sp>
      <p:sp>
        <p:nvSpPr>
          <p:cNvPr id="1874109728" name="Shape 11"/>
          <p:cNvSpPr/>
          <p:nvPr/>
        </p:nvSpPr>
        <p:spPr bwMode="auto">
          <a:xfrm>
            <a:off x="8046720" y="13258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01362736" name="Shape 12"/>
          <p:cNvSpPr/>
          <p:nvPr/>
        </p:nvSpPr>
        <p:spPr bwMode="auto">
          <a:xfrm>
            <a:off x="8046720" y="1325880"/>
            <a:ext cx="54864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56585928" name="Text 13"/>
          <p:cNvSpPr/>
          <p:nvPr/>
        </p:nvSpPr>
        <p:spPr bwMode="auto">
          <a:xfrm>
            <a:off x="8211312" y="14356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Commercial</a:t>
            </a:r>
            <a:endParaRPr lang="en-US" sz="1400"/>
          </a:p>
        </p:txBody>
      </p:sp>
      <p:sp>
        <p:nvSpPr>
          <p:cNvPr id="1573861150" name="Text 14"/>
          <p:cNvSpPr/>
          <p:nvPr/>
        </p:nvSpPr>
        <p:spPr bwMode="auto">
          <a:xfrm>
            <a:off x="8211312" y="1709928"/>
            <a:ext cx="321868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Packaging simple : Essentiel, Assisté, Avancé. Déploiement possible auprès d’associations, structures médico-sociales et aidants.</a:t>
            </a:r>
            <a:endParaRPr lang="en-US" sz="1100"/>
          </a:p>
        </p:txBody>
      </p:sp>
      <p:sp>
        <p:nvSpPr>
          <p:cNvPr id="1400337552" name="Shape 15"/>
          <p:cNvSpPr/>
          <p:nvPr/>
        </p:nvSpPr>
        <p:spPr bwMode="auto">
          <a:xfrm>
            <a:off x="914400" y="3703320"/>
            <a:ext cx="10241280" cy="1417320"/>
          </a:xfrm>
          <a:prstGeom prst="roundRect">
            <a:avLst>
              <a:gd name="adj" fmla="val 5161"/>
            </a:avLst>
          </a:prstGeom>
          <a:solidFill>
            <a:srgbClr val="111938"/>
          </a:solidFill>
          <a:ln w="12700">
            <a:solidFill>
              <a:srgbClr val="7C8ACB">
                <a:alpha val="35000"/>
              </a:srgbClr>
            </a:solidFill>
            <a:prstDash val="solid"/>
          </a:ln>
        </p:spPr>
      </p:sp>
      <p:sp>
        <p:nvSpPr>
          <p:cNvPr id="1410940529" name="Text 16"/>
          <p:cNvSpPr/>
          <p:nvPr/>
        </p:nvSpPr>
        <p:spPr bwMode="auto">
          <a:xfrm>
            <a:off x="1188720" y="4069080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Décision recommandée : lancer une V1 avec Browser Use limité, simulation d’envoi, classification des mails, scroll paramétrable et moteur IA distant économique par défaut.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884704" name="Shape 0"/>
          <p:cNvSpPr/>
          <p:nvPr/>
        </p:nvSpPr>
        <p:spPr bwMode="auto">
          <a:xfrm>
            <a:off x="9144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827340525" name="Text 1"/>
          <p:cNvSpPr/>
          <p:nvPr/>
        </p:nvSpPr>
        <p:spPr bwMode="auto">
          <a:xfrm>
            <a:off x="512064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Roadmap recommandée</a:t>
            </a:r>
            <a:endParaRPr lang="en-US" sz="2800"/>
          </a:p>
        </p:txBody>
      </p:sp>
      <p:sp>
        <p:nvSpPr>
          <p:cNvPr id="1903201188" name="Text 2"/>
          <p:cNvSpPr/>
          <p:nvPr/>
        </p:nvSpPr>
        <p:spPr bwMode="auto">
          <a:xfrm>
            <a:off x="539496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Construire vite, sécuriser tôt, enrichir ensuite</a:t>
            </a:r>
            <a:endParaRPr lang="en-US" sz="1100"/>
          </a:p>
        </p:txBody>
      </p:sp>
      <p:sp>
        <p:nvSpPr>
          <p:cNvPr id="1444941935" name="Shape 3"/>
          <p:cNvSpPr/>
          <p:nvPr/>
        </p:nvSpPr>
        <p:spPr bwMode="auto">
          <a:xfrm>
            <a:off x="832104" y="18288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42511369" name="Shape 4"/>
          <p:cNvSpPr/>
          <p:nvPr/>
        </p:nvSpPr>
        <p:spPr bwMode="auto">
          <a:xfrm>
            <a:off x="923544" y="1828800"/>
            <a:ext cx="54864" cy="2011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7963856" name="Text 5"/>
          <p:cNvSpPr/>
          <p:nvPr/>
        </p:nvSpPr>
        <p:spPr bwMode="auto">
          <a:xfrm>
            <a:off x="1088136" y="19385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V1</a:t>
            </a:r>
            <a:endParaRPr lang="en-US" sz="1400"/>
          </a:p>
        </p:txBody>
      </p:sp>
      <p:sp>
        <p:nvSpPr>
          <p:cNvPr id="1708340814" name="Text 6"/>
          <p:cNvSpPr/>
          <p:nvPr/>
        </p:nvSpPr>
        <p:spPr bwMode="auto">
          <a:xfrm>
            <a:off x="1088136" y="2212848"/>
            <a:ext cx="29900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S</a:t>
            </a: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imulation d’envoi, Browser Use limité, classement, scroll paramétrable, journal.</a:t>
            </a:r>
            <a:endParaRPr lang="en-US" sz="1100"/>
          </a:p>
        </p:txBody>
      </p:sp>
      <p:sp>
        <p:nvSpPr>
          <p:cNvPr id="286200002" name="Shape 7"/>
          <p:cNvSpPr/>
          <p:nvPr/>
        </p:nvSpPr>
        <p:spPr bwMode="auto">
          <a:xfrm>
            <a:off x="4626864" y="18288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62502217" name="Shape 8"/>
          <p:cNvSpPr/>
          <p:nvPr/>
        </p:nvSpPr>
        <p:spPr bwMode="auto">
          <a:xfrm>
            <a:off x="4626864" y="1828800"/>
            <a:ext cx="54864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70161492" name="Text 9"/>
          <p:cNvSpPr/>
          <p:nvPr/>
        </p:nvSpPr>
        <p:spPr bwMode="auto">
          <a:xfrm>
            <a:off x="4791456" y="19385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V1.5</a:t>
            </a:r>
            <a:endParaRPr lang="en-US" sz="1400"/>
          </a:p>
        </p:txBody>
      </p:sp>
      <p:sp>
        <p:nvSpPr>
          <p:cNvPr id="1431066883" name="Text 10"/>
          <p:cNvSpPr/>
          <p:nvPr/>
        </p:nvSpPr>
        <p:spPr bwMode="auto">
          <a:xfrm>
            <a:off x="4791456" y="2212848"/>
            <a:ext cx="29900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Pièces jointes output automatiques, profils utilisateurs, métriques de confiance.</a:t>
            </a:r>
            <a:endParaRPr lang="en-US" sz="1100"/>
          </a:p>
        </p:txBody>
      </p:sp>
      <p:sp>
        <p:nvSpPr>
          <p:cNvPr id="260131870" name="Shape 11"/>
          <p:cNvSpPr/>
          <p:nvPr/>
        </p:nvSpPr>
        <p:spPr bwMode="auto">
          <a:xfrm>
            <a:off x="8330184" y="18288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3670911" name="Shape 12"/>
          <p:cNvSpPr/>
          <p:nvPr/>
        </p:nvSpPr>
        <p:spPr bwMode="auto">
          <a:xfrm>
            <a:off x="8330184" y="1828800"/>
            <a:ext cx="54864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64863560" name="Text 13"/>
          <p:cNvSpPr/>
          <p:nvPr/>
        </p:nvSpPr>
        <p:spPr bwMode="auto">
          <a:xfrm>
            <a:off x="8494776" y="19385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0FF"/>
                </a:solidFill>
                <a:latin typeface="Aptos"/>
                <a:ea typeface="Aptos"/>
                <a:cs typeface="Aptos"/>
              </a:rPr>
              <a:t>V2</a:t>
            </a:r>
            <a:endParaRPr lang="en-US" sz="1400"/>
          </a:p>
        </p:txBody>
      </p:sp>
      <p:sp>
        <p:nvSpPr>
          <p:cNvPr id="136736283" name="Text 14"/>
          <p:cNvSpPr/>
          <p:nvPr/>
        </p:nvSpPr>
        <p:spPr bwMode="auto">
          <a:xfrm>
            <a:off x="8494776" y="2212848"/>
            <a:ext cx="29900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</a:rPr>
              <a:t>Routage intelligent multi-LLM, offres association, tableaux de bord usage et qualité.</a:t>
            </a:r>
            <a:endParaRPr lang="en-US" sz="1100"/>
          </a:p>
        </p:txBody>
      </p:sp>
      <p:sp>
        <p:nvSpPr>
          <p:cNvPr id="578322608" name="Text 15"/>
          <p:cNvSpPr/>
          <p:nvPr/>
        </p:nvSpPr>
        <p:spPr bwMode="auto">
          <a:xfrm>
            <a:off x="1106424" y="4709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7EDFF"/>
                </a:solidFill>
              </a:rPr>
              <a:t>Critère de succès V1 : une personne handicapée traite un lot de mails avec moins d’actions, moins de fatigue et une validation finale toujours maîtrisée.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202627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580732410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Conclusion</a:t>
            </a:r>
            <a:endParaRPr lang="en-US" sz="2800"/>
          </a:p>
        </p:txBody>
      </p:sp>
      <p:sp>
        <p:nvSpPr>
          <p:cNvPr id="916605706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Un produit cohérent, modulaire et défendable</a:t>
            </a:r>
            <a:endParaRPr lang="en-US" sz="1100"/>
          </a:p>
        </p:txBody>
      </p:sp>
      <p:sp>
        <p:nvSpPr>
          <p:cNvPr id="1992722794" name="Text 3"/>
          <p:cNvSpPr/>
          <p:nvPr/>
        </p:nvSpPr>
        <p:spPr bwMode="auto">
          <a:xfrm>
            <a:off x="822960" y="14630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</a:rPr>
              <a:t>Le projet est prêt à entrer en phase de maquette détaillée puis de MVP.</a:t>
            </a:r>
            <a:endParaRPr lang="en-US" sz="1900"/>
          </a:p>
        </p:txBody>
      </p:sp>
      <p:sp>
        <p:nvSpPr>
          <p:cNvPr id="1250205271" name="Text 4"/>
          <p:cNvSpPr/>
          <p:nvPr/>
        </p:nvSpPr>
        <p:spPr bwMode="auto">
          <a:xfrm>
            <a:off x="914400" y="2057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2095927096" name="Text 5"/>
          <p:cNvSpPr/>
          <p:nvPr/>
        </p:nvSpPr>
        <p:spPr bwMode="auto">
          <a:xfrm>
            <a:off x="1143000" y="2066544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Valeur d’usage tangible pour l’accessibilité</a:t>
            </a:r>
            <a:endParaRPr lang="en-US" sz="1400"/>
          </a:p>
        </p:txBody>
      </p:sp>
      <p:sp>
        <p:nvSpPr>
          <p:cNvPr id="1660443558" name="Text 6"/>
          <p:cNvSpPr/>
          <p:nvPr/>
        </p:nvSpPr>
        <p:spPr bwMode="auto">
          <a:xfrm>
            <a:off x="914400" y="2560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1492313079" name="Text 7"/>
          <p:cNvSpPr/>
          <p:nvPr/>
        </p:nvSpPr>
        <p:spPr bwMode="auto">
          <a:xfrm>
            <a:off x="1143000" y="2569464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Découplage propre entre UI, IA et Browser Use</a:t>
            </a:r>
            <a:endParaRPr lang="en-US" sz="1400"/>
          </a:p>
        </p:txBody>
      </p:sp>
      <p:sp>
        <p:nvSpPr>
          <p:cNvPr id="1765029097" name="Text 8"/>
          <p:cNvSpPr/>
          <p:nvPr/>
        </p:nvSpPr>
        <p:spPr bwMode="auto">
          <a:xfrm>
            <a:off x="914400" y="3063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108048766" name="Text 9"/>
          <p:cNvSpPr/>
          <p:nvPr/>
        </p:nvSpPr>
        <p:spPr bwMode="auto">
          <a:xfrm>
            <a:off x="1143000" y="3072384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Réglages complets : scroll, classification, moteur IA, niveau d’automatisation</a:t>
            </a:r>
            <a:endParaRPr lang="en-US" sz="1400"/>
          </a:p>
        </p:txBody>
      </p:sp>
      <p:sp>
        <p:nvSpPr>
          <p:cNvPr id="165576490" name="Text 10"/>
          <p:cNvSpPr/>
          <p:nvPr/>
        </p:nvSpPr>
        <p:spPr bwMode="auto">
          <a:xfrm>
            <a:off x="914400" y="3566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1709474097" name="Text 11"/>
          <p:cNvSpPr/>
          <p:nvPr/>
        </p:nvSpPr>
        <p:spPr bwMode="auto">
          <a:xfrm>
            <a:off x="1143000" y="3575303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Base claire pour un dossier association, financeur ou investisseur</a:t>
            </a:r>
            <a:endParaRPr lang="en-US" sz="1400"/>
          </a:p>
        </p:txBody>
      </p:sp>
      <p:sp>
        <p:nvSpPr>
          <p:cNvPr id="1387026978" name="Shape 12"/>
          <p:cNvSpPr/>
          <p:nvPr/>
        </p:nvSpPr>
        <p:spPr bwMode="auto">
          <a:xfrm>
            <a:off x="8641080" y="1783080"/>
            <a:ext cx="2468880" cy="2331720"/>
          </a:xfrm>
          <a:prstGeom prst="roundRect">
            <a:avLst>
              <a:gd name="adj" fmla="val 3922"/>
            </a:avLst>
          </a:prstGeom>
          <a:solidFill>
            <a:srgbClr val="111938"/>
          </a:solidFill>
          <a:ln w="12700">
            <a:solidFill>
              <a:srgbClr val="7B89C6">
                <a:alpha val="35000"/>
              </a:srgbClr>
            </a:solidFill>
            <a:prstDash val="solid"/>
          </a:ln>
        </p:spPr>
      </p:sp>
      <p:sp>
        <p:nvSpPr>
          <p:cNvPr id="461810006" name="Text 13"/>
          <p:cNvSpPr/>
          <p:nvPr/>
        </p:nvSpPr>
        <p:spPr bwMode="auto">
          <a:xfrm>
            <a:off x="8805672" y="2011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Prochaine étape</a:t>
            </a:r>
            <a:endParaRPr lang="en-US" sz="1600"/>
          </a:p>
        </p:txBody>
      </p:sp>
      <p:sp>
        <p:nvSpPr>
          <p:cNvPr id="1726055769" name="Text 14"/>
          <p:cNvSpPr/>
          <p:nvPr/>
        </p:nvSpPr>
        <p:spPr bwMode="auto">
          <a:xfrm>
            <a:off x="8796528" y="2514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1. Maquette haute fidélité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2. Prototype Browser Use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3. Tests utilisateurs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4. MVP association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technique et commerciale</dc:title>
  <dc:subject>Agent mail accessible</dc:subject>
  <dc:creator>OpenAI</dc:creator>
  <cp:lastModifiedBy/>
  <cp:revision>2</cp:revision>
  <dcterms:created xsi:type="dcterms:W3CDTF">2026-03-11T12:22:50Z</dcterms:created>
  <dcterms:modified xsi:type="dcterms:W3CDTF">2026-03-11T13:03:57Z</dcterms:modified>
</cp:coreProperties>
</file>