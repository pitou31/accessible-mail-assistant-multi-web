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wmf" ContentType="image/x-wmf"/>
  <Default Extension="png" ContentType="image/png"/>
  <Default Extension="rels" ContentType="application/vnd.openxmlformats-package.relationships+xml"/>
  <Default Extension="bin" ContentType="application/vnd.openxmlformats-officedocument.oleObject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2.xml" ContentType="application/vnd.openxmlformats-officedocument.presentationml.slide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2.xml" ContentType="application/vnd.openxmlformats-officedocument.presentationml.slideLayout+xml"/>
  <Override PartName="/ppt/notesSlides/notesSlide7.xml" ContentType="application/vnd.openxmlformats-officedocument.presentationml.notesSlid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notesSlides/notesSlide2.xml" ContentType="application/vnd.openxmlformats-officedocument.presentationml.notesSlide+xml"/>
  <Override PartName="/ppt/tableStyles.xml" ContentType="application/vnd.openxmlformats-officedocument.presentationml.tableStyl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14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12192000"/>
  <p:defaultTextStyle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>
        <p:guide pos="3840"/>
        <p:guide pos="216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 /><Relationship Id="rId16" Type="http://schemas.openxmlformats.org/officeDocument/2006/relationships/tableStyles" Target="tableStyles.xml" /><Relationship Id="rId17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1312847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99554331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103438470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70614389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499707394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69336154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62107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092997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[Sources],- Image de couverture générée par OpenAI Image Generation.,- Browser Use Cloud est présenté comme une solution de browser automation avec sessions, workspaces, proxies et skills : https://docs.browser-use.com/ citeturn0search1</a:t>
            </a:r>
            <a:endParaRPr lang="en-US"/>
          </a:p>
        </p:txBody>
      </p:sp>
      <p:sp>
        <p:nvSpPr>
          <p:cNvPr id="10313298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7596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820138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[Sources],- Synthèse basée sur les spécifications du projet élaborées avec l’utilisateur ; aucune source externe de benchmark clinique n’est revendiquée.</a:t>
            </a:r>
            <a:endParaRPr lang="en-US"/>
          </a:p>
        </p:txBody>
      </p:sp>
      <p:sp>
        <p:nvSpPr>
          <p:cNvPr id="19790537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213334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415366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[Sources],- Le modèle Browser Use est présenté comme “Agent tasks” avec sessions et workspaces persistants : https://docs.browser-use.com/ citeturn0search1</a:t>
            </a:r>
            <a:endParaRPr lang="en-US"/>
          </a:p>
        </p:txBody>
      </p:sp>
      <p:sp>
        <p:nvSpPr>
          <p:cNvPr id="18501944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867411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951491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[Sources],- Browser Use Cloud fournit sessions, profiles, workspaces et browser infrastructure : https://docs.browser-use.com/ citeturn0search1,- DeepSeek API est compatible OpenAI via simple changement de base_url : https://api-docs.deepseek.com/ citeturn0search6,- Mistral recommande vLLM avec API compatible OpenAI pour le self-hosting : https://docs.mistral.ai/deployment/self-deployment/vllm citeturn0search3</a:t>
            </a:r>
            <a:endParaRPr lang="en-US"/>
          </a:p>
        </p:txBody>
      </p:sp>
      <p:sp>
        <p:nvSpPr>
          <p:cNvPr id="13900262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968300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113912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[Sources],- Les gains présentés sont des hypothèses de conception issues du dossier projet, non des mesures cliniques.</a:t>
            </a:r>
            <a:endParaRPr lang="en-US"/>
          </a:p>
        </p:txBody>
      </p:sp>
      <p:sp>
        <p:nvSpPr>
          <p:cNvPr id="11251950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80411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912687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[Sources],- Browser Use expose des tâches, sessions et infrastructure navigateur ; le comportement précis de scroll doit rester piloté par le design produit et les paramètres de l’application : https://docs.browser-use.com/ citeturn0search1</a:t>
            </a:r>
            <a:endParaRPr lang="en-US"/>
          </a:p>
        </p:txBody>
      </p:sp>
      <p:sp>
        <p:nvSpPr>
          <p:cNvPr id="20818486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45354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211151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[Sources],- Le support de modèles externes est explicitement prévu : Browser Use open source peut connecter n’importe quel LLM compatible OpenAI via URL personnalisée : https://docs.browser-use.com/supported-models citeturn0search24</a:t>
            </a:r>
            <a:endParaRPr lang="en-US"/>
          </a:p>
        </p:txBody>
      </p:sp>
      <p:sp>
        <p:nvSpPr>
          <p:cNvPr id="16972718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44322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177501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[Sources],- Repères de marché : Browser Use pricing public et options de session/skills : https://browser-use.com/pricing citeturn0search0turn0search4</a:t>
            </a:r>
            <a:endParaRPr lang="en-US"/>
          </a:p>
        </p:txBody>
      </p:sp>
      <p:sp>
        <p:nvSpPr>
          <p:cNvPr id="16024728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5056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935388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[Sources],- Roadmap issue des arbitrages produits discutés dans le dossier ; pas de source externe.</a:t>
            </a:r>
            <a:endParaRPr lang="en-US"/>
          </a:p>
        </p:txBody>
      </p:sp>
      <p:sp>
        <p:nvSpPr>
          <p:cNvPr id="5867375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20603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498093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[Sources],- Synthèse finale basée sur le dossier projet créé dans cette session.</a:t>
            </a:r>
            <a:endParaRPr lang="en-US"/>
          </a:p>
        </p:txBody>
      </p:sp>
      <p:sp>
        <p:nvSpPr>
          <p:cNvPr id="15671108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22BCFDB-1AC9-D4AC-B0D7-6E4B93F2540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MASTER">
    <p:bg>
      <p:bgPr shadeToTitle="0">
        <a:solidFill>
          <a:srgbClr val="0B102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2893813" name="Shape 0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noFill/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1703331719" name="Text 1"/>
          <p:cNvSpPr/>
          <p:nvPr/>
        </p:nvSpPr>
        <p:spPr bwMode="auto">
          <a:xfrm>
            <a:off x="365760" y="6473952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00">
                <a:solidFill>
                  <a:srgbClr val="AAB6E8"/>
                </a:solidFill>
                <a:latin typeface="Aptos"/>
                <a:ea typeface="Aptos"/>
                <a:cs typeface="Aptos"/>
              </a:rPr>
              <a:t>Agent mail accessible</a:t>
            </a:r>
            <a:endParaRPr lang="en-US" sz="800"/>
          </a:p>
        </p:txBody>
      </p:sp>
      <p:sp>
        <p:nvSpPr>
          <p:cNvPr id="1388782217" name="Text 2"/>
          <p:cNvSpPr/>
          <p:nvPr/>
        </p:nvSpPr>
        <p:spPr bwMode="auto">
          <a:xfrm>
            <a:off x="8778240" y="6473952"/>
            <a:ext cx="3017519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800">
                <a:solidFill>
                  <a:srgbClr val="AAB6E8"/>
                </a:solidFill>
                <a:latin typeface="Aptos"/>
                <a:ea typeface="Aptos"/>
                <a:cs typeface="Aptos"/>
              </a:rPr>
              <a:t>Confidentiel – version de travail</a:t>
            </a:r>
            <a:endParaRPr lang="en-US" sz="800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dt="0" ftr="0" hdr="0" sldNum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">
    <p:bg>
      <p:bgPr shadeToTitle="0">
        <a:solidFill>
          <a:srgbClr val="0B102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5176965" name="Shape 0"/>
          <p:cNvSpPr/>
          <p:nvPr/>
        </p:nvSpPr>
        <p:spPr bwMode="auto">
          <a:xfrm>
            <a:off x="0" y="0"/>
            <a:ext cx="12191695" cy="256032"/>
          </a:xfrm>
          <a:prstGeom prst="rect">
            <a:avLst/>
          </a:prstGeom>
          <a:solidFill>
            <a:srgbClr val="3B2BA3"/>
          </a:solidFill>
          <a:ln w="12700">
            <a:solidFill>
              <a:srgbClr val="3B2BA3">
                <a:alpha val="0"/>
              </a:srgbClr>
            </a:solidFill>
            <a:prstDash val="solid"/>
          </a:ln>
        </p:spPr>
      </p:sp>
      <p:pic>
        <p:nvPicPr>
          <p:cNvPr id="710652790" name="Image 0" descr="/mnt/data/a_pair_of_digital_3d_rendered_images_showcases_acc.png"/>
          <p:cNvPicPr>
            <a:picLocks noChangeAspect="1"/>
          </p:cNvPicPr>
          <p:nvPr/>
        </p:nvPicPr>
        <p:blipFill rotWithShape="1">
          <a:blip r:embed="rId3"/>
          <a:srcRect l="21468" t="0" r="21468" b="0"/>
          <a:stretch/>
        </p:blipFill>
        <p:spPr bwMode="auto">
          <a:xfrm>
            <a:off x="6537960" y="256032"/>
            <a:ext cx="5650992" cy="6601968"/>
          </a:xfrm>
          <a:prstGeom prst="rect">
            <a:avLst/>
          </a:prstGeom>
        </p:spPr>
      </p:pic>
      <p:sp>
        <p:nvSpPr>
          <p:cNvPr id="1880973531" name="Shape 1"/>
          <p:cNvSpPr/>
          <p:nvPr/>
        </p:nvSpPr>
        <p:spPr bwMode="auto">
          <a:xfrm>
            <a:off x="58079" y="0"/>
            <a:ext cx="12191695" cy="6858000"/>
          </a:xfrm>
          <a:prstGeom prst="rect">
            <a:avLst/>
          </a:prstGeom>
          <a:solidFill>
            <a:srgbClr val="0B1020">
              <a:alpha val="65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393770885" name="Text 2"/>
          <p:cNvSpPr/>
          <p:nvPr/>
        </p:nvSpPr>
        <p:spPr bwMode="auto">
          <a:xfrm>
            <a:off x="548640" y="914400"/>
            <a:ext cx="5394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Agent mail accessible assisté par IA</a:t>
            </a:r>
            <a:endParaRPr lang="en-US" sz="2600"/>
          </a:p>
        </p:txBody>
      </p:sp>
      <p:sp>
        <p:nvSpPr>
          <p:cNvPr id="583166057" name="Text 3"/>
          <p:cNvSpPr/>
          <p:nvPr/>
        </p:nvSpPr>
        <p:spPr bwMode="auto">
          <a:xfrm>
            <a:off x="566928" y="173736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>
                <a:solidFill>
                  <a:srgbClr val="C7D3FF"/>
                </a:solidFill>
                <a:latin typeface="Aptos"/>
                <a:ea typeface="Aptos"/>
                <a:cs typeface="Aptos"/>
              </a:rPr>
              <a:t>Présentation technique et commerciale</a:t>
            </a:r>
            <a:endParaRPr lang="en-US" sz="1500"/>
          </a:p>
        </p:txBody>
      </p:sp>
      <p:sp>
        <p:nvSpPr>
          <p:cNvPr id="1807816266" name="Text 4"/>
          <p:cNvSpPr/>
          <p:nvPr/>
        </p:nvSpPr>
        <p:spPr bwMode="auto">
          <a:xfrm>
            <a:off x="566928" y="214884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DDE6FF"/>
                </a:solidFill>
                <a:latin typeface="Aptos"/>
                <a:ea typeface="Aptos"/>
                <a:cs typeface="Aptos"/>
              </a:rPr>
              <a:t>UI accessible • moteur IA configurable • Browser Use débrayable</a:t>
            </a:r>
            <a:endParaRPr lang="en-US" sz="1200"/>
          </a:p>
        </p:txBody>
      </p:sp>
      <p:sp>
        <p:nvSpPr>
          <p:cNvPr id="830134912" name="Shape 5"/>
          <p:cNvSpPr/>
          <p:nvPr/>
        </p:nvSpPr>
        <p:spPr bwMode="auto">
          <a:xfrm flipH="0" flipV="0">
            <a:off x="822960" y="4876038"/>
            <a:ext cx="1417319" cy="930402"/>
          </a:xfrm>
          <a:prstGeom prst="roundRect">
            <a:avLst>
              <a:gd name="adj" fmla="val 10526"/>
            </a:avLst>
          </a:prstGeom>
          <a:solidFill>
            <a:srgbClr val="111938"/>
          </a:solidFill>
          <a:ln w="12700">
            <a:solidFill>
              <a:srgbClr val="7C8ACB">
                <a:alpha val="30000"/>
              </a:srgbClr>
            </a:solidFill>
            <a:prstDash val="solid"/>
          </a:ln>
        </p:spPr>
      </p:sp>
      <p:sp>
        <p:nvSpPr>
          <p:cNvPr id="2037501268" name="Text 6"/>
          <p:cNvSpPr/>
          <p:nvPr/>
        </p:nvSpPr>
        <p:spPr bwMode="auto">
          <a:xfrm flipH="0" flipV="0">
            <a:off x="822960" y="4937759"/>
            <a:ext cx="1234440" cy="3108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200" b="1">
                <a:solidFill>
                  <a:srgbClr val="FFFFFF"/>
                </a:solidFill>
              </a:rPr>
              <a:t>-58 %</a:t>
            </a:r>
            <a:endParaRPr lang="en-US" sz="2200"/>
          </a:p>
        </p:txBody>
      </p:sp>
      <p:sp>
        <p:nvSpPr>
          <p:cNvPr id="1445048105" name="Text 7"/>
          <p:cNvSpPr/>
          <p:nvPr/>
        </p:nvSpPr>
        <p:spPr bwMode="auto">
          <a:xfrm>
            <a:off x="777240" y="5413248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B8C5F0"/>
                </a:solidFill>
              </a:rPr>
              <a:t>temps estimé de gestion</a:t>
            </a:r>
            <a:endParaRPr lang="en-US" sz="1050"/>
          </a:p>
        </p:txBody>
      </p:sp>
      <p:sp>
        <p:nvSpPr>
          <p:cNvPr id="458046567" name="Shape 8"/>
          <p:cNvSpPr/>
          <p:nvPr/>
        </p:nvSpPr>
        <p:spPr bwMode="auto">
          <a:xfrm flipH="0" flipV="0">
            <a:off x="2377440" y="4876038"/>
            <a:ext cx="1417319" cy="992123"/>
          </a:xfrm>
          <a:prstGeom prst="roundRect">
            <a:avLst>
              <a:gd name="adj" fmla="val 10526"/>
            </a:avLst>
          </a:prstGeom>
          <a:solidFill>
            <a:srgbClr val="111938"/>
          </a:solidFill>
          <a:ln w="12700">
            <a:solidFill>
              <a:srgbClr val="7C8ACB">
                <a:alpha val="30000"/>
              </a:srgbClr>
            </a:solidFill>
            <a:prstDash val="solid"/>
          </a:ln>
        </p:spPr>
      </p:sp>
      <p:sp>
        <p:nvSpPr>
          <p:cNvPr id="1480909013" name="Text 9"/>
          <p:cNvSpPr/>
          <p:nvPr/>
        </p:nvSpPr>
        <p:spPr bwMode="auto">
          <a:xfrm flipH="0" flipV="0">
            <a:off x="2429962" y="4937759"/>
            <a:ext cx="1410517" cy="3108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200" b="1">
                <a:solidFill>
                  <a:srgbClr val="FFFFFF"/>
                </a:solidFill>
              </a:rPr>
              <a:t>60–80 %</a:t>
            </a:r>
            <a:endParaRPr lang="en-US" sz="2200"/>
          </a:p>
        </p:txBody>
      </p:sp>
      <p:sp>
        <p:nvSpPr>
          <p:cNvPr id="2042272760" name="Text 10"/>
          <p:cNvSpPr/>
          <p:nvPr/>
        </p:nvSpPr>
        <p:spPr bwMode="auto">
          <a:xfrm flipH="0" flipV="0">
            <a:off x="2377440" y="5413247"/>
            <a:ext cx="138728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B8C5F0"/>
                </a:solidFill>
              </a:rPr>
              <a:t>actions</a:t>
            </a:r>
            <a:r>
              <a:rPr lang="fr-FR" sz="1050">
                <a:solidFill>
                  <a:srgbClr val="B8C5F0"/>
                </a:solidFill>
              </a:rPr>
              <a:t> </a:t>
            </a:r>
            <a:r>
              <a:rPr lang="en-US" sz="1050">
                <a:solidFill>
                  <a:srgbClr val="B8C5F0"/>
                </a:solidFill>
              </a:rPr>
              <a:t>manuelles évitées</a:t>
            </a:r>
            <a:endParaRPr lang="en-US" sz="1050"/>
          </a:p>
        </p:txBody>
      </p:sp>
      <p:sp>
        <p:nvSpPr>
          <p:cNvPr id="1041116783" name="Shape 11"/>
          <p:cNvSpPr/>
          <p:nvPr/>
        </p:nvSpPr>
        <p:spPr bwMode="auto">
          <a:xfrm flipH="0" flipV="0">
            <a:off x="3886943" y="4876038"/>
            <a:ext cx="1919496" cy="971549"/>
          </a:xfrm>
          <a:prstGeom prst="roundRect">
            <a:avLst>
              <a:gd name="adj" fmla="val 10526"/>
            </a:avLst>
          </a:prstGeom>
          <a:solidFill>
            <a:srgbClr val="111938"/>
          </a:solidFill>
          <a:ln w="12700">
            <a:solidFill>
              <a:srgbClr val="7C8ACB">
                <a:alpha val="30000"/>
              </a:srgbClr>
            </a:solidFill>
            <a:prstDash val="solid"/>
          </a:ln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978165596" name="Text 12"/>
          <p:cNvSpPr/>
          <p:nvPr/>
        </p:nvSpPr>
        <p:spPr bwMode="auto">
          <a:xfrm flipH="0" flipV="0">
            <a:off x="4024103" y="4937759"/>
            <a:ext cx="1965960" cy="3108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200" b="1">
                <a:solidFill>
                  <a:srgbClr val="FFFFFF"/>
                </a:solidFill>
              </a:rPr>
              <a:t>3 couches</a:t>
            </a:r>
            <a:endParaRPr lang="en-US" sz="2200"/>
          </a:p>
        </p:txBody>
      </p:sp>
      <p:sp>
        <p:nvSpPr>
          <p:cNvPr id="967650922" name="Text 13"/>
          <p:cNvSpPr/>
          <p:nvPr/>
        </p:nvSpPr>
        <p:spPr bwMode="auto">
          <a:xfrm>
            <a:off x="3977640" y="5413248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B8C5F0"/>
                </a:solidFill>
              </a:rPr>
              <a:t>UI • IA • Browser Use</a:t>
            </a:r>
            <a:endParaRPr lang="en-US" sz="10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">
    <p:bg>
      <p:bgPr shadeToTitle="0">
        <a:solidFill>
          <a:srgbClr val="0B102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0445721" name="Shape 0"/>
          <p:cNvSpPr/>
          <p:nvPr/>
        </p:nvSpPr>
        <p:spPr bwMode="auto">
          <a:xfrm>
            <a:off x="0" y="0"/>
            <a:ext cx="12191695" cy="256032"/>
          </a:xfrm>
          <a:prstGeom prst="rect">
            <a:avLst/>
          </a:prstGeom>
          <a:solidFill>
            <a:srgbClr val="3B2BA3"/>
          </a:solidFill>
          <a:ln w="12700">
            <a:solidFill>
              <a:srgbClr val="3B2BA3">
                <a:alpha val="0"/>
              </a:srgbClr>
            </a:solidFill>
            <a:prstDash val="solid"/>
          </a:ln>
        </p:spPr>
      </p:sp>
      <p:sp>
        <p:nvSpPr>
          <p:cNvPr id="1350188684" name="Text 1"/>
          <p:cNvSpPr/>
          <p:nvPr/>
        </p:nvSpPr>
        <p:spPr bwMode="auto">
          <a:xfrm>
            <a:off x="502920" y="4114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F6F8FF"/>
                </a:solidFill>
                <a:latin typeface="Aptos Display"/>
                <a:ea typeface="Aptos Display"/>
                <a:cs typeface="Aptos Display"/>
              </a:rPr>
              <a:t>Problème </a:t>
            </a:r>
            <a:r>
              <a:rPr lang="fr-FR" sz="2800" b="1">
                <a:solidFill>
                  <a:srgbClr val="F6F8FF"/>
                </a:solidFill>
                <a:latin typeface="Aptos Display"/>
                <a:ea typeface="Aptos Display"/>
                <a:cs typeface="Aptos Display"/>
              </a:rPr>
              <a:t>pos</a:t>
            </a:r>
            <a:r>
              <a:rPr lang="en-US" sz="2800" b="1">
                <a:solidFill>
                  <a:srgbClr val="F6F8FF"/>
                </a:solidFill>
                <a:latin typeface="Aptos Display"/>
                <a:ea typeface="Aptos Display"/>
                <a:cs typeface="Aptos Display"/>
              </a:rPr>
              <a:t>é</a:t>
            </a:r>
            <a:endParaRPr lang="en-US" sz="2800"/>
          </a:p>
        </p:txBody>
      </p:sp>
      <p:sp>
        <p:nvSpPr>
          <p:cNvPr id="1395684821" name="Text 2"/>
          <p:cNvSpPr/>
          <p:nvPr/>
        </p:nvSpPr>
        <p:spPr bwMode="auto">
          <a:xfrm>
            <a:off x="530352" y="896112"/>
            <a:ext cx="8778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B9C4EF"/>
                </a:solidFill>
                <a:latin typeface="Aptos"/>
                <a:ea typeface="Aptos"/>
                <a:cs typeface="Aptos"/>
              </a:rPr>
              <a:t>Pourquoi une messagerie classique reste coûteuse pour certains utilisateurs</a:t>
            </a:r>
            <a:endParaRPr lang="en-US" sz="1100"/>
          </a:p>
        </p:txBody>
      </p:sp>
      <p:sp>
        <p:nvSpPr>
          <p:cNvPr id="1555366960" name="Shape 3"/>
          <p:cNvSpPr/>
          <p:nvPr/>
        </p:nvSpPr>
        <p:spPr bwMode="auto">
          <a:xfrm>
            <a:off x="594360" y="1325880"/>
            <a:ext cx="3657600" cy="1920240"/>
          </a:xfrm>
          <a:prstGeom prst="roundRect">
            <a:avLst>
              <a:gd name="adj" fmla="val 5714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7C8ACB">
                <a:alpha val="35000"/>
              </a:srgbClr>
            </a:solidFill>
            <a:prstDash val="solid"/>
          </a:ln>
          <a:effectLst>
            <a:outerShdw blurRad="19050" dist="15240" dir="27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739278294" name="Shape 4"/>
          <p:cNvSpPr/>
          <p:nvPr/>
        </p:nvSpPr>
        <p:spPr bwMode="auto">
          <a:xfrm>
            <a:off x="594360" y="1325880"/>
            <a:ext cx="54864" cy="19202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063370264" name="Text 5"/>
          <p:cNvSpPr/>
          <p:nvPr/>
        </p:nvSpPr>
        <p:spPr bwMode="auto">
          <a:xfrm>
            <a:off x="758952" y="1435608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0070C0"/>
                </a:solidFill>
                <a:latin typeface="Aptos"/>
                <a:ea typeface="Aptos"/>
                <a:cs typeface="Aptos"/>
              </a:rPr>
              <a:t>Charge </a:t>
            </a:r>
            <a:r>
              <a:rPr lang="en-US" sz="1400" b="1">
                <a:solidFill>
                  <a:srgbClr val="0070C0"/>
                </a:solidFill>
                <a:latin typeface="Aptos"/>
                <a:ea typeface="Aptos"/>
                <a:cs typeface="Aptos"/>
              </a:rPr>
              <a:t>interactionnelle </a:t>
            </a:r>
            <a:r>
              <a:rPr lang="en-US" sz="1400" b="1">
                <a:solidFill>
                  <a:srgbClr val="0070C0"/>
                </a:solidFill>
                <a:latin typeface="Aptos"/>
                <a:ea typeface="Aptos"/>
                <a:cs typeface="Aptos"/>
              </a:rPr>
              <a:t>élevée</a:t>
            </a:r>
            <a:endParaRPr sz="1400">
              <a:solidFill>
                <a:srgbClr val="0070C0"/>
              </a:solidFill>
            </a:endParaRPr>
          </a:p>
        </p:txBody>
      </p:sp>
      <p:sp>
        <p:nvSpPr>
          <p:cNvPr id="1648651522" name="Text 6"/>
          <p:cNvSpPr/>
          <p:nvPr/>
        </p:nvSpPr>
        <p:spPr bwMode="auto">
          <a:xfrm>
            <a:off x="758952" y="1709928"/>
            <a:ext cx="3401568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0070C0"/>
                </a:solidFill>
                <a:latin typeface="Aptos"/>
                <a:ea typeface="Aptos"/>
                <a:cs typeface="Aptos"/>
              </a:rPr>
              <a:t>La webmail impose une succession de gestes fins : ouvrir, viser, scroller, revenir, joindre, vérifier. Pour un utilisateur fatigable ou en suivi oculaire, ces micro-actions deviennent le principal frein à l’autonomie.</a:t>
            </a:r>
            <a:endParaRPr sz="1400">
              <a:solidFill>
                <a:srgbClr val="0070C0"/>
              </a:solidFill>
            </a:endParaRPr>
          </a:p>
        </p:txBody>
      </p:sp>
      <p:sp>
        <p:nvSpPr>
          <p:cNvPr id="1177915236" name="Shape 7"/>
          <p:cNvSpPr/>
          <p:nvPr/>
        </p:nvSpPr>
        <p:spPr bwMode="auto">
          <a:xfrm>
            <a:off x="4434839" y="1325880"/>
            <a:ext cx="3657600" cy="1920240"/>
          </a:xfrm>
          <a:prstGeom prst="roundRect">
            <a:avLst>
              <a:gd name="adj" fmla="val 5714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7C8ACB">
                <a:alpha val="35000"/>
              </a:srgbClr>
            </a:solidFill>
            <a:prstDash val="solid"/>
          </a:ln>
          <a:effectLst>
            <a:outerShdw blurRad="19050" dist="15240" dir="27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81673794" name="Shape 8"/>
          <p:cNvSpPr/>
          <p:nvPr/>
        </p:nvSpPr>
        <p:spPr bwMode="auto">
          <a:xfrm>
            <a:off x="4434840" y="1325880"/>
            <a:ext cx="54864" cy="1920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63715892" name="Text 9"/>
          <p:cNvSpPr/>
          <p:nvPr/>
        </p:nvSpPr>
        <p:spPr bwMode="auto">
          <a:xfrm>
            <a:off x="4599432" y="1435608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0070C0"/>
                </a:solidFill>
                <a:latin typeface="Aptos"/>
                <a:ea typeface="Aptos"/>
                <a:cs typeface="Aptos"/>
              </a:rPr>
              <a:t>Coût cognitif</a:t>
            </a:r>
            <a:endParaRPr sz="1400">
              <a:solidFill>
                <a:srgbClr val="0070C0"/>
              </a:solidFill>
            </a:endParaRPr>
          </a:p>
        </p:txBody>
      </p:sp>
      <p:sp>
        <p:nvSpPr>
          <p:cNvPr id="1950159562" name="Text 10"/>
          <p:cNvSpPr/>
          <p:nvPr/>
        </p:nvSpPr>
        <p:spPr bwMode="auto">
          <a:xfrm>
            <a:off x="4599432" y="1709928"/>
            <a:ext cx="3401568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0070C0"/>
                </a:solidFill>
                <a:latin typeface="Aptos"/>
                <a:ea typeface="Aptos"/>
                <a:cs typeface="Aptos"/>
              </a:rPr>
              <a:t>Retrouver le bon mail, gérer les onglets, les pièces jointes et les liens détourne l’attention de la vraie valeur : lire, comprendre, décider et valider.</a:t>
            </a:r>
            <a:endParaRPr sz="1400">
              <a:solidFill>
                <a:srgbClr val="0070C0"/>
              </a:solidFill>
            </a:endParaRPr>
          </a:p>
        </p:txBody>
      </p:sp>
      <p:sp>
        <p:nvSpPr>
          <p:cNvPr id="335173050" name="Shape 11"/>
          <p:cNvSpPr/>
          <p:nvPr/>
        </p:nvSpPr>
        <p:spPr bwMode="auto">
          <a:xfrm>
            <a:off x="8275320" y="1325880"/>
            <a:ext cx="3291840" cy="1920240"/>
          </a:xfrm>
          <a:prstGeom prst="roundRect">
            <a:avLst>
              <a:gd name="adj" fmla="val 5714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7C8ACB">
                <a:alpha val="35000"/>
              </a:srgbClr>
            </a:solidFill>
            <a:prstDash val="solid"/>
          </a:ln>
          <a:effectLst>
            <a:outerShdw blurRad="19050" dist="15240" dir="27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1010070487" name="Shape 12"/>
          <p:cNvSpPr/>
          <p:nvPr/>
        </p:nvSpPr>
        <p:spPr bwMode="auto">
          <a:xfrm>
            <a:off x="8275320" y="1325880"/>
            <a:ext cx="54864" cy="1920240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>
                <a:alpha val="0"/>
              </a:srgbClr>
            </a:solidFill>
            <a:prstDash val="solid"/>
          </a:ln>
        </p:spPr>
      </p:sp>
      <p:sp>
        <p:nvSpPr>
          <p:cNvPr id="1647161941" name="Text 13"/>
          <p:cNvSpPr/>
          <p:nvPr/>
        </p:nvSpPr>
        <p:spPr bwMode="auto">
          <a:xfrm>
            <a:off x="8439912" y="1435608"/>
            <a:ext cx="3017519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0070C0"/>
                </a:solidFill>
                <a:latin typeface="Aptos"/>
                <a:ea typeface="Aptos"/>
                <a:cs typeface="Aptos"/>
              </a:rPr>
              <a:t>Risque opérationnel</a:t>
            </a:r>
            <a:endParaRPr sz="1400">
              <a:solidFill>
                <a:srgbClr val="0070C0"/>
              </a:solidFill>
            </a:endParaRPr>
          </a:p>
        </p:txBody>
      </p:sp>
      <p:sp>
        <p:nvSpPr>
          <p:cNvPr id="69589436" name="Text 14"/>
          <p:cNvSpPr/>
          <p:nvPr/>
        </p:nvSpPr>
        <p:spPr bwMode="auto">
          <a:xfrm>
            <a:off x="8439912" y="1709928"/>
            <a:ext cx="3035808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0070C0"/>
                </a:solidFill>
                <a:latin typeface="Aptos"/>
                <a:ea typeface="Aptos"/>
                <a:cs typeface="Aptos"/>
              </a:rPr>
              <a:t>Oublis de pièces jointes, retours de navigation, perte de contexte et fatigue augmentent le risque d’erreur et la dépendance à un aidant.</a:t>
            </a:r>
            <a:endParaRPr sz="1400">
              <a:solidFill>
                <a:srgbClr val="0070C0"/>
              </a:solidFill>
            </a:endParaRPr>
          </a:p>
        </p:txBody>
      </p:sp>
      <p:sp>
        <p:nvSpPr>
          <p:cNvPr id="2055167315" name="Shape 15"/>
          <p:cNvSpPr/>
          <p:nvPr/>
        </p:nvSpPr>
        <p:spPr bwMode="auto">
          <a:xfrm>
            <a:off x="594360" y="3611880"/>
            <a:ext cx="10972800" cy="1417320"/>
          </a:xfrm>
          <a:prstGeom prst="roundRect">
            <a:avLst>
              <a:gd name="adj" fmla="val 7742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7C8ACB">
                <a:alpha val="35000"/>
              </a:srgbClr>
            </a:solidFill>
            <a:prstDash val="solid"/>
          </a:ln>
          <a:effectLst>
            <a:outerShdw blurRad="19050" dist="15240" dir="27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1236544802" name="Shape 16"/>
          <p:cNvSpPr/>
          <p:nvPr/>
        </p:nvSpPr>
        <p:spPr bwMode="auto">
          <a:xfrm>
            <a:off x="594360" y="3611880"/>
            <a:ext cx="54864" cy="1417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1420568268" name="Text 17"/>
          <p:cNvSpPr/>
          <p:nvPr/>
        </p:nvSpPr>
        <p:spPr bwMode="auto">
          <a:xfrm>
            <a:off x="758952" y="3721608"/>
            <a:ext cx="10698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0070C0"/>
                </a:solidFill>
                <a:latin typeface="Aptos"/>
                <a:ea typeface="Aptos"/>
                <a:cs typeface="Aptos"/>
              </a:rPr>
              <a:t>Réponse produit</a:t>
            </a:r>
            <a:endParaRPr sz="1400">
              <a:solidFill>
                <a:srgbClr val="0070C0"/>
              </a:solidFill>
            </a:endParaRPr>
          </a:p>
        </p:txBody>
      </p:sp>
      <p:sp>
        <p:nvSpPr>
          <p:cNvPr id="433905753" name="Text 18"/>
          <p:cNvSpPr/>
          <p:nvPr/>
        </p:nvSpPr>
        <p:spPr bwMode="auto">
          <a:xfrm>
            <a:off x="758952" y="3995928"/>
            <a:ext cx="10716768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0070C0"/>
                </a:solidFill>
                <a:latin typeface="Aptos"/>
                <a:ea typeface="Aptos"/>
                <a:cs typeface="Aptos"/>
              </a:rPr>
              <a:t>Le système traite un mail à la fois, présente le contenu complet à gauche, la réponse proposée à droite, et laisse Browser Use absorber la mécanique web répétitive pendant que l’utilisateur conserve la décision finale.</a:t>
            </a:r>
            <a:endParaRPr sz="1400">
              <a:solidFill>
                <a:srgbClr val="0070C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3">
    <p:bg>
      <p:bgPr shadeToTitle="0">
        <a:solidFill>
          <a:srgbClr val="0B102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4233092" name="Shape 0"/>
          <p:cNvSpPr/>
          <p:nvPr/>
        </p:nvSpPr>
        <p:spPr bwMode="auto">
          <a:xfrm>
            <a:off x="0" y="0"/>
            <a:ext cx="12191695" cy="256032"/>
          </a:xfrm>
          <a:prstGeom prst="rect">
            <a:avLst/>
          </a:prstGeom>
          <a:solidFill>
            <a:srgbClr val="3B2BA3"/>
          </a:solidFill>
          <a:ln w="12700">
            <a:solidFill>
              <a:srgbClr val="3B2BA3">
                <a:alpha val="0"/>
              </a:srgbClr>
            </a:solidFill>
            <a:prstDash val="solid"/>
          </a:ln>
        </p:spPr>
      </p:sp>
      <p:sp>
        <p:nvSpPr>
          <p:cNvPr id="1409659944" name="Text 1"/>
          <p:cNvSpPr/>
          <p:nvPr/>
        </p:nvSpPr>
        <p:spPr bwMode="auto">
          <a:xfrm>
            <a:off x="502920" y="4114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F6F8FF"/>
                </a:solidFill>
                <a:latin typeface="Aptos Display"/>
                <a:ea typeface="Aptos Display"/>
                <a:cs typeface="Aptos Display"/>
              </a:rPr>
              <a:t>Workflow cible</a:t>
            </a:r>
            <a:endParaRPr lang="en-US" sz="2800"/>
          </a:p>
        </p:txBody>
      </p:sp>
      <p:sp>
        <p:nvSpPr>
          <p:cNvPr id="520979488" name="Text 2"/>
          <p:cNvSpPr/>
          <p:nvPr/>
        </p:nvSpPr>
        <p:spPr bwMode="auto">
          <a:xfrm>
            <a:off x="530352" y="896112"/>
            <a:ext cx="8778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B9C4EF"/>
                </a:solidFill>
                <a:latin typeface="Aptos"/>
                <a:ea typeface="Aptos"/>
                <a:cs typeface="Aptos"/>
              </a:rPr>
              <a:t>Du lancement de l’agent jusqu’au mail suivant</a:t>
            </a:r>
            <a:endParaRPr lang="en-US" sz="1100"/>
          </a:p>
        </p:txBody>
      </p:sp>
      <p:sp>
        <p:nvSpPr>
          <p:cNvPr id="369732239" name="Shape 3"/>
          <p:cNvSpPr/>
          <p:nvPr/>
        </p:nvSpPr>
        <p:spPr bwMode="auto">
          <a:xfrm>
            <a:off x="731520" y="1417320"/>
            <a:ext cx="10698480" cy="713232"/>
          </a:xfrm>
          <a:prstGeom prst="roundRect">
            <a:avLst>
              <a:gd name="adj" fmla="val 10256"/>
            </a:avLst>
          </a:prstGeom>
          <a:solidFill>
            <a:srgbClr val="111938"/>
          </a:solidFill>
          <a:ln w="12700">
            <a:solidFill>
              <a:srgbClr val="8090CE">
                <a:alpha val="35000"/>
              </a:srgbClr>
            </a:solidFill>
            <a:prstDash val="solid"/>
          </a:ln>
        </p:spPr>
      </p:sp>
      <p:sp>
        <p:nvSpPr>
          <p:cNvPr id="355875593" name="Text 4"/>
          <p:cNvSpPr/>
          <p:nvPr/>
        </p:nvSpPr>
        <p:spPr bwMode="auto">
          <a:xfrm>
            <a:off x="868680" y="1572768"/>
            <a:ext cx="347472" cy="256032"/>
          </a:xfrm>
          <a:prstGeom prst="rect">
            <a:avLst/>
          </a:prstGeom>
          <a:solidFill>
            <a:srgbClr val="4F46E5"/>
          </a:solidFill>
          <a:ln>
            <a:solidFill>
              <a:srgbClr val="4F46E5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FFFFFF"/>
                </a:solidFill>
              </a:rPr>
              <a:t>1</a:t>
            </a:r>
            <a:endParaRPr lang="en-US" sz="1600"/>
          </a:p>
        </p:txBody>
      </p:sp>
      <p:sp>
        <p:nvSpPr>
          <p:cNvPr id="1321335262" name="Text 5"/>
          <p:cNvSpPr/>
          <p:nvPr/>
        </p:nvSpPr>
        <p:spPr bwMode="auto">
          <a:xfrm>
            <a:off x="1371600" y="1527048"/>
            <a:ext cx="26517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F1F5FF"/>
                </a:solidFill>
              </a:rPr>
              <a:t>1. Ouvrir la boîte mail</a:t>
            </a:r>
            <a:endParaRPr lang="en-US" sz="1300"/>
          </a:p>
        </p:txBody>
      </p:sp>
      <p:sp>
        <p:nvSpPr>
          <p:cNvPr id="1820880970" name="Text 6"/>
          <p:cNvSpPr/>
          <p:nvPr/>
        </p:nvSpPr>
        <p:spPr bwMode="auto">
          <a:xfrm>
            <a:off x="4526280" y="1517904"/>
            <a:ext cx="6263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D7DFFA"/>
                </a:solidFill>
              </a:rPr>
              <a:t>Browser Use lance le navigateur et retrouve la réception.</a:t>
            </a:r>
            <a:endParaRPr lang="en-US" sz="1100"/>
          </a:p>
        </p:txBody>
      </p:sp>
      <p:sp>
        <p:nvSpPr>
          <p:cNvPr id="1740781816" name="Shape 7"/>
          <p:cNvSpPr/>
          <p:nvPr/>
        </p:nvSpPr>
        <p:spPr bwMode="auto">
          <a:xfrm>
            <a:off x="731520" y="2313432"/>
            <a:ext cx="10698480" cy="713232"/>
          </a:xfrm>
          <a:prstGeom prst="roundRect">
            <a:avLst>
              <a:gd name="adj" fmla="val 10256"/>
            </a:avLst>
          </a:prstGeom>
          <a:solidFill>
            <a:srgbClr val="111938"/>
          </a:solidFill>
          <a:ln w="12700">
            <a:solidFill>
              <a:srgbClr val="8090CE">
                <a:alpha val="35000"/>
              </a:srgbClr>
            </a:solidFill>
            <a:prstDash val="solid"/>
          </a:ln>
        </p:spPr>
      </p:sp>
      <p:sp>
        <p:nvSpPr>
          <p:cNvPr id="1141410740" name="Text 8"/>
          <p:cNvSpPr/>
          <p:nvPr/>
        </p:nvSpPr>
        <p:spPr bwMode="auto">
          <a:xfrm>
            <a:off x="868680" y="2468880"/>
            <a:ext cx="347472" cy="256032"/>
          </a:xfrm>
          <a:prstGeom prst="rect">
            <a:avLst/>
          </a:prstGeom>
          <a:solidFill>
            <a:srgbClr val="4F46E5"/>
          </a:solidFill>
          <a:ln>
            <a:solidFill>
              <a:srgbClr val="4F46E5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FFFFFF"/>
                </a:solidFill>
              </a:rPr>
              <a:t>2</a:t>
            </a:r>
            <a:endParaRPr lang="en-US" sz="1600"/>
          </a:p>
        </p:txBody>
      </p:sp>
      <p:sp>
        <p:nvSpPr>
          <p:cNvPr id="1729473975" name="Text 9"/>
          <p:cNvSpPr/>
          <p:nvPr/>
        </p:nvSpPr>
        <p:spPr bwMode="auto">
          <a:xfrm>
            <a:off x="1371600" y="2423160"/>
            <a:ext cx="26517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F1F5FF"/>
                </a:solidFill>
              </a:rPr>
              <a:t>2. Sélectionner le bon mail</a:t>
            </a:r>
            <a:endParaRPr lang="en-US" sz="1300"/>
          </a:p>
        </p:txBody>
      </p:sp>
      <p:sp>
        <p:nvSpPr>
          <p:cNvPr id="1224161397" name="Text 10"/>
          <p:cNvSpPr/>
          <p:nvPr/>
        </p:nvSpPr>
        <p:spPr bwMode="auto">
          <a:xfrm>
            <a:off x="4526280" y="2414016"/>
            <a:ext cx="6263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D7DFFA"/>
                </a:solidFill>
              </a:rPr>
              <a:t>Le prochain message prioritaire est identifié puis ouvert.</a:t>
            </a:r>
            <a:endParaRPr lang="en-US" sz="1100"/>
          </a:p>
        </p:txBody>
      </p:sp>
      <p:sp>
        <p:nvSpPr>
          <p:cNvPr id="1760136058" name="Shape 11"/>
          <p:cNvSpPr/>
          <p:nvPr/>
        </p:nvSpPr>
        <p:spPr bwMode="auto">
          <a:xfrm>
            <a:off x="731520" y="3209544"/>
            <a:ext cx="10698480" cy="713232"/>
          </a:xfrm>
          <a:prstGeom prst="roundRect">
            <a:avLst>
              <a:gd name="adj" fmla="val 10256"/>
            </a:avLst>
          </a:prstGeom>
          <a:solidFill>
            <a:srgbClr val="111938"/>
          </a:solidFill>
          <a:ln w="12700">
            <a:solidFill>
              <a:srgbClr val="8090CE">
                <a:alpha val="35000"/>
              </a:srgbClr>
            </a:solidFill>
            <a:prstDash val="solid"/>
          </a:ln>
        </p:spPr>
      </p:sp>
      <p:sp>
        <p:nvSpPr>
          <p:cNvPr id="1545044992" name="Text 12"/>
          <p:cNvSpPr/>
          <p:nvPr/>
        </p:nvSpPr>
        <p:spPr bwMode="auto">
          <a:xfrm>
            <a:off x="868680" y="3364992"/>
            <a:ext cx="347472" cy="256032"/>
          </a:xfrm>
          <a:prstGeom prst="rect">
            <a:avLst/>
          </a:prstGeom>
          <a:solidFill>
            <a:srgbClr val="4F46E5"/>
          </a:solidFill>
          <a:ln>
            <a:solidFill>
              <a:srgbClr val="4F46E5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FFFFFF"/>
                </a:solidFill>
              </a:rPr>
              <a:t>3</a:t>
            </a:r>
            <a:endParaRPr lang="en-US" sz="1600"/>
          </a:p>
        </p:txBody>
      </p:sp>
      <p:sp>
        <p:nvSpPr>
          <p:cNvPr id="1362013610" name="Text 13"/>
          <p:cNvSpPr/>
          <p:nvPr/>
        </p:nvSpPr>
        <p:spPr bwMode="auto">
          <a:xfrm>
            <a:off x="1371600" y="3319272"/>
            <a:ext cx="26517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F1F5FF"/>
                </a:solidFill>
              </a:rPr>
              <a:t>3. Analyser le contexte</a:t>
            </a:r>
            <a:endParaRPr lang="en-US" sz="1300"/>
          </a:p>
        </p:txBody>
      </p:sp>
      <p:sp>
        <p:nvSpPr>
          <p:cNvPr id="1197137932" name="Text 14"/>
          <p:cNvSpPr/>
          <p:nvPr/>
        </p:nvSpPr>
        <p:spPr bwMode="auto">
          <a:xfrm>
            <a:off x="4526280" y="3310127"/>
            <a:ext cx="6263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D7DFFA"/>
                </a:solidFill>
              </a:rPr>
              <a:t>Le LLM lit le mail, la date, les liens, les pièces jointes et les règles.</a:t>
            </a:r>
            <a:endParaRPr lang="en-US" sz="1100"/>
          </a:p>
        </p:txBody>
      </p:sp>
      <p:sp>
        <p:nvSpPr>
          <p:cNvPr id="688423098" name="Shape 15"/>
          <p:cNvSpPr/>
          <p:nvPr/>
        </p:nvSpPr>
        <p:spPr bwMode="auto">
          <a:xfrm>
            <a:off x="731520" y="4105656"/>
            <a:ext cx="10698480" cy="713232"/>
          </a:xfrm>
          <a:prstGeom prst="roundRect">
            <a:avLst>
              <a:gd name="adj" fmla="val 10256"/>
            </a:avLst>
          </a:prstGeom>
          <a:solidFill>
            <a:srgbClr val="111938"/>
          </a:solidFill>
          <a:ln w="12700">
            <a:solidFill>
              <a:srgbClr val="8090CE">
                <a:alpha val="35000"/>
              </a:srgbClr>
            </a:solidFill>
            <a:prstDash val="solid"/>
          </a:ln>
        </p:spPr>
      </p:sp>
      <p:sp>
        <p:nvSpPr>
          <p:cNvPr id="1410320091" name="Text 16"/>
          <p:cNvSpPr/>
          <p:nvPr/>
        </p:nvSpPr>
        <p:spPr bwMode="auto">
          <a:xfrm>
            <a:off x="868680" y="4261104"/>
            <a:ext cx="347472" cy="256032"/>
          </a:xfrm>
          <a:prstGeom prst="rect">
            <a:avLst/>
          </a:prstGeom>
          <a:solidFill>
            <a:srgbClr val="4F46E5"/>
          </a:solidFill>
          <a:ln>
            <a:solidFill>
              <a:srgbClr val="4F46E5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FFFFFF"/>
                </a:solidFill>
              </a:rPr>
              <a:t>4</a:t>
            </a:r>
            <a:endParaRPr lang="en-US" sz="1600"/>
          </a:p>
        </p:txBody>
      </p:sp>
      <p:sp>
        <p:nvSpPr>
          <p:cNvPr id="18296656" name="Text 17"/>
          <p:cNvSpPr/>
          <p:nvPr/>
        </p:nvSpPr>
        <p:spPr bwMode="auto">
          <a:xfrm>
            <a:off x="1371600" y="4215384"/>
            <a:ext cx="26517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F1F5FF"/>
                </a:solidFill>
              </a:rPr>
              <a:t>4. Exécuter les manipulations web</a:t>
            </a:r>
            <a:endParaRPr lang="en-US" sz="1300"/>
          </a:p>
        </p:txBody>
      </p:sp>
      <p:sp>
        <p:nvSpPr>
          <p:cNvPr id="1831350713" name="Text 18"/>
          <p:cNvSpPr/>
          <p:nvPr/>
        </p:nvSpPr>
        <p:spPr bwMode="auto">
          <a:xfrm>
            <a:off x="4526280" y="4206240"/>
            <a:ext cx="6263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D7DFFA"/>
                </a:solidFill>
              </a:rPr>
              <a:t>Liens, pièces jointes, portail métier, brouillon, retour à la réception.</a:t>
            </a:r>
            <a:endParaRPr lang="en-US" sz="1100"/>
          </a:p>
        </p:txBody>
      </p:sp>
      <p:sp>
        <p:nvSpPr>
          <p:cNvPr id="826179822" name="Shape 19"/>
          <p:cNvSpPr/>
          <p:nvPr/>
        </p:nvSpPr>
        <p:spPr bwMode="auto">
          <a:xfrm>
            <a:off x="731520" y="5001768"/>
            <a:ext cx="10698480" cy="713232"/>
          </a:xfrm>
          <a:prstGeom prst="roundRect">
            <a:avLst>
              <a:gd name="adj" fmla="val 10256"/>
            </a:avLst>
          </a:prstGeom>
          <a:solidFill>
            <a:srgbClr val="111938"/>
          </a:solidFill>
          <a:ln w="12700">
            <a:solidFill>
              <a:srgbClr val="8090CE">
                <a:alpha val="35000"/>
              </a:srgbClr>
            </a:solidFill>
            <a:prstDash val="solid"/>
          </a:ln>
        </p:spPr>
      </p:sp>
      <p:sp>
        <p:nvSpPr>
          <p:cNvPr id="1037977196" name="Text 20"/>
          <p:cNvSpPr/>
          <p:nvPr/>
        </p:nvSpPr>
        <p:spPr bwMode="auto">
          <a:xfrm>
            <a:off x="868680" y="5157216"/>
            <a:ext cx="347472" cy="256032"/>
          </a:xfrm>
          <a:prstGeom prst="rect">
            <a:avLst/>
          </a:prstGeom>
          <a:solidFill>
            <a:srgbClr val="4F46E5"/>
          </a:solidFill>
          <a:ln>
            <a:solidFill>
              <a:srgbClr val="4F46E5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FFFFFF"/>
                </a:solidFill>
              </a:rPr>
              <a:t>5</a:t>
            </a:r>
            <a:endParaRPr lang="en-US" sz="1600"/>
          </a:p>
        </p:txBody>
      </p:sp>
      <p:sp>
        <p:nvSpPr>
          <p:cNvPr id="61357628" name="Text 21"/>
          <p:cNvSpPr/>
          <p:nvPr/>
        </p:nvSpPr>
        <p:spPr bwMode="auto">
          <a:xfrm>
            <a:off x="1371600" y="5111496"/>
            <a:ext cx="26517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F1F5FF"/>
                </a:solidFill>
              </a:rPr>
              <a:t>5. Laisser la main à l’utilisateur</a:t>
            </a:r>
            <a:endParaRPr lang="en-US" sz="1300"/>
          </a:p>
        </p:txBody>
      </p:sp>
      <p:sp>
        <p:nvSpPr>
          <p:cNvPr id="139049870" name="Text 22"/>
          <p:cNvSpPr/>
          <p:nvPr/>
        </p:nvSpPr>
        <p:spPr bwMode="auto">
          <a:xfrm>
            <a:off x="4526280" y="5102352"/>
            <a:ext cx="6263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D7DFFA"/>
                </a:solidFill>
              </a:rPr>
              <a:t>Lecture, correction du textarea, validation, rejet ou ignore.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4">
    <p:bg>
      <p:bgPr shadeToTitle="0">
        <a:solidFill>
          <a:srgbClr val="0B102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2034094" name="Shape 0"/>
          <p:cNvSpPr/>
          <p:nvPr/>
        </p:nvSpPr>
        <p:spPr bwMode="auto">
          <a:xfrm>
            <a:off x="0" y="0"/>
            <a:ext cx="12191695" cy="256032"/>
          </a:xfrm>
          <a:prstGeom prst="rect">
            <a:avLst/>
          </a:prstGeom>
          <a:solidFill>
            <a:srgbClr val="3B2BA3"/>
          </a:solidFill>
          <a:ln w="12700">
            <a:solidFill>
              <a:srgbClr val="3B2BA3">
                <a:alpha val="0"/>
              </a:srgbClr>
            </a:solidFill>
            <a:prstDash val="solid"/>
          </a:ln>
        </p:spPr>
      </p:sp>
      <p:sp>
        <p:nvSpPr>
          <p:cNvPr id="201589164" name="Text 1"/>
          <p:cNvSpPr/>
          <p:nvPr/>
        </p:nvSpPr>
        <p:spPr bwMode="auto">
          <a:xfrm>
            <a:off x="502920" y="4114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F6F8FF"/>
                </a:solidFill>
                <a:latin typeface="Aptos Display"/>
                <a:ea typeface="Aptos Display"/>
                <a:cs typeface="Aptos Display"/>
              </a:rPr>
              <a:t>Architecture modulaire</a:t>
            </a:r>
            <a:endParaRPr lang="en-US" sz="2800"/>
          </a:p>
        </p:txBody>
      </p:sp>
      <p:sp>
        <p:nvSpPr>
          <p:cNvPr id="627283601" name="Text 2"/>
          <p:cNvSpPr/>
          <p:nvPr/>
        </p:nvSpPr>
        <p:spPr bwMode="auto">
          <a:xfrm>
            <a:off x="530352" y="896112"/>
            <a:ext cx="8778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B9C4EF"/>
                </a:solidFill>
                <a:latin typeface="Aptos"/>
                <a:ea typeface="Aptos"/>
                <a:cs typeface="Aptos"/>
              </a:rPr>
              <a:t>Découplage complet entre UI, IA et automation navigateur</a:t>
            </a:r>
            <a:endParaRPr sz="1400"/>
          </a:p>
        </p:txBody>
      </p:sp>
      <p:sp>
        <p:nvSpPr>
          <p:cNvPr id="578883581" name="Shape 3"/>
          <p:cNvSpPr/>
          <p:nvPr/>
        </p:nvSpPr>
        <p:spPr bwMode="auto">
          <a:xfrm>
            <a:off x="2011680" y="1828800"/>
            <a:ext cx="1783080" cy="0"/>
          </a:xfrm>
          <a:prstGeom prst="line">
            <a:avLst/>
          </a:prstGeom>
          <a:noFill/>
          <a:ln w="12700">
            <a:solidFill>
              <a:srgbClr val="90A0D8"/>
            </a:solidFill>
            <a:prstDash val="solid"/>
          </a:ln>
        </p:spPr>
      </p:sp>
      <p:sp>
        <p:nvSpPr>
          <p:cNvPr id="1997211993" name="Shape 4"/>
          <p:cNvSpPr/>
          <p:nvPr/>
        </p:nvSpPr>
        <p:spPr bwMode="auto">
          <a:xfrm>
            <a:off x="5715000" y="1828800"/>
            <a:ext cx="1874520" cy="0"/>
          </a:xfrm>
          <a:prstGeom prst="line">
            <a:avLst/>
          </a:prstGeom>
          <a:noFill/>
          <a:ln w="12700">
            <a:solidFill>
              <a:srgbClr val="90A0D8"/>
            </a:solidFill>
            <a:prstDash val="solid"/>
          </a:ln>
        </p:spPr>
      </p:sp>
      <p:sp>
        <p:nvSpPr>
          <p:cNvPr id="1704521477" name="Shape 5"/>
          <p:cNvSpPr/>
          <p:nvPr/>
        </p:nvSpPr>
        <p:spPr bwMode="auto">
          <a:xfrm>
            <a:off x="9326880" y="1828800"/>
            <a:ext cx="0" cy="2194560"/>
          </a:xfrm>
          <a:prstGeom prst="line">
            <a:avLst/>
          </a:prstGeom>
          <a:noFill/>
          <a:ln w="12700">
            <a:solidFill>
              <a:srgbClr val="90A0D8"/>
            </a:solidFill>
            <a:prstDash val="solid"/>
          </a:ln>
        </p:spPr>
      </p:sp>
      <p:sp>
        <p:nvSpPr>
          <p:cNvPr id="604176113" name="Shape 6"/>
          <p:cNvSpPr/>
          <p:nvPr/>
        </p:nvSpPr>
        <p:spPr bwMode="auto">
          <a:xfrm>
            <a:off x="7589520" y="4023360"/>
            <a:ext cx="0" cy="0"/>
          </a:xfrm>
          <a:prstGeom prst="line">
            <a:avLst/>
          </a:prstGeom>
          <a:noFill/>
          <a:ln w="12700">
            <a:solidFill>
              <a:srgbClr val="90A0D8"/>
            </a:solidFill>
            <a:prstDash val="solid"/>
          </a:ln>
        </p:spPr>
      </p:sp>
      <p:sp>
        <p:nvSpPr>
          <p:cNvPr id="51200600" name="Shape 7"/>
          <p:cNvSpPr/>
          <p:nvPr/>
        </p:nvSpPr>
        <p:spPr bwMode="auto">
          <a:xfrm>
            <a:off x="3794760" y="4023360"/>
            <a:ext cx="0" cy="0"/>
          </a:xfrm>
          <a:prstGeom prst="line">
            <a:avLst/>
          </a:prstGeom>
          <a:noFill/>
          <a:ln w="12700">
            <a:solidFill>
              <a:srgbClr val="90A0D8"/>
            </a:solidFill>
            <a:prstDash val="solid"/>
          </a:ln>
        </p:spPr>
      </p:sp>
      <p:sp>
        <p:nvSpPr>
          <p:cNvPr id="2052999027" name="Shape 8"/>
          <p:cNvSpPr/>
          <p:nvPr/>
        </p:nvSpPr>
        <p:spPr bwMode="auto">
          <a:xfrm>
            <a:off x="5715000" y="1828800"/>
            <a:ext cx="0" cy="2194560"/>
          </a:xfrm>
          <a:prstGeom prst="line">
            <a:avLst/>
          </a:prstGeom>
          <a:noFill/>
          <a:ln w="12700">
            <a:solidFill>
              <a:srgbClr val="90A0D8"/>
            </a:solidFill>
            <a:prstDash val="solid"/>
          </a:ln>
        </p:spPr>
      </p:sp>
      <p:sp>
        <p:nvSpPr>
          <p:cNvPr id="1249976409" name="Shape 9"/>
          <p:cNvSpPr/>
          <p:nvPr/>
        </p:nvSpPr>
        <p:spPr bwMode="auto">
          <a:xfrm flipH="0" flipV="0">
            <a:off x="594360" y="1280160"/>
            <a:ext cx="2468880" cy="1565723"/>
          </a:xfrm>
          <a:prstGeom prst="roundRect">
            <a:avLst>
              <a:gd name="adj" fmla="val 10000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7C8ACB">
                <a:alpha val="35000"/>
              </a:srgbClr>
            </a:solidFill>
            <a:prstDash val="solid"/>
          </a:ln>
          <a:effectLst>
            <a:outerShdw blurRad="19050" dist="15240" dir="2700000" sx="100000" sy="100000" kx="0" ky="0" algn="bl" rotWithShape="0">
              <a:srgbClr val="000000">
                <a:alpha val="18000"/>
              </a:srgbClr>
            </a:outerShdw>
          </a:effectLst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592988651" name="Shape 10"/>
          <p:cNvSpPr/>
          <p:nvPr/>
        </p:nvSpPr>
        <p:spPr bwMode="auto">
          <a:xfrm>
            <a:off x="594360" y="1280160"/>
            <a:ext cx="54864" cy="109728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180890841" name="Text 11"/>
          <p:cNvSpPr/>
          <p:nvPr/>
        </p:nvSpPr>
        <p:spPr bwMode="auto">
          <a:xfrm>
            <a:off x="768096" y="1389887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0070C0"/>
                </a:solidFill>
                <a:latin typeface="Aptos"/>
                <a:ea typeface="Aptos"/>
                <a:cs typeface="Aptos"/>
              </a:rPr>
              <a:t>UI accessible</a:t>
            </a:r>
            <a:endParaRPr sz="1400">
              <a:solidFill>
                <a:srgbClr val="0070C0"/>
              </a:solidFill>
            </a:endParaRPr>
          </a:p>
        </p:txBody>
      </p:sp>
      <p:sp>
        <p:nvSpPr>
          <p:cNvPr id="325370626" name="Text 12"/>
          <p:cNvSpPr/>
          <p:nvPr/>
        </p:nvSpPr>
        <p:spPr bwMode="auto">
          <a:xfrm flipH="0" flipV="0">
            <a:off x="758952" y="1664208"/>
            <a:ext cx="2212848" cy="914511"/>
          </a:xfrm>
          <a:prstGeom prst="rect">
            <a:avLst/>
          </a:prstGeom>
          <a:noFill/>
          <a:ln/>
        </p:spPr>
        <p:txBody>
          <a:bodyPr wrap="square" lIns="253" tIns="253" rIns="253" bIns="253" rtlCol="0" anchor="t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0070C0"/>
                </a:solidFill>
                <a:latin typeface="Aptos"/>
                <a:ea typeface="Aptos"/>
                <a:cs typeface="Aptos"/>
              </a:rPr>
              <a:t>Mail complet, réponse éditable, paramètres visuels, scroll, classification.</a:t>
            </a:r>
            <a:endParaRPr sz="1400">
              <a:solidFill>
                <a:srgbClr val="0070C0"/>
              </a:solidFill>
            </a:endParaRPr>
          </a:p>
        </p:txBody>
      </p:sp>
      <p:sp>
        <p:nvSpPr>
          <p:cNvPr id="702588566" name="Shape 13"/>
          <p:cNvSpPr/>
          <p:nvPr/>
        </p:nvSpPr>
        <p:spPr bwMode="auto">
          <a:xfrm flipH="0" flipV="0">
            <a:off x="3566160" y="1280160"/>
            <a:ext cx="2468880" cy="1565723"/>
          </a:xfrm>
          <a:prstGeom prst="roundRect">
            <a:avLst>
              <a:gd name="adj" fmla="val 10000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7C8ACB">
                <a:alpha val="35000"/>
              </a:srgbClr>
            </a:solidFill>
            <a:prstDash val="solid"/>
          </a:ln>
          <a:effectLst>
            <a:outerShdw blurRad="19050" dist="15240" dir="27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424942330" name="Shape 14"/>
          <p:cNvSpPr/>
          <p:nvPr/>
        </p:nvSpPr>
        <p:spPr bwMode="auto">
          <a:xfrm>
            <a:off x="3566160" y="1280160"/>
            <a:ext cx="54864" cy="10972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941415980" name="Text 15"/>
          <p:cNvSpPr/>
          <p:nvPr/>
        </p:nvSpPr>
        <p:spPr bwMode="auto">
          <a:xfrm>
            <a:off x="3730752" y="1389888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0070C0"/>
                </a:solidFill>
                <a:latin typeface="Aptos"/>
                <a:ea typeface="Aptos"/>
                <a:cs typeface="Aptos"/>
              </a:rPr>
              <a:t>Orchestrateur</a:t>
            </a:r>
            <a:endParaRPr sz="1400">
              <a:solidFill>
                <a:srgbClr val="0070C0"/>
              </a:solidFill>
            </a:endParaRPr>
          </a:p>
        </p:txBody>
      </p:sp>
      <p:sp>
        <p:nvSpPr>
          <p:cNvPr id="1700268085" name="Text 16"/>
          <p:cNvSpPr/>
          <p:nvPr/>
        </p:nvSpPr>
        <p:spPr bwMode="auto">
          <a:xfrm flipH="0" flipV="0">
            <a:off x="3730752" y="1664208"/>
            <a:ext cx="2212848" cy="914511"/>
          </a:xfrm>
          <a:prstGeom prst="rect">
            <a:avLst/>
          </a:prstGeom>
          <a:noFill/>
          <a:ln/>
        </p:spPr>
        <p:txBody>
          <a:bodyPr wrap="square" lIns="253" tIns="253" rIns="253" bIns="253" rtlCol="0" anchor="t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0070C0"/>
                </a:solidFill>
                <a:latin typeface="Aptos"/>
                <a:ea typeface="Aptos"/>
                <a:cs typeface="Aptos"/>
              </a:rPr>
              <a:t>Distribue les tâches, collecte les états, journalise, applique les règles.</a:t>
            </a:r>
            <a:endParaRPr sz="1400">
              <a:solidFill>
                <a:srgbClr val="0070C0"/>
              </a:solidFill>
            </a:endParaRPr>
          </a:p>
        </p:txBody>
      </p:sp>
      <p:sp>
        <p:nvSpPr>
          <p:cNvPr id="2029157449" name="Shape 17"/>
          <p:cNvSpPr/>
          <p:nvPr/>
        </p:nvSpPr>
        <p:spPr bwMode="auto">
          <a:xfrm flipH="0" flipV="0">
            <a:off x="6492240" y="1280160"/>
            <a:ext cx="2468880" cy="1565723"/>
          </a:xfrm>
          <a:prstGeom prst="roundRect">
            <a:avLst>
              <a:gd name="adj" fmla="val 10000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7C8ACB">
                <a:alpha val="35000"/>
              </a:srgbClr>
            </a:solidFill>
            <a:prstDash val="solid"/>
          </a:ln>
          <a:effectLst>
            <a:outerShdw blurRad="19050" dist="15240" dir="27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1072135954" name="Shape 18"/>
          <p:cNvSpPr/>
          <p:nvPr/>
        </p:nvSpPr>
        <p:spPr bwMode="auto">
          <a:xfrm>
            <a:off x="6492240" y="1280160"/>
            <a:ext cx="54864" cy="1097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471779467" name="Text 19"/>
          <p:cNvSpPr/>
          <p:nvPr/>
        </p:nvSpPr>
        <p:spPr bwMode="auto">
          <a:xfrm>
            <a:off x="6656832" y="1389888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0070C0"/>
                </a:solidFill>
                <a:latin typeface="Aptos"/>
                <a:ea typeface="Aptos"/>
                <a:cs typeface="Aptos"/>
              </a:rPr>
              <a:t>Moteur IA</a:t>
            </a:r>
            <a:endParaRPr lang="en-US" sz="1400"/>
          </a:p>
        </p:txBody>
      </p:sp>
      <p:sp>
        <p:nvSpPr>
          <p:cNvPr id="2061801008" name="Text 20"/>
          <p:cNvSpPr/>
          <p:nvPr/>
        </p:nvSpPr>
        <p:spPr bwMode="auto">
          <a:xfrm flipH="0" flipV="0">
            <a:off x="6656832" y="1664207"/>
            <a:ext cx="2212848" cy="1030669"/>
          </a:xfrm>
          <a:prstGeom prst="rect">
            <a:avLst/>
          </a:prstGeom>
          <a:noFill/>
          <a:ln/>
        </p:spPr>
        <p:txBody>
          <a:bodyPr wrap="square" lIns="253" tIns="253" rIns="253" bIns="253" rtlCol="0" anchor="t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0070C0"/>
                </a:solidFill>
                <a:latin typeface="Aptos"/>
                <a:ea typeface="Aptos"/>
                <a:cs typeface="Aptos"/>
              </a:rPr>
              <a:t>LLM local ou distant : compréhension, classification, réponse, confiance.</a:t>
            </a:r>
            <a:endParaRPr sz="1400">
              <a:solidFill>
                <a:srgbClr val="0070C0"/>
              </a:solidFill>
            </a:endParaRPr>
          </a:p>
        </p:txBody>
      </p:sp>
      <p:sp>
        <p:nvSpPr>
          <p:cNvPr id="1347379412" name="Shape 21"/>
          <p:cNvSpPr/>
          <p:nvPr/>
        </p:nvSpPr>
        <p:spPr bwMode="auto">
          <a:xfrm flipH="0" flipV="0">
            <a:off x="9143999" y="1280160"/>
            <a:ext cx="2423160" cy="1565723"/>
          </a:xfrm>
          <a:prstGeom prst="roundRect">
            <a:avLst>
              <a:gd name="adj" fmla="val 10000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7C8ACB">
                <a:alpha val="35000"/>
              </a:srgbClr>
            </a:solidFill>
            <a:prstDash val="solid"/>
          </a:ln>
          <a:effectLst>
            <a:outerShdw blurRad="19050" dist="15240" dir="27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589961810" name="Shape 22"/>
          <p:cNvSpPr/>
          <p:nvPr/>
        </p:nvSpPr>
        <p:spPr bwMode="auto">
          <a:xfrm>
            <a:off x="9144000" y="1280160"/>
            <a:ext cx="54864" cy="10972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1185517341" name="Text 23"/>
          <p:cNvSpPr/>
          <p:nvPr/>
        </p:nvSpPr>
        <p:spPr bwMode="auto">
          <a:xfrm>
            <a:off x="9308592" y="1389888"/>
            <a:ext cx="2148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0070C0"/>
                </a:solidFill>
                <a:latin typeface="Aptos"/>
                <a:ea typeface="Aptos"/>
                <a:cs typeface="Aptos"/>
              </a:rPr>
              <a:t>Browser Use</a:t>
            </a:r>
            <a:endParaRPr sz="1400">
              <a:solidFill>
                <a:srgbClr val="0070C0"/>
              </a:solidFill>
            </a:endParaRPr>
          </a:p>
        </p:txBody>
      </p:sp>
      <p:sp>
        <p:nvSpPr>
          <p:cNvPr id="1010478458" name="Text 24"/>
          <p:cNvSpPr/>
          <p:nvPr/>
        </p:nvSpPr>
        <p:spPr bwMode="auto">
          <a:xfrm flipH="0" flipV="0">
            <a:off x="9308592" y="1664207"/>
            <a:ext cx="2167128" cy="640080"/>
          </a:xfrm>
          <a:prstGeom prst="rect">
            <a:avLst/>
          </a:prstGeom>
          <a:noFill/>
          <a:ln/>
        </p:spPr>
        <p:txBody>
          <a:bodyPr wrap="square" lIns="253" tIns="253" rIns="253" bIns="253" rtlCol="0" anchor="t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0070C0"/>
                </a:solidFill>
                <a:latin typeface="Aptos"/>
                <a:ea typeface="Aptos"/>
                <a:cs typeface="Aptos"/>
              </a:rPr>
              <a:t>Ouvre, clique, scroll, navigue, joint, revient.</a:t>
            </a:r>
            <a:endParaRPr sz="1400">
              <a:solidFill>
                <a:srgbClr val="0070C0"/>
              </a:solidFill>
            </a:endParaRPr>
          </a:p>
        </p:txBody>
      </p:sp>
      <p:sp>
        <p:nvSpPr>
          <p:cNvPr id="722464676" name="Shape 25"/>
          <p:cNvSpPr/>
          <p:nvPr/>
        </p:nvSpPr>
        <p:spPr bwMode="auto">
          <a:xfrm>
            <a:off x="594360" y="3520440"/>
            <a:ext cx="2743200" cy="1143000"/>
          </a:xfrm>
          <a:prstGeom prst="roundRect">
            <a:avLst>
              <a:gd name="adj" fmla="val 9600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7C8ACB">
                <a:alpha val="35000"/>
              </a:srgbClr>
            </a:solidFill>
            <a:prstDash val="solid"/>
          </a:ln>
          <a:effectLst>
            <a:outerShdw blurRad="19050" dist="15240" dir="27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606365842" name="Shape 26"/>
          <p:cNvSpPr/>
          <p:nvPr/>
        </p:nvSpPr>
        <p:spPr bwMode="auto">
          <a:xfrm>
            <a:off x="594360" y="3520440"/>
            <a:ext cx="54864" cy="1143000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>
                <a:alpha val="0"/>
              </a:srgbClr>
            </a:solidFill>
            <a:prstDash val="solid"/>
          </a:ln>
        </p:spPr>
      </p:sp>
      <p:sp>
        <p:nvSpPr>
          <p:cNvPr id="112364907" name="Text 27"/>
          <p:cNvSpPr/>
          <p:nvPr/>
        </p:nvSpPr>
        <p:spPr bwMode="auto">
          <a:xfrm>
            <a:off x="758952" y="3630168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0070C0"/>
                </a:solidFill>
                <a:latin typeface="Aptos"/>
                <a:ea typeface="Aptos"/>
                <a:cs typeface="Aptos"/>
              </a:rPr>
              <a:t>Données &amp; règles</a:t>
            </a:r>
            <a:endParaRPr sz="1400">
              <a:solidFill>
                <a:srgbClr val="0070C0"/>
              </a:solidFill>
            </a:endParaRPr>
          </a:p>
        </p:txBody>
      </p:sp>
      <p:sp>
        <p:nvSpPr>
          <p:cNvPr id="822973488" name="Text 28"/>
          <p:cNvSpPr/>
          <p:nvPr/>
        </p:nvSpPr>
        <p:spPr bwMode="auto">
          <a:xfrm>
            <a:off x="749808" y="3904488"/>
            <a:ext cx="2487168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0070C0"/>
                </a:solidFill>
                <a:latin typeface="Aptos"/>
                <a:ea typeface="Aptos"/>
                <a:cs typeface="Aptos"/>
              </a:rPr>
              <a:t>Prix, âge, références, URLs officielles, documents sortants.</a:t>
            </a:r>
            <a:endParaRPr sz="1400">
              <a:solidFill>
                <a:srgbClr val="0070C0"/>
              </a:solidFill>
            </a:endParaRPr>
          </a:p>
        </p:txBody>
      </p:sp>
      <p:sp>
        <p:nvSpPr>
          <p:cNvPr id="803862366" name="Shape 29"/>
          <p:cNvSpPr/>
          <p:nvPr/>
        </p:nvSpPr>
        <p:spPr bwMode="auto">
          <a:xfrm>
            <a:off x="3840480" y="3520440"/>
            <a:ext cx="3657600" cy="1143000"/>
          </a:xfrm>
          <a:prstGeom prst="roundRect">
            <a:avLst>
              <a:gd name="adj" fmla="val 9600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7C8ACB">
                <a:alpha val="35000"/>
              </a:srgbClr>
            </a:solidFill>
            <a:prstDash val="solid"/>
          </a:ln>
          <a:effectLst>
            <a:outerShdw blurRad="19050" dist="15240" dir="27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1039843385" name="Shape 30"/>
          <p:cNvSpPr/>
          <p:nvPr/>
        </p:nvSpPr>
        <p:spPr bwMode="auto">
          <a:xfrm>
            <a:off x="3840480" y="3520440"/>
            <a:ext cx="54864" cy="114300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>
                <a:alpha val="0"/>
              </a:srgbClr>
            </a:solidFill>
            <a:prstDash val="solid"/>
          </a:ln>
        </p:spPr>
      </p:sp>
      <p:sp>
        <p:nvSpPr>
          <p:cNvPr id="892107621" name="Text 31"/>
          <p:cNvSpPr/>
          <p:nvPr/>
        </p:nvSpPr>
        <p:spPr bwMode="auto">
          <a:xfrm>
            <a:off x="4005072" y="3630168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0070C0"/>
                </a:solidFill>
                <a:latin typeface="Aptos"/>
                <a:ea typeface="Aptos"/>
                <a:cs typeface="Aptos"/>
              </a:rPr>
              <a:t>Journalisation &amp; audit</a:t>
            </a:r>
            <a:endParaRPr sz="1400">
              <a:solidFill>
                <a:srgbClr val="0070C0"/>
              </a:solidFill>
            </a:endParaRPr>
          </a:p>
        </p:txBody>
      </p:sp>
      <p:sp>
        <p:nvSpPr>
          <p:cNvPr id="1263728544" name="Text 32"/>
          <p:cNvSpPr/>
          <p:nvPr/>
        </p:nvSpPr>
        <p:spPr bwMode="auto">
          <a:xfrm>
            <a:off x="4005072" y="3904488"/>
            <a:ext cx="3401568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0070C0"/>
                </a:solidFill>
                <a:latin typeface="Aptos"/>
                <a:ea typeface="Aptos"/>
                <a:cs typeface="Aptos"/>
              </a:rPr>
              <a:t>Actions Browser Use, simulations d’envoi, rejets, métriques.</a:t>
            </a:r>
            <a:endParaRPr sz="1400">
              <a:solidFill>
                <a:srgbClr val="0070C0"/>
              </a:solidFill>
            </a:endParaRPr>
          </a:p>
        </p:txBody>
      </p:sp>
      <p:sp>
        <p:nvSpPr>
          <p:cNvPr id="1148697542" name="Shape 33"/>
          <p:cNvSpPr/>
          <p:nvPr/>
        </p:nvSpPr>
        <p:spPr bwMode="auto">
          <a:xfrm>
            <a:off x="7955280" y="3520440"/>
            <a:ext cx="3611880" cy="1143000"/>
          </a:xfrm>
          <a:prstGeom prst="roundRect">
            <a:avLst>
              <a:gd name="adj" fmla="val 9600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7C8ACB">
                <a:alpha val="35000"/>
              </a:srgbClr>
            </a:solidFill>
            <a:prstDash val="solid"/>
          </a:ln>
          <a:effectLst>
            <a:outerShdw blurRad="19050" dist="15240" dir="27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1942496508" name="Shape 34"/>
          <p:cNvSpPr/>
          <p:nvPr/>
        </p:nvSpPr>
        <p:spPr bwMode="auto">
          <a:xfrm>
            <a:off x="7955280" y="3520440"/>
            <a:ext cx="54864" cy="11430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</p:sp>
      <p:sp>
        <p:nvSpPr>
          <p:cNvPr id="1205777162" name="Text 35"/>
          <p:cNvSpPr/>
          <p:nvPr/>
        </p:nvSpPr>
        <p:spPr bwMode="auto">
          <a:xfrm>
            <a:off x="8119872" y="3630168"/>
            <a:ext cx="3337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0070C0"/>
                </a:solidFill>
                <a:latin typeface="Aptos"/>
                <a:ea typeface="Aptos"/>
                <a:cs typeface="Aptos"/>
              </a:rPr>
              <a:t>Canaux d’exécution</a:t>
            </a:r>
            <a:endParaRPr sz="1400">
              <a:solidFill>
                <a:srgbClr val="0070C0"/>
              </a:solidFill>
            </a:endParaRPr>
          </a:p>
        </p:txBody>
      </p:sp>
      <p:sp>
        <p:nvSpPr>
          <p:cNvPr id="967809641" name="Text 36"/>
          <p:cNvSpPr/>
          <p:nvPr/>
        </p:nvSpPr>
        <p:spPr bwMode="auto">
          <a:xfrm>
            <a:off x="8119872" y="3904488"/>
            <a:ext cx="3355848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0070C0"/>
                </a:solidFill>
                <a:latin typeface="Aptos"/>
                <a:ea typeface="Aptos"/>
                <a:cs typeface="Aptos"/>
              </a:rPr>
              <a:t>Webmail, portail métier, documentation officielle, dépôt documentaire.</a:t>
            </a:r>
            <a:endParaRPr sz="1400">
              <a:solidFill>
                <a:srgbClr val="0070C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bg>
      <p:bgPr shadeToTitle="0">
        <a:solidFill>
          <a:srgbClr val="0B102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287688" name="Shape 0"/>
          <p:cNvSpPr/>
          <p:nvPr/>
        </p:nvSpPr>
        <p:spPr bwMode="auto">
          <a:xfrm>
            <a:off x="0" y="0"/>
            <a:ext cx="12191695" cy="256032"/>
          </a:xfrm>
          <a:prstGeom prst="rect">
            <a:avLst/>
          </a:prstGeom>
          <a:solidFill>
            <a:srgbClr val="3B2BA3"/>
          </a:solidFill>
          <a:ln w="12700">
            <a:solidFill>
              <a:srgbClr val="3B2BA3">
                <a:alpha val="0"/>
              </a:srgbClr>
            </a:solidFill>
            <a:prstDash val="solid"/>
          </a:ln>
        </p:spPr>
      </p:sp>
      <p:sp>
        <p:nvSpPr>
          <p:cNvPr id="1489227906" name="Text 1"/>
          <p:cNvSpPr/>
          <p:nvPr/>
        </p:nvSpPr>
        <p:spPr bwMode="auto">
          <a:xfrm>
            <a:off x="502920" y="4114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F6F8FF"/>
                </a:solidFill>
                <a:latin typeface="Aptos Display"/>
                <a:ea typeface="Aptos Display"/>
                <a:cs typeface="Aptos Display"/>
              </a:rPr>
              <a:t>Gains opérationnels estimés</a:t>
            </a:r>
            <a:endParaRPr lang="en-US" sz="2800"/>
          </a:p>
        </p:txBody>
      </p:sp>
      <p:sp>
        <p:nvSpPr>
          <p:cNvPr id="1268748463" name="Text 2"/>
          <p:cNvSpPr/>
          <p:nvPr/>
        </p:nvSpPr>
        <p:spPr bwMode="auto">
          <a:xfrm>
            <a:off x="530352" y="896112"/>
            <a:ext cx="8778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B9C4EF"/>
                </a:solidFill>
                <a:latin typeface="Aptos"/>
                <a:ea typeface="Aptos"/>
                <a:cs typeface="Aptos"/>
              </a:rPr>
              <a:t>Ordres de grandeur à valider en tests utilisateurs</a:t>
            </a:r>
            <a:endParaRPr lang="en-US" sz="1100"/>
          </a:p>
        </p:txBody>
      </p:sp>
      <p:sp>
        <p:nvSpPr>
          <p:cNvPr id="654399205" name="Shape 3"/>
          <p:cNvSpPr/>
          <p:nvPr/>
        </p:nvSpPr>
        <p:spPr bwMode="auto">
          <a:xfrm>
            <a:off x="502920" y="1417320"/>
            <a:ext cx="2011680" cy="457200"/>
          </a:xfrm>
          <a:prstGeom prst="rect">
            <a:avLst/>
          </a:prstGeom>
          <a:solidFill>
            <a:srgbClr val="DDE6FF"/>
          </a:solidFill>
          <a:ln w="12700">
            <a:solidFill>
              <a:srgbClr val="A7B4E5"/>
            </a:solidFill>
            <a:prstDash val="solid"/>
          </a:ln>
        </p:spPr>
      </p:sp>
      <p:sp>
        <p:nvSpPr>
          <p:cNvPr id="1448656837" name="Text 4"/>
          <p:cNvSpPr/>
          <p:nvPr/>
        </p:nvSpPr>
        <p:spPr bwMode="auto">
          <a:xfrm>
            <a:off x="557784" y="1490472"/>
            <a:ext cx="19019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 b="1">
                <a:solidFill>
                  <a:srgbClr val="1E2B5C"/>
                </a:solidFill>
              </a:rPr>
              <a:t>Tâche</a:t>
            </a:r>
            <a:endParaRPr lang="en-US" sz="1050"/>
          </a:p>
        </p:txBody>
      </p:sp>
      <p:sp>
        <p:nvSpPr>
          <p:cNvPr id="827406199" name="Shape 5"/>
          <p:cNvSpPr/>
          <p:nvPr/>
        </p:nvSpPr>
        <p:spPr bwMode="auto">
          <a:xfrm>
            <a:off x="2514600" y="1417320"/>
            <a:ext cx="1920240" cy="457200"/>
          </a:xfrm>
          <a:prstGeom prst="rect">
            <a:avLst/>
          </a:prstGeom>
          <a:solidFill>
            <a:srgbClr val="DDE6FF"/>
          </a:solidFill>
          <a:ln w="12700">
            <a:solidFill>
              <a:srgbClr val="A7B4E5"/>
            </a:solidFill>
            <a:prstDash val="solid"/>
          </a:ln>
        </p:spPr>
      </p:sp>
      <p:sp>
        <p:nvSpPr>
          <p:cNvPr id="774356705" name="Text 6"/>
          <p:cNvSpPr/>
          <p:nvPr/>
        </p:nvSpPr>
        <p:spPr bwMode="auto">
          <a:xfrm>
            <a:off x="2569464" y="1490472"/>
            <a:ext cx="18105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 b="1">
                <a:solidFill>
                  <a:srgbClr val="1E2B5C"/>
                </a:solidFill>
              </a:rPr>
              <a:t>Manuel</a:t>
            </a:r>
            <a:endParaRPr lang="en-US" sz="1050"/>
          </a:p>
        </p:txBody>
      </p:sp>
      <p:sp>
        <p:nvSpPr>
          <p:cNvPr id="1547579305" name="Shape 7"/>
          <p:cNvSpPr/>
          <p:nvPr/>
        </p:nvSpPr>
        <p:spPr bwMode="auto">
          <a:xfrm>
            <a:off x="4434840" y="1417320"/>
            <a:ext cx="2286000" cy="457200"/>
          </a:xfrm>
          <a:prstGeom prst="rect">
            <a:avLst/>
          </a:prstGeom>
          <a:solidFill>
            <a:srgbClr val="DDE6FF"/>
          </a:solidFill>
          <a:ln w="12700">
            <a:solidFill>
              <a:srgbClr val="A7B4E5"/>
            </a:solidFill>
            <a:prstDash val="solid"/>
          </a:ln>
        </p:spPr>
      </p:sp>
      <p:sp>
        <p:nvSpPr>
          <p:cNvPr id="999652399" name="Text 8"/>
          <p:cNvSpPr/>
          <p:nvPr/>
        </p:nvSpPr>
        <p:spPr bwMode="auto">
          <a:xfrm>
            <a:off x="4489704" y="1490472"/>
            <a:ext cx="21762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 b="1">
                <a:solidFill>
                  <a:srgbClr val="1E2B5C"/>
                </a:solidFill>
              </a:rPr>
              <a:t>Avec Browser Use</a:t>
            </a:r>
            <a:endParaRPr lang="en-US" sz="1050"/>
          </a:p>
        </p:txBody>
      </p:sp>
      <p:sp>
        <p:nvSpPr>
          <p:cNvPr id="258148630" name="Shape 9"/>
          <p:cNvSpPr/>
          <p:nvPr/>
        </p:nvSpPr>
        <p:spPr bwMode="auto">
          <a:xfrm>
            <a:off x="6720840" y="1417320"/>
            <a:ext cx="1097280" cy="457200"/>
          </a:xfrm>
          <a:prstGeom prst="rect">
            <a:avLst/>
          </a:prstGeom>
          <a:solidFill>
            <a:srgbClr val="DDE6FF"/>
          </a:solidFill>
          <a:ln w="12700">
            <a:solidFill>
              <a:srgbClr val="A7B4E5"/>
            </a:solidFill>
            <a:prstDash val="solid"/>
          </a:ln>
        </p:spPr>
      </p:sp>
      <p:sp>
        <p:nvSpPr>
          <p:cNvPr id="1021269813" name="Text 10"/>
          <p:cNvSpPr/>
          <p:nvPr/>
        </p:nvSpPr>
        <p:spPr bwMode="auto">
          <a:xfrm>
            <a:off x="6775704" y="1490472"/>
            <a:ext cx="9875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 b="1">
                <a:solidFill>
                  <a:srgbClr val="1E2B5C"/>
                </a:solidFill>
              </a:rPr>
              <a:t>Gain temps</a:t>
            </a:r>
            <a:endParaRPr lang="en-US" sz="1050"/>
          </a:p>
        </p:txBody>
      </p:sp>
      <p:sp>
        <p:nvSpPr>
          <p:cNvPr id="332376457" name="Shape 11"/>
          <p:cNvSpPr/>
          <p:nvPr/>
        </p:nvSpPr>
        <p:spPr bwMode="auto">
          <a:xfrm>
            <a:off x="7818120" y="1417320"/>
            <a:ext cx="3840480" cy="457200"/>
          </a:xfrm>
          <a:prstGeom prst="rect">
            <a:avLst/>
          </a:prstGeom>
          <a:solidFill>
            <a:srgbClr val="DDE6FF"/>
          </a:solidFill>
          <a:ln w="12700">
            <a:solidFill>
              <a:srgbClr val="A7B4E5"/>
            </a:solidFill>
            <a:prstDash val="solid"/>
          </a:ln>
        </p:spPr>
      </p:sp>
      <p:sp>
        <p:nvSpPr>
          <p:cNvPr id="346640455" name="Text 12"/>
          <p:cNvSpPr/>
          <p:nvPr/>
        </p:nvSpPr>
        <p:spPr bwMode="auto">
          <a:xfrm>
            <a:off x="7872984" y="1490472"/>
            <a:ext cx="37307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 b="1">
                <a:solidFill>
                  <a:srgbClr val="1E2B5C"/>
                </a:solidFill>
              </a:rPr>
              <a:t>Impact accessibilité</a:t>
            </a:r>
            <a:endParaRPr lang="en-US" sz="1050"/>
          </a:p>
        </p:txBody>
      </p:sp>
      <p:sp>
        <p:nvSpPr>
          <p:cNvPr id="1287618893" name="Shape 13"/>
          <p:cNvSpPr/>
          <p:nvPr/>
        </p:nvSpPr>
        <p:spPr bwMode="auto">
          <a:xfrm>
            <a:off x="502920" y="1874520"/>
            <a:ext cx="2011680" cy="566928"/>
          </a:xfrm>
          <a:prstGeom prst="rect">
            <a:avLst/>
          </a:prstGeom>
          <a:solidFill>
            <a:srgbClr val="131B36"/>
          </a:solidFill>
          <a:ln w="12700">
            <a:solidFill>
              <a:srgbClr val="6E7CB8">
                <a:alpha val="35000"/>
              </a:srgbClr>
            </a:solidFill>
            <a:prstDash val="solid"/>
          </a:ln>
        </p:spPr>
      </p:sp>
      <p:sp>
        <p:nvSpPr>
          <p:cNvPr id="208573452" name="Text 14"/>
          <p:cNvSpPr/>
          <p:nvPr/>
        </p:nvSpPr>
        <p:spPr bwMode="auto">
          <a:xfrm>
            <a:off x="557784" y="1947671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6EDFF"/>
                </a:solidFill>
              </a:rPr>
              <a:t>Ouvrir la messagerie</a:t>
            </a:r>
            <a:endParaRPr lang="en-US" sz="1000"/>
          </a:p>
        </p:txBody>
      </p:sp>
      <p:sp>
        <p:nvSpPr>
          <p:cNvPr id="1613283149" name="Shape 15"/>
          <p:cNvSpPr/>
          <p:nvPr/>
        </p:nvSpPr>
        <p:spPr bwMode="auto">
          <a:xfrm>
            <a:off x="2514600" y="1874520"/>
            <a:ext cx="1920240" cy="566928"/>
          </a:xfrm>
          <a:prstGeom prst="rect">
            <a:avLst/>
          </a:prstGeom>
          <a:solidFill>
            <a:srgbClr val="131B36"/>
          </a:solidFill>
          <a:ln w="12700">
            <a:solidFill>
              <a:srgbClr val="6E7CB8">
                <a:alpha val="35000"/>
              </a:srgbClr>
            </a:solidFill>
            <a:prstDash val="solid"/>
          </a:ln>
        </p:spPr>
      </p:sp>
      <p:sp>
        <p:nvSpPr>
          <p:cNvPr id="471783703" name="Text 16"/>
          <p:cNvSpPr/>
          <p:nvPr/>
        </p:nvSpPr>
        <p:spPr bwMode="auto">
          <a:xfrm>
            <a:off x="2569464" y="1947671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6EDFF"/>
                </a:solidFill>
              </a:rPr>
              <a:t>navigation complète</a:t>
            </a:r>
            <a:endParaRPr lang="en-US" sz="1000"/>
          </a:p>
        </p:txBody>
      </p:sp>
      <p:sp>
        <p:nvSpPr>
          <p:cNvPr id="918748814" name="Shape 17"/>
          <p:cNvSpPr/>
          <p:nvPr/>
        </p:nvSpPr>
        <p:spPr bwMode="auto">
          <a:xfrm>
            <a:off x="4434840" y="1874520"/>
            <a:ext cx="2286000" cy="566928"/>
          </a:xfrm>
          <a:prstGeom prst="rect">
            <a:avLst/>
          </a:prstGeom>
          <a:solidFill>
            <a:srgbClr val="131B36"/>
          </a:solidFill>
          <a:ln w="12700">
            <a:solidFill>
              <a:srgbClr val="6E7CB8">
                <a:alpha val="35000"/>
              </a:srgbClr>
            </a:solidFill>
            <a:prstDash val="solid"/>
          </a:ln>
        </p:spPr>
      </p:sp>
      <p:sp>
        <p:nvSpPr>
          <p:cNvPr id="322234458" name="Text 18"/>
          <p:cNvSpPr/>
          <p:nvPr/>
        </p:nvSpPr>
        <p:spPr bwMode="auto">
          <a:xfrm>
            <a:off x="4489704" y="1947671"/>
            <a:ext cx="21762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6EDFF"/>
                </a:solidFill>
              </a:rPr>
              <a:t>ouverture automatique</a:t>
            </a:r>
            <a:endParaRPr lang="en-US" sz="1000"/>
          </a:p>
        </p:txBody>
      </p:sp>
      <p:sp>
        <p:nvSpPr>
          <p:cNvPr id="280401203" name="Shape 19"/>
          <p:cNvSpPr/>
          <p:nvPr/>
        </p:nvSpPr>
        <p:spPr bwMode="auto">
          <a:xfrm>
            <a:off x="6720840" y="1874520"/>
            <a:ext cx="1097280" cy="566928"/>
          </a:xfrm>
          <a:prstGeom prst="rect">
            <a:avLst/>
          </a:prstGeom>
          <a:solidFill>
            <a:srgbClr val="131B36"/>
          </a:solidFill>
          <a:ln w="12700">
            <a:solidFill>
              <a:srgbClr val="6E7CB8">
                <a:alpha val="35000"/>
              </a:srgbClr>
            </a:solidFill>
            <a:prstDash val="solid"/>
          </a:ln>
        </p:spPr>
      </p:sp>
      <p:sp>
        <p:nvSpPr>
          <p:cNvPr id="1762420300" name="Text 20"/>
          <p:cNvSpPr/>
          <p:nvPr/>
        </p:nvSpPr>
        <p:spPr bwMode="auto">
          <a:xfrm>
            <a:off x="6775704" y="1947671"/>
            <a:ext cx="987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6EDFF"/>
                </a:solidFill>
              </a:rPr>
              <a:t>30–60 s</a:t>
            </a:r>
            <a:endParaRPr lang="en-US" sz="1000"/>
          </a:p>
        </p:txBody>
      </p:sp>
      <p:sp>
        <p:nvSpPr>
          <p:cNvPr id="366242826" name="Shape 21"/>
          <p:cNvSpPr/>
          <p:nvPr/>
        </p:nvSpPr>
        <p:spPr bwMode="auto">
          <a:xfrm>
            <a:off x="7818120" y="1874520"/>
            <a:ext cx="3840480" cy="566928"/>
          </a:xfrm>
          <a:prstGeom prst="rect">
            <a:avLst/>
          </a:prstGeom>
          <a:solidFill>
            <a:srgbClr val="131B36"/>
          </a:solidFill>
          <a:ln w="12700">
            <a:solidFill>
              <a:srgbClr val="6E7CB8">
                <a:alpha val="35000"/>
              </a:srgbClr>
            </a:solidFill>
            <a:prstDash val="solid"/>
          </a:ln>
        </p:spPr>
      </p:sp>
      <p:sp>
        <p:nvSpPr>
          <p:cNvPr id="1555531596" name="Text 22"/>
          <p:cNvSpPr/>
          <p:nvPr/>
        </p:nvSpPr>
        <p:spPr bwMode="auto">
          <a:xfrm>
            <a:off x="7872984" y="1947671"/>
            <a:ext cx="3730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6EDFF"/>
                </a:solidFill>
              </a:rPr>
              <a:t>moins de recherche visuelle</a:t>
            </a:r>
            <a:endParaRPr lang="en-US" sz="1000"/>
          </a:p>
        </p:txBody>
      </p:sp>
      <p:sp>
        <p:nvSpPr>
          <p:cNvPr id="478885411" name="Shape 23"/>
          <p:cNvSpPr/>
          <p:nvPr/>
        </p:nvSpPr>
        <p:spPr bwMode="auto">
          <a:xfrm>
            <a:off x="502920" y="2441448"/>
            <a:ext cx="2011680" cy="566928"/>
          </a:xfrm>
          <a:prstGeom prst="rect">
            <a:avLst/>
          </a:prstGeom>
          <a:solidFill>
            <a:srgbClr val="0F1730"/>
          </a:solidFill>
          <a:ln w="12700">
            <a:solidFill>
              <a:srgbClr val="6E7CB8">
                <a:alpha val="35000"/>
              </a:srgbClr>
            </a:solidFill>
            <a:prstDash val="solid"/>
          </a:ln>
        </p:spPr>
      </p:sp>
      <p:sp>
        <p:nvSpPr>
          <p:cNvPr id="1479429543" name="Text 24"/>
          <p:cNvSpPr/>
          <p:nvPr/>
        </p:nvSpPr>
        <p:spPr bwMode="auto">
          <a:xfrm>
            <a:off x="557784" y="2514600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6EDFF"/>
                </a:solidFill>
              </a:rPr>
              <a:t>Sélectionner le mail</a:t>
            </a:r>
            <a:endParaRPr lang="en-US" sz="1000"/>
          </a:p>
        </p:txBody>
      </p:sp>
      <p:sp>
        <p:nvSpPr>
          <p:cNvPr id="146398090" name="Shape 25"/>
          <p:cNvSpPr/>
          <p:nvPr/>
        </p:nvSpPr>
        <p:spPr bwMode="auto">
          <a:xfrm>
            <a:off x="2514600" y="2441448"/>
            <a:ext cx="1920240" cy="566928"/>
          </a:xfrm>
          <a:prstGeom prst="rect">
            <a:avLst/>
          </a:prstGeom>
          <a:solidFill>
            <a:srgbClr val="0F1730"/>
          </a:solidFill>
          <a:ln w="12700">
            <a:solidFill>
              <a:srgbClr val="6E7CB8">
                <a:alpha val="35000"/>
              </a:srgbClr>
            </a:solidFill>
            <a:prstDash val="solid"/>
          </a:ln>
        </p:spPr>
      </p:sp>
      <p:sp>
        <p:nvSpPr>
          <p:cNvPr id="174067702" name="Text 26"/>
          <p:cNvSpPr/>
          <p:nvPr/>
        </p:nvSpPr>
        <p:spPr bwMode="auto">
          <a:xfrm>
            <a:off x="2569464" y="2514600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6EDFF"/>
                </a:solidFill>
              </a:rPr>
              <a:t>parcours et ciblage</a:t>
            </a:r>
            <a:endParaRPr lang="en-US" sz="1000"/>
          </a:p>
        </p:txBody>
      </p:sp>
      <p:sp>
        <p:nvSpPr>
          <p:cNvPr id="1498041671" name="Shape 27"/>
          <p:cNvSpPr/>
          <p:nvPr/>
        </p:nvSpPr>
        <p:spPr bwMode="auto">
          <a:xfrm>
            <a:off x="4434840" y="2441448"/>
            <a:ext cx="2286000" cy="566928"/>
          </a:xfrm>
          <a:prstGeom prst="rect">
            <a:avLst/>
          </a:prstGeom>
          <a:solidFill>
            <a:srgbClr val="0F1730"/>
          </a:solidFill>
          <a:ln w="12700">
            <a:solidFill>
              <a:srgbClr val="6E7CB8">
                <a:alpha val="35000"/>
              </a:srgbClr>
            </a:solidFill>
            <a:prstDash val="solid"/>
          </a:ln>
        </p:spPr>
      </p:sp>
      <p:sp>
        <p:nvSpPr>
          <p:cNvPr id="1988198485" name="Text 28"/>
          <p:cNvSpPr/>
          <p:nvPr/>
        </p:nvSpPr>
        <p:spPr bwMode="auto">
          <a:xfrm>
            <a:off x="4489704" y="2514600"/>
            <a:ext cx="21762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6EDFF"/>
                </a:solidFill>
              </a:rPr>
              <a:t>sélection automatique</a:t>
            </a:r>
            <a:endParaRPr lang="en-US" sz="1000"/>
          </a:p>
        </p:txBody>
      </p:sp>
      <p:sp>
        <p:nvSpPr>
          <p:cNvPr id="782989885" name="Shape 29"/>
          <p:cNvSpPr/>
          <p:nvPr/>
        </p:nvSpPr>
        <p:spPr bwMode="auto">
          <a:xfrm>
            <a:off x="6720840" y="2441448"/>
            <a:ext cx="1097280" cy="566928"/>
          </a:xfrm>
          <a:prstGeom prst="rect">
            <a:avLst/>
          </a:prstGeom>
          <a:solidFill>
            <a:srgbClr val="0F1730"/>
          </a:solidFill>
          <a:ln w="12700">
            <a:solidFill>
              <a:srgbClr val="6E7CB8">
                <a:alpha val="35000"/>
              </a:srgbClr>
            </a:solidFill>
            <a:prstDash val="solid"/>
          </a:ln>
        </p:spPr>
      </p:sp>
      <p:sp>
        <p:nvSpPr>
          <p:cNvPr id="1302190037" name="Text 30"/>
          <p:cNvSpPr/>
          <p:nvPr/>
        </p:nvSpPr>
        <p:spPr bwMode="auto">
          <a:xfrm>
            <a:off x="6775704" y="2514600"/>
            <a:ext cx="987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6EDFF"/>
                </a:solidFill>
              </a:rPr>
              <a:t>15–45 s</a:t>
            </a:r>
            <a:endParaRPr lang="en-US" sz="1000"/>
          </a:p>
        </p:txBody>
      </p:sp>
      <p:sp>
        <p:nvSpPr>
          <p:cNvPr id="532435966" name="Shape 31"/>
          <p:cNvSpPr/>
          <p:nvPr/>
        </p:nvSpPr>
        <p:spPr bwMode="auto">
          <a:xfrm>
            <a:off x="7818120" y="2441448"/>
            <a:ext cx="3840480" cy="566928"/>
          </a:xfrm>
          <a:prstGeom prst="rect">
            <a:avLst/>
          </a:prstGeom>
          <a:solidFill>
            <a:srgbClr val="0F1730"/>
          </a:solidFill>
          <a:ln w="12700">
            <a:solidFill>
              <a:srgbClr val="6E7CB8">
                <a:alpha val="35000"/>
              </a:srgbClr>
            </a:solidFill>
            <a:prstDash val="solid"/>
          </a:ln>
        </p:spPr>
      </p:sp>
      <p:sp>
        <p:nvSpPr>
          <p:cNvPr id="150302317" name="Text 32"/>
          <p:cNvSpPr/>
          <p:nvPr/>
        </p:nvSpPr>
        <p:spPr bwMode="auto">
          <a:xfrm>
            <a:off x="7872984" y="2514600"/>
            <a:ext cx="3730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6EDFF"/>
                </a:solidFill>
              </a:rPr>
              <a:t>moins de balayage cognitif</a:t>
            </a:r>
            <a:endParaRPr lang="en-US" sz="1000"/>
          </a:p>
        </p:txBody>
      </p:sp>
      <p:sp>
        <p:nvSpPr>
          <p:cNvPr id="1898092609" name="Shape 33"/>
          <p:cNvSpPr/>
          <p:nvPr/>
        </p:nvSpPr>
        <p:spPr bwMode="auto">
          <a:xfrm>
            <a:off x="502920" y="3008376"/>
            <a:ext cx="2011680" cy="566928"/>
          </a:xfrm>
          <a:prstGeom prst="rect">
            <a:avLst/>
          </a:prstGeom>
          <a:solidFill>
            <a:srgbClr val="131B36"/>
          </a:solidFill>
          <a:ln w="12700">
            <a:solidFill>
              <a:srgbClr val="6E7CB8">
                <a:alpha val="35000"/>
              </a:srgbClr>
            </a:solidFill>
            <a:prstDash val="solid"/>
          </a:ln>
        </p:spPr>
      </p:sp>
      <p:sp>
        <p:nvSpPr>
          <p:cNvPr id="294443514" name="Text 34"/>
          <p:cNvSpPr/>
          <p:nvPr/>
        </p:nvSpPr>
        <p:spPr bwMode="auto">
          <a:xfrm>
            <a:off x="557784" y="3081528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6EDFF"/>
                </a:solidFill>
              </a:rPr>
              <a:t>Ouvrir lien / PJ</a:t>
            </a:r>
            <a:endParaRPr lang="en-US" sz="1000"/>
          </a:p>
        </p:txBody>
      </p:sp>
      <p:sp>
        <p:nvSpPr>
          <p:cNvPr id="345919155" name="Shape 35"/>
          <p:cNvSpPr/>
          <p:nvPr/>
        </p:nvSpPr>
        <p:spPr bwMode="auto">
          <a:xfrm>
            <a:off x="2514600" y="3008376"/>
            <a:ext cx="1920240" cy="566928"/>
          </a:xfrm>
          <a:prstGeom prst="rect">
            <a:avLst/>
          </a:prstGeom>
          <a:solidFill>
            <a:srgbClr val="131B36"/>
          </a:solidFill>
          <a:ln w="12700">
            <a:solidFill>
              <a:srgbClr val="6E7CB8">
                <a:alpha val="35000"/>
              </a:srgbClr>
            </a:solidFill>
            <a:prstDash val="solid"/>
          </a:ln>
        </p:spPr>
      </p:sp>
      <p:sp>
        <p:nvSpPr>
          <p:cNvPr id="1675469882" name="Text 36"/>
          <p:cNvSpPr/>
          <p:nvPr/>
        </p:nvSpPr>
        <p:spPr bwMode="auto">
          <a:xfrm>
            <a:off x="2569464" y="3081528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6EDFF"/>
                </a:solidFill>
              </a:rPr>
              <a:t>onglets + retour</a:t>
            </a:r>
            <a:endParaRPr lang="en-US" sz="1000"/>
          </a:p>
        </p:txBody>
      </p:sp>
      <p:sp>
        <p:nvSpPr>
          <p:cNvPr id="2089596703" name="Shape 37"/>
          <p:cNvSpPr/>
          <p:nvPr/>
        </p:nvSpPr>
        <p:spPr bwMode="auto">
          <a:xfrm>
            <a:off x="4434840" y="3008376"/>
            <a:ext cx="2286000" cy="566928"/>
          </a:xfrm>
          <a:prstGeom prst="rect">
            <a:avLst/>
          </a:prstGeom>
          <a:solidFill>
            <a:srgbClr val="131B36"/>
          </a:solidFill>
          <a:ln w="12700">
            <a:solidFill>
              <a:srgbClr val="6E7CB8">
                <a:alpha val="35000"/>
              </a:srgbClr>
            </a:solidFill>
            <a:prstDash val="solid"/>
          </a:ln>
        </p:spPr>
      </p:sp>
      <p:sp>
        <p:nvSpPr>
          <p:cNvPr id="1344575539" name="Text 38"/>
          <p:cNvSpPr/>
          <p:nvPr/>
        </p:nvSpPr>
        <p:spPr bwMode="auto">
          <a:xfrm>
            <a:off x="4489704" y="3081528"/>
            <a:ext cx="21762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6EDFF"/>
                </a:solidFill>
              </a:rPr>
              <a:t>ouverture et retour automatiques</a:t>
            </a:r>
            <a:endParaRPr lang="en-US" sz="1000"/>
          </a:p>
        </p:txBody>
      </p:sp>
      <p:sp>
        <p:nvSpPr>
          <p:cNvPr id="1465213772" name="Shape 39"/>
          <p:cNvSpPr/>
          <p:nvPr/>
        </p:nvSpPr>
        <p:spPr bwMode="auto">
          <a:xfrm>
            <a:off x="6720840" y="3008376"/>
            <a:ext cx="1097280" cy="566928"/>
          </a:xfrm>
          <a:prstGeom prst="rect">
            <a:avLst/>
          </a:prstGeom>
          <a:solidFill>
            <a:srgbClr val="131B36"/>
          </a:solidFill>
          <a:ln w="12700">
            <a:solidFill>
              <a:srgbClr val="6E7CB8">
                <a:alpha val="35000"/>
              </a:srgbClr>
            </a:solidFill>
            <a:prstDash val="solid"/>
          </a:ln>
        </p:spPr>
      </p:sp>
      <p:sp>
        <p:nvSpPr>
          <p:cNvPr id="575892416" name="Text 40"/>
          <p:cNvSpPr/>
          <p:nvPr/>
        </p:nvSpPr>
        <p:spPr bwMode="auto">
          <a:xfrm>
            <a:off x="6775704" y="3081528"/>
            <a:ext cx="987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6EDFF"/>
                </a:solidFill>
              </a:rPr>
              <a:t>20–120 s</a:t>
            </a:r>
            <a:endParaRPr lang="en-US" sz="1000"/>
          </a:p>
        </p:txBody>
      </p:sp>
      <p:sp>
        <p:nvSpPr>
          <p:cNvPr id="2079671171" name="Shape 41"/>
          <p:cNvSpPr/>
          <p:nvPr/>
        </p:nvSpPr>
        <p:spPr bwMode="auto">
          <a:xfrm>
            <a:off x="7818120" y="3008376"/>
            <a:ext cx="3840480" cy="566928"/>
          </a:xfrm>
          <a:prstGeom prst="rect">
            <a:avLst/>
          </a:prstGeom>
          <a:solidFill>
            <a:srgbClr val="131B36"/>
          </a:solidFill>
          <a:ln w="12700">
            <a:solidFill>
              <a:srgbClr val="6E7CB8">
                <a:alpha val="35000"/>
              </a:srgbClr>
            </a:solidFill>
            <a:prstDash val="solid"/>
          </a:ln>
        </p:spPr>
      </p:sp>
      <p:sp>
        <p:nvSpPr>
          <p:cNvPr id="2059827925" name="Text 42"/>
          <p:cNvSpPr/>
          <p:nvPr/>
        </p:nvSpPr>
        <p:spPr bwMode="auto">
          <a:xfrm>
            <a:off x="7872984" y="3081528"/>
            <a:ext cx="3730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6EDFF"/>
                </a:solidFill>
              </a:rPr>
              <a:t>fort gain moteur</a:t>
            </a:r>
            <a:endParaRPr lang="en-US" sz="1000"/>
          </a:p>
        </p:txBody>
      </p:sp>
      <p:sp>
        <p:nvSpPr>
          <p:cNvPr id="1374003134" name="Shape 43"/>
          <p:cNvSpPr/>
          <p:nvPr/>
        </p:nvSpPr>
        <p:spPr bwMode="auto">
          <a:xfrm>
            <a:off x="502920" y="3575303"/>
            <a:ext cx="2011680" cy="566928"/>
          </a:xfrm>
          <a:prstGeom prst="rect">
            <a:avLst/>
          </a:prstGeom>
          <a:solidFill>
            <a:srgbClr val="0F1730"/>
          </a:solidFill>
          <a:ln w="12700">
            <a:solidFill>
              <a:srgbClr val="6E7CB8">
                <a:alpha val="35000"/>
              </a:srgbClr>
            </a:solidFill>
            <a:prstDash val="solid"/>
          </a:ln>
        </p:spPr>
      </p:sp>
      <p:sp>
        <p:nvSpPr>
          <p:cNvPr id="2044026560" name="Text 44"/>
          <p:cNvSpPr/>
          <p:nvPr/>
        </p:nvSpPr>
        <p:spPr bwMode="auto">
          <a:xfrm>
            <a:off x="557784" y="3648456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6EDFF"/>
                </a:solidFill>
              </a:rPr>
              <a:t>Remplir le brouillon</a:t>
            </a:r>
            <a:endParaRPr lang="en-US" sz="1000"/>
          </a:p>
        </p:txBody>
      </p:sp>
      <p:sp>
        <p:nvSpPr>
          <p:cNvPr id="1416992210" name="Shape 45"/>
          <p:cNvSpPr/>
          <p:nvPr/>
        </p:nvSpPr>
        <p:spPr bwMode="auto">
          <a:xfrm>
            <a:off x="2514600" y="3575303"/>
            <a:ext cx="1920240" cy="566928"/>
          </a:xfrm>
          <a:prstGeom prst="rect">
            <a:avLst/>
          </a:prstGeom>
          <a:solidFill>
            <a:srgbClr val="0F1730"/>
          </a:solidFill>
          <a:ln w="12700">
            <a:solidFill>
              <a:srgbClr val="6E7CB8">
                <a:alpha val="35000"/>
              </a:srgbClr>
            </a:solidFill>
            <a:prstDash val="solid"/>
          </a:ln>
        </p:spPr>
      </p:sp>
      <p:sp>
        <p:nvSpPr>
          <p:cNvPr id="2086733832" name="Text 46"/>
          <p:cNvSpPr/>
          <p:nvPr/>
        </p:nvSpPr>
        <p:spPr bwMode="auto">
          <a:xfrm>
            <a:off x="2569464" y="3648456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6EDFF"/>
                </a:solidFill>
              </a:rPr>
              <a:t>copier / saisir</a:t>
            </a:r>
            <a:endParaRPr lang="en-US" sz="1000"/>
          </a:p>
        </p:txBody>
      </p:sp>
      <p:sp>
        <p:nvSpPr>
          <p:cNvPr id="399978057" name="Shape 47"/>
          <p:cNvSpPr/>
          <p:nvPr/>
        </p:nvSpPr>
        <p:spPr bwMode="auto">
          <a:xfrm>
            <a:off x="4434840" y="3575303"/>
            <a:ext cx="2286000" cy="566928"/>
          </a:xfrm>
          <a:prstGeom prst="rect">
            <a:avLst/>
          </a:prstGeom>
          <a:solidFill>
            <a:srgbClr val="0F1730"/>
          </a:solidFill>
          <a:ln w="12700">
            <a:solidFill>
              <a:srgbClr val="6E7CB8">
                <a:alpha val="35000"/>
              </a:srgbClr>
            </a:solidFill>
            <a:prstDash val="solid"/>
          </a:ln>
        </p:spPr>
      </p:sp>
      <p:sp>
        <p:nvSpPr>
          <p:cNvPr id="1845980440" name="Text 48"/>
          <p:cNvSpPr/>
          <p:nvPr/>
        </p:nvSpPr>
        <p:spPr bwMode="auto">
          <a:xfrm>
            <a:off x="4489704" y="3648456"/>
            <a:ext cx="21762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6EDFF"/>
                </a:solidFill>
              </a:rPr>
              <a:t>insertion automatique</a:t>
            </a:r>
            <a:endParaRPr lang="en-US" sz="1000"/>
          </a:p>
        </p:txBody>
      </p:sp>
      <p:sp>
        <p:nvSpPr>
          <p:cNvPr id="487793605" name="Shape 49"/>
          <p:cNvSpPr/>
          <p:nvPr/>
        </p:nvSpPr>
        <p:spPr bwMode="auto">
          <a:xfrm>
            <a:off x="6720840" y="3575303"/>
            <a:ext cx="1097280" cy="566928"/>
          </a:xfrm>
          <a:prstGeom prst="rect">
            <a:avLst/>
          </a:prstGeom>
          <a:solidFill>
            <a:srgbClr val="0F1730"/>
          </a:solidFill>
          <a:ln w="12700">
            <a:solidFill>
              <a:srgbClr val="6E7CB8">
                <a:alpha val="35000"/>
              </a:srgbClr>
            </a:solidFill>
            <a:prstDash val="solid"/>
          </a:ln>
        </p:spPr>
      </p:sp>
      <p:sp>
        <p:nvSpPr>
          <p:cNvPr id="1983117426" name="Text 50"/>
          <p:cNvSpPr/>
          <p:nvPr/>
        </p:nvSpPr>
        <p:spPr bwMode="auto">
          <a:xfrm>
            <a:off x="6775704" y="3648456"/>
            <a:ext cx="987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6EDFF"/>
                </a:solidFill>
              </a:rPr>
              <a:t>20–60 s</a:t>
            </a:r>
            <a:endParaRPr lang="en-US" sz="1000"/>
          </a:p>
        </p:txBody>
      </p:sp>
      <p:sp>
        <p:nvSpPr>
          <p:cNvPr id="568661423" name="Shape 51"/>
          <p:cNvSpPr/>
          <p:nvPr/>
        </p:nvSpPr>
        <p:spPr bwMode="auto">
          <a:xfrm>
            <a:off x="7818120" y="3575303"/>
            <a:ext cx="3840480" cy="566928"/>
          </a:xfrm>
          <a:prstGeom prst="rect">
            <a:avLst/>
          </a:prstGeom>
          <a:solidFill>
            <a:srgbClr val="0F1730"/>
          </a:solidFill>
          <a:ln w="12700">
            <a:solidFill>
              <a:srgbClr val="6E7CB8">
                <a:alpha val="35000"/>
              </a:srgbClr>
            </a:solidFill>
            <a:prstDash val="solid"/>
          </a:ln>
        </p:spPr>
      </p:sp>
      <p:sp>
        <p:nvSpPr>
          <p:cNvPr id="274776790" name="Text 52"/>
          <p:cNvSpPr/>
          <p:nvPr/>
        </p:nvSpPr>
        <p:spPr bwMode="auto">
          <a:xfrm>
            <a:off x="7872984" y="3648456"/>
            <a:ext cx="3730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6EDFF"/>
                </a:solidFill>
              </a:rPr>
              <a:t>très utile avec clavier virtuel</a:t>
            </a:r>
            <a:endParaRPr lang="en-US" sz="1000"/>
          </a:p>
        </p:txBody>
      </p:sp>
      <p:sp>
        <p:nvSpPr>
          <p:cNvPr id="572106262" name="Shape 53"/>
          <p:cNvSpPr/>
          <p:nvPr/>
        </p:nvSpPr>
        <p:spPr bwMode="auto">
          <a:xfrm>
            <a:off x="502920" y="4142232"/>
            <a:ext cx="2011680" cy="566928"/>
          </a:xfrm>
          <a:prstGeom prst="rect">
            <a:avLst/>
          </a:prstGeom>
          <a:solidFill>
            <a:srgbClr val="131B36"/>
          </a:solidFill>
          <a:ln w="12700">
            <a:solidFill>
              <a:srgbClr val="6E7CB8">
                <a:alpha val="35000"/>
              </a:srgbClr>
            </a:solidFill>
            <a:prstDash val="solid"/>
          </a:ln>
        </p:spPr>
      </p:sp>
      <p:sp>
        <p:nvSpPr>
          <p:cNvPr id="329588070" name="Text 54"/>
          <p:cNvSpPr/>
          <p:nvPr/>
        </p:nvSpPr>
        <p:spPr bwMode="auto">
          <a:xfrm>
            <a:off x="557784" y="4215384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6EDFF"/>
                </a:solidFill>
              </a:rPr>
              <a:t>Joindre document</a:t>
            </a:r>
            <a:endParaRPr lang="en-US" sz="1000"/>
          </a:p>
        </p:txBody>
      </p:sp>
      <p:sp>
        <p:nvSpPr>
          <p:cNvPr id="596939636" name="Shape 55"/>
          <p:cNvSpPr/>
          <p:nvPr/>
        </p:nvSpPr>
        <p:spPr bwMode="auto">
          <a:xfrm>
            <a:off x="2514600" y="4142232"/>
            <a:ext cx="1920240" cy="566928"/>
          </a:xfrm>
          <a:prstGeom prst="rect">
            <a:avLst/>
          </a:prstGeom>
          <a:solidFill>
            <a:srgbClr val="131B36"/>
          </a:solidFill>
          <a:ln w="12700">
            <a:solidFill>
              <a:srgbClr val="6E7CB8">
                <a:alpha val="35000"/>
              </a:srgbClr>
            </a:solidFill>
            <a:prstDash val="solid"/>
          </a:ln>
        </p:spPr>
      </p:sp>
      <p:sp>
        <p:nvSpPr>
          <p:cNvPr id="1707970446" name="Text 56"/>
          <p:cNvSpPr/>
          <p:nvPr/>
        </p:nvSpPr>
        <p:spPr bwMode="auto">
          <a:xfrm>
            <a:off x="2569464" y="4215384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6EDFF"/>
                </a:solidFill>
              </a:rPr>
              <a:t>explorateur + sélection</a:t>
            </a:r>
            <a:endParaRPr lang="en-US" sz="1000"/>
          </a:p>
        </p:txBody>
      </p:sp>
      <p:sp>
        <p:nvSpPr>
          <p:cNvPr id="671962687" name="Shape 57"/>
          <p:cNvSpPr/>
          <p:nvPr/>
        </p:nvSpPr>
        <p:spPr bwMode="auto">
          <a:xfrm>
            <a:off x="4434840" y="4142232"/>
            <a:ext cx="2286000" cy="566928"/>
          </a:xfrm>
          <a:prstGeom prst="rect">
            <a:avLst/>
          </a:prstGeom>
          <a:solidFill>
            <a:srgbClr val="131B36"/>
          </a:solidFill>
          <a:ln w="12700">
            <a:solidFill>
              <a:srgbClr val="6E7CB8">
                <a:alpha val="35000"/>
              </a:srgbClr>
            </a:solidFill>
            <a:prstDash val="solid"/>
          </a:ln>
        </p:spPr>
      </p:sp>
      <p:sp>
        <p:nvSpPr>
          <p:cNvPr id="171985845" name="Text 58"/>
          <p:cNvSpPr/>
          <p:nvPr/>
        </p:nvSpPr>
        <p:spPr bwMode="auto">
          <a:xfrm>
            <a:off x="4489704" y="4215384"/>
            <a:ext cx="21762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6EDFF"/>
                </a:solidFill>
              </a:rPr>
              <a:t>ajout automatique</a:t>
            </a:r>
            <a:endParaRPr lang="en-US" sz="1000"/>
          </a:p>
        </p:txBody>
      </p:sp>
      <p:sp>
        <p:nvSpPr>
          <p:cNvPr id="1298301050" name="Shape 59"/>
          <p:cNvSpPr/>
          <p:nvPr/>
        </p:nvSpPr>
        <p:spPr bwMode="auto">
          <a:xfrm>
            <a:off x="6720840" y="4142232"/>
            <a:ext cx="1097280" cy="566928"/>
          </a:xfrm>
          <a:prstGeom prst="rect">
            <a:avLst/>
          </a:prstGeom>
          <a:solidFill>
            <a:srgbClr val="131B36"/>
          </a:solidFill>
          <a:ln w="12700">
            <a:solidFill>
              <a:srgbClr val="6E7CB8">
                <a:alpha val="35000"/>
              </a:srgbClr>
            </a:solidFill>
            <a:prstDash val="solid"/>
          </a:ln>
        </p:spPr>
      </p:sp>
      <p:sp>
        <p:nvSpPr>
          <p:cNvPr id="1758640415" name="Text 60"/>
          <p:cNvSpPr/>
          <p:nvPr/>
        </p:nvSpPr>
        <p:spPr bwMode="auto">
          <a:xfrm>
            <a:off x="6775704" y="4215384"/>
            <a:ext cx="987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6EDFF"/>
                </a:solidFill>
              </a:rPr>
              <a:t>30–120 s</a:t>
            </a:r>
            <a:endParaRPr lang="en-US" sz="1000"/>
          </a:p>
        </p:txBody>
      </p:sp>
      <p:sp>
        <p:nvSpPr>
          <p:cNvPr id="380580609" name="Shape 61"/>
          <p:cNvSpPr/>
          <p:nvPr/>
        </p:nvSpPr>
        <p:spPr bwMode="auto">
          <a:xfrm>
            <a:off x="7818120" y="4142232"/>
            <a:ext cx="3840480" cy="566928"/>
          </a:xfrm>
          <a:prstGeom prst="rect">
            <a:avLst/>
          </a:prstGeom>
          <a:solidFill>
            <a:srgbClr val="131B36"/>
          </a:solidFill>
          <a:ln w="12700">
            <a:solidFill>
              <a:srgbClr val="6E7CB8">
                <a:alpha val="35000"/>
              </a:srgbClr>
            </a:solidFill>
            <a:prstDash val="solid"/>
          </a:ln>
        </p:spPr>
      </p:sp>
      <p:sp>
        <p:nvSpPr>
          <p:cNvPr id="792938053" name="Text 62"/>
          <p:cNvSpPr/>
          <p:nvPr/>
        </p:nvSpPr>
        <p:spPr bwMode="auto">
          <a:xfrm>
            <a:off x="7872984" y="4215384"/>
            <a:ext cx="3730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6EDFF"/>
                </a:solidFill>
              </a:rPr>
              <a:t>fort gain moteur et cognitif</a:t>
            </a:r>
            <a:endParaRPr lang="en-US" sz="1000"/>
          </a:p>
        </p:txBody>
      </p:sp>
      <p:sp>
        <p:nvSpPr>
          <p:cNvPr id="1110290281" name="Shape 63"/>
          <p:cNvSpPr/>
          <p:nvPr/>
        </p:nvSpPr>
        <p:spPr bwMode="auto">
          <a:xfrm>
            <a:off x="502920" y="4709160"/>
            <a:ext cx="2011680" cy="566928"/>
          </a:xfrm>
          <a:prstGeom prst="rect">
            <a:avLst/>
          </a:prstGeom>
          <a:solidFill>
            <a:srgbClr val="0F1730"/>
          </a:solidFill>
          <a:ln w="12700">
            <a:solidFill>
              <a:srgbClr val="6E7CB8">
                <a:alpha val="35000"/>
              </a:srgbClr>
            </a:solidFill>
            <a:prstDash val="solid"/>
          </a:ln>
        </p:spPr>
      </p:sp>
      <p:sp>
        <p:nvSpPr>
          <p:cNvPr id="2062431943" name="Text 64"/>
          <p:cNvSpPr/>
          <p:nvPr/>
        </p:nvSpPr>
        <p:spPr bwMode="auto">
          <a:xfrm>
            <a:off x="557784" y="4782312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6EDFF"/>
                </a:solidFill>
              </a:rPr>
              <a:t>Revenir au suivant</a:t>
            </a:r>
            <a:endParaRPr lang="en-US" sz="1000"/>
          </a:p>
        </p:txBody>
      </p:sp>
      <p:sp>
        <p:nvSpPr>
          <p:cNvPr id="781575468" name="Shape 65"/>
          <p:cNvSpPr/>
          <p:nvPr/>
        </p:nvSpPr>
        <p:spPr bwMode="auto">
          <a:xfrm>
            <a:off x="2514600" y="4709160"/>
            <a:ext cx="1920240" cy="566928"/>
          </a:xfrm>
          <a:prstGeom prst="rect">
            <a:avLst/>
          </a:prstGeom>
          <a:solidFill>
            <a:srgbClr val="0F1730"/>
          </a:solidFill>
          <a:ln w="12700">
            <a:solidFill>
              <a:srgbClr val="6E7CB8">
                <a:alpha val="35000"/>
              </a:srgbClr>
            </a:solidFill>
            <a:prstDash val="solid"/>
          </a:ln>
        </p:spPr>
      </p:sp>
      <p:sp>
        <p:nvSpPr>
          <p:cNvPr id="1994178224" name="Text 66"/>
          <p:cNvSpPr/>
          <p:nvPr/>
        </p:nvSpPr>
        <p:spPr bwMode="auto">
          <a:xfrm>
            <a:off x="2569464" y="4782312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6EDFF"/>
                </a:solidFill>
              </a:rPr>
              <a:t>fermer / revenir / retrouver</a:t>
            </a:r>
            <a:endParaRPr lang="en-US" sz="1000"/>
          </a:p>
        </p:txBody>
      </p:sp>
      <p:sp>
        <p:nvSpPr>
          <p:cNvPr id="1927493330" name="Shape 67"/>
          <p:cNvSpPr/>
          <p:nvPr/>
        </p:nvSpPr>
        <p:spPr bwMode="auto">
          <a:xfrm>
            <a:off x="4434840" y="4709160"/>
            <a:ext cx="2286000" cy="566928"/>
          </a:xfrm>
          <a:prstGeom prst="rect">
            <a:avLst/>
          </a:prstGeom>
          <a:solidFill>
            <a:srgbClr val="0F1730"/>
          </a:solidFill>
          <a:ln w="12700">
            <a:solidFill>
              <a:srgbClr val="6E7CB8">
                <a:alpha val="35000"/>
              </a:srgbClr>
            </a:solidFill>
            <a:prstDash val="solid"/>
          </a:ln>
        </p:spPr>
      </p:sp>
      <p:sp>
        <p:nvSpPr>
          <p:cNvPr id="1512920580" name="Text 68"/>
          <p:cNvSpPr/>
          <p:nvPr/>
        </p:nvSpPr>
        <p:spPr bwMode="auto">
          <a:xfrm>
            <a:off x="4489704" y="4782312"/>
            <a:ext cx="21762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6EDFF"/>
                </a:solidFill>
              </a:rPr>
              <a:t>enchaînement automatique</a:t>
            </a:r>
            <a:endParaRPr lang="en-US" sz="1000"/>
          </a:p>
        </p:txBody>
      </p:sp>
      <p:sp>
        <p:nvSpPr>
          <p:cNvPr id="1233281067" name="Shape 69"/>
          <p:cNvSpPr/>
          <p:nvPr/>
        </p:nvSpPr>
        <p:spPr bwMode="auto">
          <a:xfrm>
            <a:off x="6720840" y="4709160"/>
            <a:ext cx="1097280" cy="566928"/>
          </a:xfrm>
          <a:prstGeom prst="rect">
            <a:avLst/>
          </a:prstGeom>
          <a:solidFill>
            <a:srgbClr val="0F1730"/>
          </a:solidFill>
          <a:ln w="12700">
            <a:solidFill>
              <a:srgbClr val="6E7CB8">
                <a:alpha val="35000"/>
              </a:srgbClr>
            </a:solidFill>
            <a:prstDash val="solid"/>
          </a:ln>
        </p:spPr>
      </p:sp>
      <p:sp>
        <p:nvSpPr>
          <p:cNvPr id="1869325572" name="Text 70"/>
          <p:cNvSpPr/>
          <p:nvPr/>
        </p:nvSpPr>
        <p:spPr bwMode="auto">
          <a:xfrm>
            <a:off x="6775704" y="4782312"/>
            <a:ext cx="987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6EDFF"/>
                </a:solidFill>
              </a:rPr>
              <a:t>15–45 s</a:t>
            </a:r>
            <a:endParaRPr lang="en-US" sz="1000"/>
          </a:p>
        </p:txBody>
      </p:sp>
      <p:sp>
        <p:nvSpPr>
          <p:cNvPr id="757467468" name="Shape 71"/>
          <p:cNvSpPr/>
          <p:nvPr/>
        </p:nvSpPr>
        <p:spPr bwMode="auto">
          <a:xfrm>
            <a:off x="7818120" y="4709160"/>
            <a:ext cx="3840480" cy="566928"/>
          </a:xfrm>
          <a:prstGeom prst="rect">
            <a:avLst/>
          </a:prstGeom>
          <a:solidFill>
            <a:srgbClr val="0F1730"/>
          </a:solidFill>
          <a:ln w="12700">
            <a:solidFill>
              <a:srgbClr val="6E7CB8">
                <a:alpha val="35000"/>
              </a:srgbClr>
            </a:solidFill>
            <a:prstDash val="solid"/>
          </a:ln>
        </p:spPr>
      </p:sp>
      <p:sp>
        <p:nvSpPr>
          <p:cNvPr id="1747047996" name="Text 72"/>
          <p:cNvSpPr/>
          <p:nvPr/>
        </p:nvSpPr>
        <p:spPr bwMode="auto">
          <a:xfrm>
            <a:off x="7872984" y="4782312"/>
            <a:ext cx="3730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6EDFF"/>
                </a:solidFill>
              </a:rPr>
              <a:t>moins de fatigue sérielle</a:t>
            </a:r>
            <a:endParaRPr lang="en-US" sz="1000"/>
          </a:p>
        </p:txBody>
      </p:sp>
      <p:sp>
        <p:nvSpPr>
          <p:cNvPr id="102509583" name="Shape 73"/>
          <p:cNvSpPr/>
          <p:nvPr/>
        </p:nvSpPr>
        <p:spPr bwMode="auto">
          <a:xfrm>
            <a:off x="731520" y="5349240"/>
            <a:ext cx="1828800" cy="868680"/>
          </a:xfrm>
          <a:prstGeom prst="roundRect">
            <a:avLst>
              <a:gd name="adj" fmla="val 10526"/>
            </a:avLst>
          </a:prstGeom>
          <a:solidFill>
            <a:srgbClr val="111938"/>
          </a:solidFill>
          <a:ln w="12700">
            <a:solidFill>
              <a:srgbClr val="7C8ACB">
                <a:alpha val="30000"/>
              </a:srgbClr>
            </a:solidFill>
            <a:prstDash val="solid"/>
          </a:ln>
        </p:spPr>
      </p:sp>
      <p:sp>
        <p:nvSpPr>
          <p:cNvPr id="1295097810" name="Text 74"/>
          <p:cNvSpPr/>
          <p:nvPr/>
        </p:nvSpPr>
        <p:spPr bwMode="auto">
          <a:xfrm>
            <a:off x="868680" y="5477255"/>
            <a:ext cx="1645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200" b="1">
                <a:solidFill>
                  <a:srgbClr val="FFFFFF"/>
                </a:solidFill>
              </a:rPr>
              <a:t>-58 %</a:t>
            </a:r>
            <a:endParaRPr lang="en-US" sz="2200"/>
          </a:p>
        </p:txBody>
      </p:sp>
      <p:sp>
        <p:nvSpPr>
          <p:cNvPr id="116717143" name="Text 75"/>
          <p:cNvSpPr/>
          <p:nvPr/>
        </p:nvSpPr>
        <p:spPr bwMode="auto">
          <a:xfrm>
            <a:off x="868680" y="5824728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B8C5F0"/>
                </a:solidFill>
              </a:rPr>
              <a:t>temps global estimé</a:t>
            </a:r>
            <a:endParaRPr lang="en-US" sz="1050"/>
          </a:p>
        </p:txBody>
      </p:sp>
      <p:sp>
        <p:nvSpPr>
          <p:cNvPr id="1998145306" name="Shape 76"/>
          <p:cNvSpPr/>
          <p:nvPr/>
        </p:nvSpPr>
        <p:spPr bwMode="auto">
          <a:xfrm>
            <a:off x="2834640" y="5349240"/>
            <a:ext cx="1828800" cy="868680"/>
          </a:xfrm>
          <a:prstGeom prst="roundRect">
            <a:avLst>
              <a:gd name="adj" fmla="val 10526"/>
            </a:avLst>
          </a:prstGeom>
          <a:solidFill>
            <a:srgbClr val="111938"/>
          </a:solidFill>
          <a:ln w="12700">
            <a:solidFill>
              <a:srgbClr val="7C8ACB">
                <a:alpha val="30000"/>
              </a:srgbClr>
            </a:solidFill>
            <a:prstDash val="solid"/>
          </a:ln>
        </p:spPr>
      </p:sp>
      <p:sp>
        <p:nvSpPr>
          <p:cNvPr id="746064397" name="Text 77"/>
          <p:cNvSpPr/>
          <p:nvPr/>
        </p:nvSpPr>
        <p:spPr bwMode="auto">
          <a:xfrm>
            <a:off x="2971800" y="5477255"/>
            <a:ext cx="1645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200" b="1">
                <a:solidFill>
                  <a:srgbClr val="FFFFFF"/>
                </a:solidFill>
              </a:rPr>
              <a:t>60–80 %</a:t>
            </a:r>
            <a:endParaRPr lang="en-US" sz="2200"/>
          </a:p>
        </p:txBody>
      </p:sp>
      <p:sp>
        <p:nvSpPr>
          <p:cNvPr id="790521550" name="Text 78"/>
          <p:cNvSpPr/>
          <p:nvPr/>
        </p:nvSpPr>
        <p:spPr bwMode="auto">
          <a:xfrm>
            <a:off x="2971800" y="5824728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B8C5F0"/>
                </a:solidFill>
              </a:rPr>
              <a:t>actions évitées</a:t>
            </a:r>
            <a:endParaRPr lang="en-US" sz="1050"/>
          </a:p>
        </p:txBody>
      </p:sp>
      <p:sp>
        <p:nvSpPr>
          <p:cNvPr id="684351114" name="Shape 79"/>
          <p:cNvSpPr/>
          <p:nvPr/>
        </p:nvSpPr>
        <p:spPr bwMode="auto">
          <a:xfrm>
            <a:off x="4937760" y="5349240"/>
            <a:ext cx="1828800" cy="868680"/>
          </a:xfrm>
          <a:prstGeom prst="roundRect">
            <a:avLst>
              <a:gd name="adj" fmla="val 10526"/>
            </a:avLst>
          </a:prstGeom>
          <a:solidFill>
            <a:srgbClr val="111938"/>
          </a:solidFill>
          <a:ln w="12700">
            <a:solidFill>
              <a:srgbClr val="7C8ACB">
                <a:alpha val="30000"/>
              </a:srgbClr>
            </a:solidFill>
            <a:prstDash val="solid"/>
          </a:ln>
        </p:spPr>
      </p:sp>
      <p:sp>
        <p:nvSpPr>
          <p:cNvPr id="179111735" name="Text 80"/>
          <p:cNvSpPr/>
          <p:nvPr/>
        </p:nvSpPr>
        <p:spPr bwMode="auto">
          <a:xfrm>
            <a:off x="5074920" y="5477255"/>
            <a:ext cx="1645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200" b="1">
                <a:solidFill>
                  <a:srgbClr val="FFFFFF"/>
                </a:solidFill>
              </a:rPr>
              <a:t>20 mails</a:t>
            </a:r>
            <a:endParaRPr lang="en-US" sz="2200"/>
          </a:p>
        </p:txBody>
      </p:sp>
      <p:sp>
        <p:nvSpPr>
          <p:cNvPr id="666612595" name="Text 81"/>
          <p:cNvSpPr/>
          <p:nvPr/>
        </p:nvSpPr>
        <p:spPr bwMode="auto">
          <a:xfrm>
            <a:off x="5074920" y="5824728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B8C5F0"/>
                </a:solidFill>
              </a:rPr>
              <a:t>base de simulation / jour</a:t>
            </a:r>
            <a:endParaRPr lang="en-US" sz="1050"/>
          </a:p>
        </p:txBody>
      </p:sp>
      <p:sp>
        <p:nvSpPr>
          <p:cNvPr id="400747292" name="Text 82"/>
          <p:cNvSpPr/>
          <p:nvPr/>
        </p:nvSpPr>
        <p:spPr bwMode="auto">
          <a:xfrm>
            <a:off x="7132320" y="548640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D4DEFF"/>
                </a:solidFill>
              </a:rPr>
              <a:t>Lecture : la valeur créée est surtout une réduction de gestes techniques et d’allers-retours d’interface, pas un remplacement du jugement utilisateur.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6">
    <p:bg>
      <p:bgPr shadeToTitle="0">
        <a:solidFill>
          <a:srgbClr val="0B102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9400141" name="Shape 0"/>
          <p:cNvSpPr/>
          <p:nvPr/>
        </p:nvSpPr>
        <p:spPr bwMode="auto">
          <a:xfrm>
            <a:off x="0" y="0"/>
            <a:ext cx="12191695" cy="256032"/>
          </a:xfrm>
          <a:prstGeom prst="rect">
            <a:avLst/>
          </a:prstGeom>
          <a:solidFill>
            <a:srgbClr val="3B2BA3"/>
          </a:solidFill>
          <a:ln w="12700">
            <a:solidFill>
              <a:srgbClr val="3B2BA3">
                <a:alpha val="0"/>
              </a:srgbClr>
            </a:solidFill>
            <a:prstDash val="solid"/>
          </a:ln>
        </p:spPr>
      </p:sp>
      <p:sp>
        <p:nvSpPr>
          <p:cNvPr id="87687520" name="Text 1"/>
          <p:cNvSpPr/>
          <p:nvPr/>
        </p:nvSpPr>
        <p:spPr bwMode="auto">
          <a:xfrm>
            <a:off x="502920" y="4114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F6F8FF"/>
                </a:solidFill>
                <a:latin typeface="Aptos Display"/>
                <a:ea typeface="Aptos Display"/>
                <a:cs typeface="Aptos Display"/>
              </a:rPr>
              <a:t>Classification et scroll</a:t>
            </a:r>
            <a:endParaRPr lang="en-US" sz="2800"/>
          </a:p>
        </p:txBody>
      </p:sp>
      <p:sp>
        <p:nvSpPr>
          <p:cNvPr id="1675045347" name="Text 2"/>
          <p:cNvSpPr/>
          <p:nvPr/>
        </p:nvSpPr>
        <p:spPr bwMode="auto">
          <a:xfrm>
            <a:off x="530352" y="896112"/>
            <a:ext cx="8778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B9C4EF"/>
                </a:solidFill>
                <a:latin typeface="Aptos"/>
                <a:ea typeface="Aptos"/>
                <a:cs typeface="Aptos"/>
              </a:rPr>
              <a:t>Deux leviers qui améliorent fortement l’expérience utilisateur</a:t>
            </a:r>
            <a:endParaRPr lang="en-US" sz="1100"/>
          </a:p>
        </p:txBody>
      </p:sp>
      <p:sp>
        <p:nvSpPr>
          <p:cNvPr id="1278144135" name="Shape 3"/>
          <p:cNvSpPr/>
          <p:nvPr/>
        </p:nvSpPr>
        <p:spPr bwMode="auto">
          <a:xfrm>
            <a:off x="640080" y="1325880"/>
            <a:ext cx="5394960" cy="1920240"/>
          </a:xfrm>
          <a:prstGeom prst="roundRect">
            <a:avLst>
              <a:gd name="adj" fmla="val 5714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7C8ACB">
                <a:alpha val="35000"/>
              </a:srgbClr>
            </a:solidFill>
            <a:prstDash val="solid"/>
          </a:ln>
          <a:effectLst>
            <a:outerShdw blurRad="19050" dist="15240" dir="27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1640057997" name="Shape 4"/>
          <p:cNvSpPr/>
          <p:nvPr/>
        </p:nvSpPr>
        <p:spPr bwMode="auto">
          <a:xfrm>
            <a:off x="640080" y="1325880"/>
            <a:ext cx="54864" cy="19202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8539901" name="Text 5"/>
          <p:cNvSpPr/>
          <p:nvPr/>
        </p:nvSpPr>
        <p:spPr bwMode="auto">
          <a:xfrm>
            <a:off x="804672" y="14356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0070C0"/>
                </a:solidFill>
                <a:latin typeface="Aptos"/>
                <a:ea typeface="Aptos"/>
                <a:cs typeface="Aptos"/>
              </a:rPr>
              <a:t>Classification des mails</a:t>
            </a:r>
            <a:endParaRPr sz="1400">
              <a:solidFill>
                <a:srgbClr val="0070C0"/>
              </a:solidFill>
            </a:endParaRPr>
          </a:p>
        </p:txBody>
      </p:sp>
      <p:sp>
        <p:nvSpPr>
          <p:cNvPr id="139186784" name="Text 6"/>
          <p:cNvSpPr/>
          <p:nvPr/>
        </p:nvSpPr>
        <p:spPr bwMode="auto">
          <a:xfrm>
            <a:off x="804672" y="1709928"/>
            <a:ext cx="5138928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0070C0"/>
                </a:solidFill>
                <a:latin typeface="Aptos"/>
                <a:ea typeface="Aptos"/>
                <a:cs typeface="Aptos"/>
              </a:rPr>
              <a:t>Avant ouverture, le système peut classer les messages : Urgent, Normal, Suspect, À vérifier, Administratif, Avec pièce jointe importante, Réponse simple possible. Ce tri réduit le coût cognitif de la boîte de réception et améliore la priorisation.</a:t>
            </a:r>
            <a:endParaRPr sz="1400">
              <a:solidFill>
                <a:srgbClr val="0070C0"/>
              </a:solidFill>
            </a:endParaRPr>
          </a:p>
        </p:txBody>
      </p:sp>
      <p:sp>
        <p:nvSpPr>
          <p:cNvPr id="1090582345" name="Shape 7"/>
          <p:cNvSpPr/>
          <p:nvPr/>
        </p:nvSpPr>
        <p:spPr bwMode="auto">
          <a:xfrm>
            <a:off x="6172200" y="1325880"/>
            <a:ext cx="5349240" cy="1920240"/>
          </a:xfrm>
          <a:prstGeom prst="roundRect">
            <a:avLst>
              <a:gd name="adj" fmla="val 5714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7C8ACB">
                <a:alpha val="35000"/>
              </a:srgbClr>
            </a:solidFill>
            <a:prstDash val="solid"/>
          </a:ln>
          <a:effectLst>
            <a:outerShdw blurRad="19050" dist="15240" dir="27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962343835" name="Shape 8"/>
          <p:cNvSpPr/>
          <p:nvPr/>
        </p:nvSpPr>
        <p:spPr bwMode="auto">
          <a:xfrm>
            <a:off x="6172200" y="1325880"/>
            <a:ext cx="54864" cy="1920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545734941" name="Text 9"/>
          <p:cNvSpPr/>
          <p:nvPr/>
        </p:nvSpPr>
        <p:spPr bwMode="auto">
          <a:xfrm>
            <a:off x="6336792" y="1435608"/>
            <a:ext cx="5074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0070C0"/>
                </a:solidFill>
                <a:latin typeface="Aptos"/>
                <a:ea typeface="Aptos"/>
                <a:cs typeface="Aptos"/>
              </a:rPr>
              <a:t>Scroll paramétrable</a:t>
            </a:r>
            <a:endParaRPr sz="1400">
              <a:solidFill>
                <a:srgbClr val="0070C0"/>
              </a:solidFill>
            </a:endParaRPr>
          </a:p>
        </p:txBody>
      </p:sp>
      <p:sp>
        <p:nvSpPr>
          <p:cNvPr id="1893118083" name="Text 10"/>
          <p:cNvSpPr/>
          <p:nvPr/>
        </p:nvSpPr>
        <p:spPr bwMode="auto">
          <a:xfrm>
            <a:off x="6336792" y="1709928"/>
            <a:ext cx="5093208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0070C0"/>
                </a:solidFill>
                <a:latin typeface="Aptos"/>
                <a:ea typeface="Aptos"/>
                <a:cs typeface="Aptos"/>
              </a:rPr>
              <a:t>Le scroll n’est pas laissé au hasard. Dans les paramètres de l’application, l’utilisateur règle la quantité de contenu (1 écran, 3 paragraphes, 10 lignes) et la vitesse (Lent, Normal, Rapide).</a:t>
            </a:r>
            <a:endParaRPr sz="1400">
              <a:solidFill>
                <a:srgbClr val="0070C0"/>
              </a:solidFill>
            </a:endParaRPr>
          </a:p>
        </p:txBody>
      </p:sp>
      <p:sp>
        <p:nvSpPr>
          <p:cNvPr id="1533506263" name="Shape 11"/>
          <p:cNvSpPr/>
          <p:nvPr/>
        </p:nvSpPr>
        <p:spPr bwMode="auto">
          <a:xfrm>
            <a:off x="822960" y="3657600"/>
            <a:ext cx="10881360" cy="1645920"/>
          </a:xfrm>
          <a:prstGeom prst="roundRect">
            <a:avLst>
              <a:gd name="adj" fmla="val 4444"/>
            </a:avLst>
          </a:prstGeom>
          <a:solidFill>
            <a:srgbClr val="111938"/>
          </a:solidFill>
          <a:ln w="12700">
            <a:solidFill>
              <a:srgbClr val="7D8DCA">
                <a:alpha val="35000"/>
              </a:srgbClr>
            </a:solidFill>
            <a:prstDash val="solid"/>
          </a:ln>
        </p:spPr>
      </p:sp>
      <p:sp>
        <p:nvSpPr>
          <p:cNvPr id="1348451674" name="Text 12"/>
          <p:cNvSpPr/>
          <p:nvPr/>
        </p:nvSpPr>
        <p:spPr bwMode="auto">
          <a:xfrm>
            <a:off x="1005840" y="382219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FFFFFF"/>
                </a:solidFill>
              </a:rPr>
              <a:t>Bon réglage recommandé pour V1</a:t>
            </a:r>
            <a:endParaRPr lang="en-US" sz="1300"/>
          </a:p>
        </p:txBody>
      </p:sp>
      <p:sp>
        <p:nvSpPr>
          <p:cNvPr id="466125825" name="Text 13"/>
          <p:cNvSpPr/>
          <p:nvPr/>
        </p:nvSpPr>
        <p:spPr bwMode="auto">
          <a:xfrm>
            <a:off x="1051560" y="4160519"/>
            <a:ext cx="1371600" cy="256032"/>
          </a:xfrm>
          <a:prstGeom prst="rect">
            <a:avLst/>
          </a:prstGeom>
          <a:solidFill>
            <a:srgbClr val="4F46E5"/>
          </a:solidFill>
          <a:ln>
            <a:solidFill>
              <a:srgbClr val="4F46E5">
                <a:alpha val="0"/>
              </a:srgbClr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Tri activé</a:t>
            </a:r>
            <a:endParaRPr lang="en-US" sz="1000"/>
          </a:p>
        </p:txBody>
      </p:sp>
      <p:sp>
        <p:nvSpPr>
          <p:cNvPr id="231419431" name="Text 14"/>
          <p:cNvSpPr/>
          <p:nvPr/>
        </p:nvSpPr>
        <p:spPr bwMode="auto">
          <a:xfrm>
            <a:off x="2651760" y="4160519"/>
            <a:ext cx="1828800" cy="256032"/>
          </a:xfrm>
          <a:prstGeom prst="rect">
            <a:avLst/>
          </a:prstGeom>
          <a:solidFill>
            <a:srgbClr val="6366F1"/>
          </a:solidFill>
          <a:ln>
            <a:solidFill>
              <a:srgbClr val="6366F1">
                <a:alpha val="0"/>
              </a:srgbClr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Scroll = 3 paragraphes</a:t>
            </a:r>
            <a:endParaRPr lang="en-US" sz="1000"/>
          </a:p>
        </p:txBody>
      </p:sp>
      <p:sp>
        <p:nvSpPr>
          <p:cNvPr id="219285890" name="Text 15"/>
          <p:cNvSpPr/>
          <p:nvPr/>
        </p:nvSpPr>
        <p:spPr bwMode="auto">
          <a:xfrm>
            <a:off x="4709160" y="4160519"/>
            <a:ext cx="1234440" cy="256032"/>
          </a:xfrm>
          <a:prstGeom prst="rect">
            <a:avLst/>
          </a:prstGeom>
          <a:solidFill>
            <a:srgbClr val="8B5CF6"/>
          </a:solidFill>
          <a:ln>
            <a:solidFill>
              <a:srgbClr val="8B5CF6">
                <a:alpha val="0"/>
              </a:srgbClr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Vitesse = normal</a:t>
            </a:r>
            <a:endParaRPr lang="en-US" sz="1000"/>
          </a:p>
        </p:txBody>
      </p:sp>
      <p:sp>
        <p:nvSpPr>
          <p:cNvPr id="1149579940" name="Text 16"/>
          <p:cNvSpPr/>
          <p:nvPr/>
        </p:nvSpPr>
        <p:spPr bwMode="auto">
          <a:xfrm>
            <a:off x="6172200" y="4160519"/>
            <a:ext cx="1828800" cy="256032"/>
          </a:xfrm>
          <a:prstGeom prst="rect">
            <a:avLst/>
          </a:prstGeom>
          <a:solidFill>
            <a:srgbClr val="2563EB"/>
          </a:solidFill>
          <a:ln>
            <a:solidFill>
              <a:srgbClr val="2563EB">
                <a:alpha val="0"/>
              </a:srgbClr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Mode = mixte</a:t>
            </a:r>
            <a:endParaRPr lang="en-US" sz="1000"/>
          </a:p>
        </p:txBody>
      </p:sp>
      <p:sp>
        <p:nvSpPr>
          <p:cNvPr id="1435988792" name="Text 17"/>
          <p:cNvSpPr/>
          <p:nvPr/>
        </p:nvSpPr>
        <p:spPr bwMode="auto">
          <a:xfrm>
            <a:off x="8229600" y="4160519"/>
            <a:ext cx="2468880" cy="256032"/>
          </a:xfrm>
          <a:prstGeom prst="rect">
            <a:avLst/>
          </a:prstGeom>
          <a:solidFill>
            <a:srgbClr val="0EA5E9"/>
          </a:solidFill>
          <a:ln>
            <a:solidFill>
              <a:srgbClr val="0EA5E9">
                <a:alpha val="0"/>
              </a:srgbClr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Boutons Monter / Descendre</a:t>
            </a:r>
            <a:endParaRPr lang="en-US" sz="1000"/>
          </a:p>
        </p:txBody>
      </p:sp>
      <p:sp>
        <p:nvSpPr>
          <p:cNvPr id="343943033" name="Text 18"/>
          <p:cNvSpPr/>
          <p:nvPr/>
        </p:nvSpPr>
        <p:spPr bwMode="auto">
          <a:xfrm>
            <a:off x="1024128" y="452628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D7E0FF"/>
                </a:solidFill>
              </a:rPr>
              <a:t>Pourquoi c’est important : le tri réduit le coût de choix ; le scroll paramétrable réduit la fatigue visuelle et l’instabilité pour les utilisateurs en eye tracking ou clavier virtuel.</a:t>
            </a:r>
            <a:endParaRPr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7">
    <p:bg>
      <p:bgPr shadeToTitle="0">
        <a:solidFill>
          <a:srgbClr val="0B102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8830881" name="Shape 0"/>
          <p:cNvSpPr/>
          <p:nvPr/>
        </p:nvSpPr>
        <p:spPr bwMode="auto">
          <a:xfrm>
            <a:off x="0" y="0"/>
            <a:ext cx="12191695" cy="256032"/>
          </a:xfrm>
          <a:prstGeom prst="rect">
            <a:avLst/>
          </a:prstGeom>
          <a:solidFill>
            <a:srgbClr val="3B2BA3"/>
          </a:solidFill>
          <a:ln w="12700">
            <a:solidFill>
              <a:srgbClr val="3B2BA3">
                <a:alpha val="0"/>
              </a:srgbClr>
            </a:solidFill>
            <a:prstDash val="solid"/>
          </a:ln>
        </p:spPr>
      </p:sp>
      <p:sp>
        <p:nvSpPr>
          <p:cNvPr id="882665056" name="Text 1"/>
          <p:cNvSpPr/>
          <p:nvPr/>
        </p:nvSpPr>
        <p:spPr bwMode="auto">
          <a:xfrm>
            <a:off x="502920" y="4114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F6F8FF"/>
                </a:solidFill>
                <a:latin typeface="Aptos Display"/>
                <a:ea typeface="Aptos Display"/>
                <a:cs typeface="Aptos Display"/>
              </a:rPr>
              <a:t>Paramètres produit</a:t>
            </a:r>
            <a:endParaRPr lang="en-US" sz="2800"/>
          </a:p>
        </p:txBody>
      </p:sp>
      <p:sp>
        <p:nvSpPr>
          <p:cNvPr id="408258345" name="Text 2"/>
          <p:cNvSpPr/>
          <p:nvPr/>
        </p:nvSpPr>
        <p:spPr bwMode="auto">
          <a:xfrm>
            <a:off x="530352" y="896112"/>
            <a:ext cx="8778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B9C4EF"/>
                </a:solidFill>
                <a:latin typeface="Aptos"/>
                <a:ea typeface="Aptos"/>
                <a:cs typeface="Aptos"/>
              </a:rPr>
              <a:t>Les réglages clés à exposer dans l’application</a:t>
            </a:r>
            <a:endParaRPr lang="en-US" sz="1100"/>
          </a:p>
        </p:txBody>
      </p:sp>
      <p:sp>
        <p:nvSpPr>
          <p:cNvPr id="1053972054" name="Shape 3"/>
          <p:cNvSpPr/>
          <p:nvPr/>
        </p:nvSpPr>
        <p:spPr bwMode="auto">
          <a:xfrm>
            <a:off x="777240" y="1417320"/>
            <a:ext cx="2377440" cy="411480"/>
          </a:xfrm>
          <a:prstGeom prst="rect">
            <a:avLst/>
          </a:prstGeom>
          <a:solidFill>
            <a:srgbClr val="DDE6FF"/>
          </a:solidFill>
          <a:ln w="12700">
            <a:solidFill>
              <a:srgbClr val="9BAAE0"/>
            </a:solidFill>
            <a:prstDash val="solid"/>
          </a:ln>
        </p:spPr>
      </p:sp>
      <p:sp>
        <p:nvSpPr>
          <p:cNvPr id="562977164" name="Text 4"/>
          <p:cNvSpPr/>
          <p:nvPr/>
        </p:nvSpPr>
        <p:spPr bwMode="auto">
          <a:xfrm>
            <a:off x="832104" y="1490472"/>
            <a:ext cx="22677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 b="1">
                <a:solidFill>
                  <a:srgbClr val="1E2B5C"/>
                </a:solidFill>
              </a:rPr>
              <a:t>Paramètre</a:t>
            </a:r>
            <a:endParaRPr lang="en-US" sz="1050"/>
          </a:p>
        </p:txBody>
      </p:sp>
      <p:sp>
        <p:nvSpPr>
          <p:cNvPr id="875772025" name="Shape 5"/>
          <p:cNvSpPr/>
          <p:nvPr/>
        </p:nvSpPr>
        <p:spPr bwMode="auto">
          <a:xfrm>
            <a:off x="3154680" y="1417320"/>
            <a:ext cx="4754880" cy="411480"/>
          </a:xfrm>
          <a:prstGeom prst="rect">
            <a:avLst/>
          </a:prstGeom>
          <a:solidFill>
            <a:srgbClr val="DDE6FF"/>
          </a:solidFill>
          <a:ln w="12700">
            <a:solidFill>
              <a:srgbClr val="9BAAE0"/>
            </a:solidFill>
            <a:prstDash val="solid"/>
          </a:ln>
        </p:spPr>
      </p:sp>
      <p:sp>
        <p:nvSpPr>
          <p:cNvPr id="1183016597" name="Text 6"/>
          <p:cNvSpPr/>
          <p:nvPr/>
        </p:nvSpPr>
        <p:spPr bwMode="auto">
          <a:xfrm>
            <a:off x="3209544" y="1490472"/>
            <a:ext cx="46451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 b="1">
                <a:solidFill>
                  <a:srgbClr val="1E2B5C"/>
                </a:solidFill>
              </a:rPr>
              <a:t>Valeurs</a:t>
            </a:r>
            <a:endParaRPr lang="en-US" sz="1050"/>
          </a:p>
        </p:txBody>
      </p:sp>
      <p:sp>
        <p:nvSpPr>
          <p:cNvPr id="1479606015" name="Shape 7"/>
          <p:cNvSpPr/>
          <p:nvPr/>
        </p:nvSpPr>
        <p:spPr bwMode="auto">
          <a:xfrm>
            <a:off x="7909560" y="1417320"/>
            <a:ext cx="2011680" cy="411480"/>
          </a:xfrm>
          <a:prstGeom prst="rect">
            <a:avLst/>
          </a:prstGeom>
          <a:solidFill>
            <a:srgbClr val="DDE6FF"/>
          </a:solidFill>
          <a:ln w="12700">
            <a:solidFill>
              <a:srgbClr val="9BAAE0"/>
            </a:solidFill>
            <a:prstDash val="solid"/>
          </a:ln>
        </p:spPr>
      </p:sp>
      <p:sp>
        <p:nvSpPr>
          <p:cNvPr id="640437236" name="Text 8"/>
          <p:cNvSpPr/>
          <p:nvPr/>
        </p:nvSpPr>
        <p:spPr bwMode="auto">
          <a:xfrm>
            <a:off x="7964424" y="1490472"/>
            <a:ext cx="19019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 b="1">
                <a:solidFill>
                  <a:srgbClr val="1E2B5C"/>
                </a:solidFill>
              </a:rPr>
              <a:t>Défaut</a:t>
            </a:r>
            <a:endParaRPr lang="en-US" sz="1050"/>
          </a:p>
        </p:txBody>
      </p:sp>
      <p:sp>
        <p:nvSpPr>
          <p:cNvPr id="254565771" name="Shape 9"/>
          <p:cNvSpPr/>
          <p:nvPr/>
        </p:nvSpPr>
        <p:spPr bwMode="auto">
          <a:xfrm>
            <a:off x="777240" y="1828800"/>
            <a:ext cx="2377440" cy="475488"/>
          </a:xfrm>
          <a:prstGeom prst="rect">
            <a:avLst/>
          </a:prstGeom>
          <a:solidFill>
            <a:srgbClr val="0F1730"/>
          </a:solidFill>
          <a:ln w="12700">
            <a:solidFill>
              <a:srgbClr val="6E7CB8">
                <a:alpha val="35000"/>
              </a:srgbClr>
            </a:solidFill>
            <a:prstDash val="solid"/>
          </a:ln>
        </p:spPr>
      </p:sp>
      <p:sp>
        <p:nvSpPr>
          <p:cNvPr id="1699687295" name="Text 10"/>
          <p:cNvSpPr/>
          <p:nvPr/>
        </p:nvSpPr>
        <p:spPr bwMode="auto">
          <a:xfrm>
            <a:off x="832104" y="1892808"/>
            <a:ext cx="22677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AF0FF"/>
                </a:solidFill>
              </a:rPr>
              <a:t>Niveau Browser Use</a:t>
            </a:r>
            <a:endParaRPr lang="en-US" sz="1000"/>
          </a:p>
        </p:txBody>
      </p:sp>
      <p:sp>
        <p:nvSpPr>
          <p:cNvPr id="2003851170" name="Shape 11"/>
          <p:cNvSpPr/>
          <p:nvPr/>
        </p:nvSpPr>
        <p:spPr bwMode="auto">
          <a:xfrm>
            <a:off x="3154680" y="1828800"/>
            <a:ext cx="4754880" cy="475488"/>
          </a:xfrm>
          <a:prstGeom prst="rect">
            <a:avLst/>
          </a:prstGeom>
          <a:solidFill>
            <a:srgbClr val="0F1730"/>
          </a:solidFill>
          <a:ln w="12700">
            <a:solidFill>
              <a:srgbClr val="6E7CB8">
                <a:alpha val="35000"/>
              </a:srgbClr>
            </a:solidFill>
            <a:prstDash val="solid"/>
          </a:ln>
        </p:spPr>
      </p:sp>
      <p:sp>
        <p:nvSpPr>
          <p:cNvPr id="1570842167" name="Text 12"/>
          <p:cNvSpPr/>
          <p:nvPr/>
        </p:nvSpPr>
        <p:spPr bwMode="auto">
          <a:xfrm>
            <a:off x="3209544" y="1892808"/>
            <a:ext cx="46451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AF0FF"/>
                </a:solidFill>
              </a:rPr>
              <a:t>Désactivé / Limité / Étendu</a:t>
            </a:r>
            <a:endParaRPr lang="en-US" sz="1000"/>
          </a:p>
        </p:txBody>
      </p:sp>
      <p:sp>
        <p:nvSpPr>
          <p:cNvPr id="971429305" name="Shape 13"/>
          <p:cNvSpPr/>
          <p:nvPr/>
        </p:nvSpPr>
        <p:spPr bwMode="auto">
          <a:xfrm>
            <a:off x="7909560" y="1828800"/>
            <a:ext cx="2011680" cy="475488"/>
          </a:xfrm>
          <a:prstGeom prst="rect">
            <a:avLst/>
          </a:prstGeom>
          <a:solidFill>
            <a:srgbClr val="0F1730"/>
          </a:solidFill>
          <a:ln w="12700">
            <a:solidFill>
              <a:srgbClr val="6E7CB8">
                <a:alpha val="35000"/>
              </a:srgbClr>
            </a:solidFill>
            <a:prstDash val="solid"/>
          </a:ln>
        </p:spPr>
      </p:sp>
      <p:sp>
        <p:nvSpPr>
          <p:cNvPr id="1758508926" name="Text 14"/>
          <p:cNvSpPr/>
          <p:nvPr/>
        </p:nvSpPr>
        <p:spPr bwMode="auto">
          <a:xfrm>
            <a:off x="7964424" y="1892808"/>
            <a:ext cx="19019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AF0FF"/>
                </a:solidFill>
              </a:rPr>
              <a:t>Limité</a:t>
            </a:r>
            <a:endParaRPr lang="en-US" sz="1000"/>
          </a:p>
        </p:txBody>
      </p:sp>
      <p:sp>
        <p:nvSpPr>
          <p:cNvPr id="612442638" name="Shape 15"/>
          <p:cNvSpPr/>
          <p:nvPr/>
        </p:nvSpPr>
        <p:spPr bwMode="auto">
          <a:xfrm>
            <a:off x="777240" y="2304288"/>
            <a:ext cx="2377440" cy="475488"/>
          </a:xfrm>
          <a:prstGeom prst="rect">
            <a:avLst/>
          </a:prstGeom>
          <a:solidFill>
            <a:srgbClr val="111938"/>
          </a:solidFill>
          <a:ln w="12700">
            <a:solidFill>
              <a:srgbClr val="6E7CB8">
                <a:alpha val="35000"/>
              </a:srgbClr>
            </a:solidFill>
            <a:prstDash val="solid"/>
          </a:ln>
        </p:spPr>
      </p:sp>
      <p:sp>
        <p:nvSpPr>
          <p:cNvPr id="609680291" name="Text 16"/>
          <p:cNvSpPr/>
          <p:nvPr/>
        </p:nvSpPr>
        <p:spPr bwMode="auto">
          <a:xfrm>
            <a:off x="832104" y="2368296"/>
            <a:ext cx="22677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AF0FF"/>
                </a:solidFill>
              </a:rPr>
              <a:t>Moteur IA</a:t>
            </a:r>
            <a:endParaRPr lang="en-US" sz="1000"/>
          </a:p>
        </p:txBody>
      </p:sp>
      <p:sp>
        <p:nvSpPr>
          <p:cNvPr id="1056234915" name="Shape 17"/>
          <p:cNvSpPr/>
          <p:nvPr/>
        </p:nvSpPr>
        <p:spPr bwMode="auto">
          <a:xfrm>
            <a:off x="3154680" y="2304288"/>
            <a:ext cx="4754880" cy="475488"/>
          </a:xfrm>
          <a:prstGeom prst="rect">
            <a:avLst/>
          </a:prstGeom>
          <a:solidFill>
            <a:srgbClr val="111938"/>
          </a:solidFill>
          <a:ln w="12700">
            <a:solidFill>
              <a:srgbClr val="6E7CB8">
                <a:alpha val="35000"/>
              </a:srgbClr>
            </a:solidFill>
            <a:prstDash val="solid"/>
          </a:ln>
        </p:spPr>
      </p:sp>
      <p:sp>
        <p:nvSpPr>
          <p:cNvPr id="722896188" name="Text 18"/>
          <p:cNvSpPr/>
          <p:nvPr/>
        </p:nvSpPr>
        <p:spPr bwMode="auto">
          <a:xfrm>
            <a:off x="3209544" y="2368296"/>
            <a:ext cx="46451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AF0FF"/>
                </a:solidFill>
              </a:rPr>
              <a:t>Local / Distant / Secours</a:t>
            </a:r>
            <a:endParaRPr lang="en-US" sz="1000"/>
          </a:p>
        </p:txBody>
      </p:sp>
      <p:sp>
        <p:nvSpPr>
          <p:cNvPr id="1475442312" name="Shape 19"/>
          <p:cNvSpPr/>
          <p:nvPr/>
        </p:nvSpPr>
        <p:spPr bwMode="auto">
          <a:xfrm>
            <a:off x="7909560" y="2304288"/>
            <a:ext cx="2011680" cy="475488"/>
          </a:xfrm>
          <a:prstGeom prst="rect">
            <a:avLst/>
          </a:prstGeom>
          <a:solidFill>
            <a:srgbClr val="111938"/>
          </a:solidFill>
          <a:ln w="12700">
            <a:solidFill>
              <a:srgbClr val="6E7CB8">
                <a:alpha val="35000"/>
              </a:srgbClr>
            </a:solidFill>
            <a:prstDash val="solid"/>
          </a:ln>
        </p:spPr>
      </p:sp>
      <p:sp>
        <p:nvSpPr>
          <p:cNvPr id="2124339305" name="Text 20"/>
          <p:cNvSpPr/>
          <p:nvPr/>
        </p:nvSpPr>
        <p:spPr bwMode="auto">
          <a:xfrm>
            <a:off x="7964424" y="2368296"/>
            <a:ext cx="19019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AF0FF"/>
                </a:solidFill>
              </a:rPr>
              <a:t>Distant économique</a:t>
            </a:r>
            <a:endParaRPr lang="en-US" sz="1000"/>
          </a:p>
        </p:txBody>
      </p:sp>
      <p:sp>
        <p:nvSpPr>
          <p:cNvPr id="1702499943" name="Shape 21"/>
          <p:cNvSpPr/>
          <p:nvPr/>
        </p:nvSpPr>
        <p:spPr bwMode="auto">
          <a:xfrm>
            <a:off x="777240" y="2779776"/>
            <a:ext cx="2377440" cy="475488"/>
          </a:xfrm>
          <a:prstGeom prst="rect">
            <a:avLst/>
          </a:prstGeom>
          <a:solidFill>
            <a:srgbClr val="0F1730"/>
          </a:solidFill>
          <a:ln w="12700">
            <a:solidFill>
              <a:srgbClr val="6E7CB8">
                <a:alpha val="35000"/>
              </a:srgbClr>
            </a:solidFill>
            <a:prstDash val="solid"/>
          </a:ln>
        </p:spPr>
      </p:sp>
      <p:sp>
        <p:nvSpPr>
          <p:cNvPr id="1099484371" name="Text 22"/>
          <p:cNvSpPr/>
          <p:nvPr/>
        </p:nvSpPr>
        <p:spPr bwMode="auto">
          <a:xfrm>
            <a:off x="832104" y="2843784"/>
            <a:ext cx="22677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AF0FF"/>
                </a:solidFill>
              </a:rPr>
              <a:t>Classification mail</a:t>
            </a:r>
            <a:endParaRPr lang="en-US" sz="1000"/>
          </a:p>
        </p:txBody>
      </p:sp>
      <p:sp>
        <p:nvSpPr>
          <p:cNvPr id="1789553254" name="Shape 23"/>
          <p:cNvSpPr/>
          <p:nvPr/>
        </p:nvSpPr>
        <p:spPr bwMode="auto">
          <a:xfrm>
            <a:off x="3154680" y="2779776"/>
            <a:ext cx="4754880" cy="475488"/>
          </a:xfrm>
          <a:prstGeom prst="rect">
            <a:avLst/>
          </a:prstGeom>
          <a:solidFill>
            <a:srgbClr val="0F1730"/>
          </a:solidFill>
          <a:ln w="12700">
            <a:solidFill>
              <a:srgbClr val="6E7CB8">
                <a:alpha val="35000"/>
              </a:srgbClr>
            </a:solidFill>
            <a:prstDash val="solid"/>
          </a:ln>
        </p:spPr>
      </p:sp>
      <p:sp>
        <p:nvSpPr>
          <p:cNvPr id="1100124463" name="Text 24"/>
          <p:cNvSpPr/>
          <p:nvPr/>
        </p:nvSpPr>
        <p:spPr bwMode="auto">
          <a:xfrm>
            <a:off x="3209544" y="2843784"/>
            <a:ext cx="46451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AF0FF"/>
                </a:solidFill>
              </a:rPr>
              <a:t>Oui / Non</a:t>
            </a:r>
            <a:endParaRPr lang="en-US" sz="1000"/>
          </a:p>
        </p:txBody>
      </p:sp>
      <p:sp>
        <p:nvSpPr>
          <p:cNvPr id="1210011958" name="Shape 25"/>
          <p:cNvSpPr/>
          <p:nvPr/>
        </p:nvSpPr>
        <p:spPr bwMode="auto">
          <a:xfrm>
            <a:off x="7909560" y="2779776"/>
            <a:ext cx="2011680" cy="475488"/>
          </a:xfrm>
          <a:prstGeom prst="rect">
            <a:avLst/>
          </a:prstGeom>
          <a:solidFill>
            <a:srgbClr val="0F1730"/>
          </a:solidFill>
          <a:ln w="12700">
            <a:solidFill>
              <a:srgbClr val="6E7CB8">
                <a:alpha val="35000"/>
              </a:srgbClr>
            </a:solidFill>
            <a:prstDash val="solid"/>
          </a:ln>
        </p:spPr>
      </p:sp>
      <p:sp>
        <p:nvSpPr>
          <p:cNvPr id="1211697783" name="Text 26"/>
          <p:cNvSpPr/>
          <p:nvPr/>
        </p:nvSpPr>
        <p:spPr bwMode="auto">
          <a:xfrm>
            <a:off x="7964424" y="2843784"/>
            <a:ext cx="19019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AF0FF"/>
                </a:solidFill>
              </a:rPr>
              <a:t>Oui</a:t>
            </a:r>
            <a:endParaRPr lang="en-US" sz="1000"/>
          </a:p>
        </p:txBody>
      </p:sp>
      <p:sp>
        <p:nvSpPr>
          <p:cNvPr id="589137646" name="Shape 27"/>
          <p:cNvSpPr/>
          <p:nvPr/>
        </p:nvSpPr>
        <p:spPr bwMode="auto">
          <a:xfrm>
            <a:off x="777240" y="3255264"/>
            <a:ext cx="2377440" cy="475488"/>
          </a:xfrm>
          <a:prstGeom prst="rect">
            <a:avLst/>
          </a:prstGeom>
          <a:solidFill>
            <a:srgbClr val="111938"/>
          </a:solidFill>
          <a:ln w="12700">
            <a:solidFill>
              <a:srgbClr val="6E7CB8">
                <a:alpha val="35000"/>
              </a:srgbClr>
            </a:solidFill>
            <a:prstDash val="solid"/>
          </a:ln>
        </p:spPr>
      </p:sp>
      <p:sp>
        <p:nvSpPr>
          <p:cNvPr id="610259386" name="Text 28"/>
          <p:cNvSpPr/>
          <p:nvPr/>
        </p:nvSpPr>
        <p:spPr bwMode="auto">
          <a:xfrm>
            <a:off x="832104" y="3319272"/>
            <a:ext cx="22677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AF0FF"/>
                </a:solidFill>
              </a:rPr>
              <a:t>Quantité de scroll</a:t>
            </a:r>
            <a:endParaRPr lang="en-US" sz="1000"/>
          </a:p>
        </p:txBody>
      </p:sp>
      <p:sp>
        <p:nvSpPr>
          <p:cNvPr id="1668336559" name="Shape 29"/>
          <p:cNvSpPr/>
          <p:nvPr/>
        </p:nvSpPr>
        <p:spPr bwMode="auto">
          <a:xfrm>
            <a:off x="3154680" y="3255264"/>
            <a:ext cx="4754880" cy="475488"/>
          </a:xfrm>
          <a:prstGeom prst="rect">
            <a:avLst/>
          </a:prstGeom>
          <a:solidFill>
            <a:srgbClr val="111938"/>
          </a:solidFill>
          <a:ln w="12700">
            <a:solidFill>
              <a:srgbClr val="6E7CB8">
                <a:alpha val="35000"/>
              </a:srgbClr>
            </a:solidFill>
            <a:prstDash val="solid"/>
          </a:ln>
        </p:spPr>
      </p:sp>
      <p:sp>
        <p:nvSpPr>
          <p:cNvPr id="1744599030" name="Text 30"/>
          <p:cNvSpPr/>
          <p:nvPr/>
        </p:nvSpPr>
        <p:spPr bwMode="auto">
          <a:xfrm>
            <a:off x="3209544" y="3319272"/>
            <a:ext cx="46451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AF0FF"/>
                </a:solidFill>
              </a:rPr>
              <a:t>1 écran / 3 paragraphes / 10 lignes</a:t>
            </a:r>
            <a:endParaRPr lang="en-US" sz="1000"/>
          </a:p>
        </p:txBody>
      </p:sp>
      <p:sp>
        <p:nvSpPr>
          <p:cNvPr id="2135152850" name="Shape 31"/>
          <p:cNvSpPr/>
          <p:nvPr/>
        </p:nvSpPr>
        <p:spPr bwMode="auto">
          <a:xfrm>
            <a:off x="7909560" y="3255264"/>
            <a:ext cx="2011680" cy="475488"/>
          </a:xfrm>
          <a:prstGeom prst="rect">
            <a:avLst/>
          </a:prstGeom>
          <a:solidFill>
            <a:srgbClr val="111938"/>
          </a:solidFill>
          <a:ln w="12700">
            <a:solidFill>
              <a:srgbClr val="6E7CB8">
                <a:alpha val="35000"/>
              </a:srgbClr>
            </a:solidFill>
            <a:prstDash val="solid"/>
          </a:ln>
        </p:spPr>
      </p:sp>
      <p:sp>
        <p:nvSpPr>
          <p:cNvPr id="334437747" name="Text 32"/>
          <p:cNvSpPr/>
          <p:nvPr/>
        </p:nvSpPr>
        <p:spPr bwMode="auto">
          <a:xfrm>
            <a:off x="7964424" y="3319272"/>
            <a:ext cx="19019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AF0FF"/>
                </a:solidFill>
              </a:rPr>
              <a:t>3 paragraphes</a:t>
            </a:r>
            <a:endParaRPr lang="en-US" sz="1000"/>
          </a:p>
        </p:txBody>
      </p:sp>
      <p:sp>
        <p:nvSpPr>
          <p:cNvPr id="2033688765" name="Shape 33"/>
          <p:cNvSpPr/>
          <p:nvPr/>
        </p:nvSpPr>
        <p:spPr bwMode="auto">
          <a:xfrm>
            <a:off x="777240" y="3730752"/>
            <a:ext cx="2377440" cy="475488"/>
          </a:xfrm>
          <a:prstGeom prst="rect">
            <a:avLst/>
          </a:prstGeom>
          <a:solidFill>
            <a:srgbClr val="0F1730"/>
          </a:solidFill>
          <a:ln w="12700">
            <a:solidFill>
              <a:srgbClr val="6E7CB8">
                <a:alpha val="35000"/>
              </a:srgbClr>
            </a:solidFill>
            <a:prstDash val="solid"/>
          </a:ln>
        </p:spPr>
      </p:sp>
      <p:sp>
        <p:nvSpPr>
          <p:cNvPr id="1295341503" name="Text 34"/>
          <p:cNvSpPr/>
          <p:nvPr/>
        </p:nvSpPr>
        <p:spPr bwMode="auto">
          <a:xfrm>
            <a:off x="832104" y="3794760"/>
            <a:ext cx="22677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AF0FF"/>
                </a:solidFill>
              </a:rPr>
              <a:t>Vitesse de scroll</a:t>
            </a:r>
            <a:endParaRPr lang="en-US" sz="1000"/>
          </a:p>
        </p:txBody>
      </p:sp>
      <p:sp>
        <p:nvSpPr>
          <p:cNvPr id="911817671" name="Shape 35"/>
          <p:cNvSpPr/>
          <p:nvPr/>
        </p:nvSpPr>
        <p:spPr bwMode="auto">
          <a:xfrm>
            <a:off x="3154680" y="3730752"/>
            <a:ext cx="4754880" cy="475488"/>
          </a:xfrm>
          <a:prstGeom prst="rect">
            <a:avLst/>
          </a:prstGeom>
          <a:solidFill>
            <a:srgbClr val="0F1730"/>
          </a:solidFill>
          <a:ln w="12700">
            <a:solidFill>
              <a:srgbClr val="6E7CB8">
                <a:alpha val="35000"/>
              </a:srgbClr>
            </a:solidFill>
            <a:prstDash val="solid"/>
          </a:ln>
        </p:spPr>
      </p:sp>
      <p:sp>
        <p:nvSpPr>
          <p:cNvPr id="970961333" name="Text 36"/>
          <p:cNvSpPr/>
          <p:nvPr/>
        </p:nvSpPr>
        <p:spPr bwMode="auto">
          <a:xfrm>
            <a:off x="3209544" y="3794760"/>
            <a:ext cx="46451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AF0FF"/>
                </a:solidFill>
              </a:rPr>
              <a:t>Lent / Normal / Rapide</a:t>
            </a:r>
            <a:endParaRPr lang="en-US" sz="1000"/>
          </a:p>
        </p:txBody>
      </p:sp>
      <p:sp>
        <p:nvSpPr>
          <p:cNvPr id="1014488940" name="Shape 37"/>
          <p:cNvSpPr/>
          <p:nvPr/>
        </p:nvSpPr>
        <p:spPr bwMode="auto">
          <a:xfrm>
            <a:off x="7909560" y="3730752"/>
            <a:ext cx="2011680" cy="475488"/>
          </a:xfrm>
          <a:prstGeom prst="rect">
            <a:avLst/>
          </a:prstGeom>
          <a:solidFill>
            <a:srgbClr val="0F1730"/>
          </a:solidFill>
          <a:ln w="12700">
            <a:solidFill>
              <a:srgbClr val="6E7CB8">
                <a:alpha val="35000"/>
              </a:srgbClr>
            </a:solidFill>
            <a:prstDash val="solid"/>
          </a:ln>
        </p:spPr>
      </p:sp>
      <p:sp>
        <p:nvSpPr>
          <p:cNvPr id="1069507497" name="Text 38"/>
          <p:cNvSpPr/>
          <p:nvPr/>
        </p:nvSpPr>
        <p:spPr bwMode="auto">
          <a:xfrm>
            <a:off x="7964424" y="3794760"/>
            <a:ext cx="19019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AF0FF"/>
                </a:solidFill>
              </a:rPr>
              <a:t>Normal</a:t>
            </a:r>
            <a:endParaRPr lang="en-US" sz="1000"/>
          </a:p>
        </p:txBody>
      </p:sp>
      <p:sp>
        <p:nvSpPr>
          <p:cNvPr id="430051357" name="Shape 39"/>
          <p:cNvSpPr/>
          <p:nvPr/>
        </p:nvSpPr>
        <p:spPr bwMode="auto">
          <a:xfrm>
            <a:off x="777240" y="4206240"/>
            <a:ext cx="2377440" cy="475488"/>
          </a:xfrm>
          <a:prstGeom prst="rect">
            <a:avLst/>
          </a:prstGeom>
          <a:solidFill>
            <a:srgbClr val="111938"/>
          </a:solidFill>
          <a:ln w="12700">
            <a:solidFill>
              <a:srgbClr val="6E7CB8">
                <a:alpha val="35000"/>
              </a:srgbClr>
            </a:solidFill>
            <a:prstDash val="solid"/>
          </a:ln>
        </p:spPr>
      </p:sp>
      <p:sp>
        <p:nvSpPr>
          <p:cNvPr id="902616535" name="Text 40"/>
          <p:cNvSpPr/>
          <p:nvPr/>
        </p:nvSpPr>
        <p:spPr bwMode="auto">
          <a:xfrm>
            <a:off x="832104" y="4270248"/>
            <a:ext cx="22677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AF0FF"/>
                </a:solidFill>
              </a:rPr>
              <a:t>Mode envoi</a:t>
            </a:r>
            <a:endParaRPr lang="en-US" sz="1000"/>
          </a:p>
        </p:txBody>
      </p:sp>
      <p:sp>
        <p:nvSpPr>
          <p:cNvPr id="108762070" name="Shape 41"/>
          <p:cNvSpPr/>
          <p:nvPr/>
        </p:nvSpPr>
        <p:spPr bwMode="auto">
          <a:xfrm>
            <a:off x="3154680" y="4206240"/>
            <a:ext cx="4754880" cy="475488"/>
          </a:xfrm>
          <a:prstGeom prst="rect">
            <a:avLst/>
          </a:prstGeom>
          <a:solidFill>
            <a:srgbClr val="111938"/>
          </a:solidFill>
          <a:ln w="12700">
            <a:solidFill>
              <a:srgbClr val="6E7CB8">
                <a:alpha val="35000"/>
              </a:srgbClr>
            </a:solidFill>
            <a:prstDash val="solid"/>
          </a:ln>
        </p:spPr>
      </p:sp>
      <p:sp>
        <p:nvSpPr>
          <p:cNvPr id="1950524759" name="Text 42"/>
          <p:cNvSpPr/>
          <p:nvPr/>
        </p:nvSpPr>
        <p:spPr bwMode="auto">
          <a:xfrm>
            <a:off x="3209544" y="4270248"/>
            <a:ext cx="46451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AF0FF"/>
                </a:solidFill>
              </a:rPr>
              <a:t>Simulation / Validation simple / Double validation</a:t>
            </a:r>
            <a:endParaRPr lang="en-US" sz="1000"/>
          </a:p>
        </p:txBody>
      </p:sp>
      <p:sp>
        <p:nvSpPr>
          <p:cNvPr id="1739035743" name="Shape 43"/>
          <p:cNvSpPr/>
          <p:nvPr/>
        </p:nvSpPr>
        <p:spPr bwMode="auto">
          <a:xfrm>
            <a:off x="7909560" y="4206240"/>
            <a:ext cx="2011680" cy="475488"/>
          </a:xfrm>
          <a:prstGeom prst="rect">
            <a:avLst/>
          </a:prstGeom>
          <a:solidFill>
            <a:srgbClr val="111938"/>
          </a:solidFill>
          <a:ln w="12700">
            <a:solidFill>
              <a:srgbClr val="6E7CB8">
                <a:alpha val="35000"/>
              </a:srgbClr>
            </a:solidFill>
            <a:prstDash val="solid"/>
          </a:ln>
        </p:spPr>
      </p:sp>
      <p:sp>
        <p:nvSpPr>
          <p:cNvPr id="357200909" name="Text 44"/>
          <p:cNvSpPr/>
          <p:nvPr/>
        </p:nvSpPr>
        <p:spPr bwMode="auto">
          <a:xfrm>
            <a:off x="7964424" y="4270248"/>
            <a:ext cx="19019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AF0FF"/>
                </a:solidFill>
              </a:rPr>
              <a:t>Simulation</a:t>
            </a:r>
            <a:endParaRPr lang="en-US" sz="1000"/>
          </a:p>
        </p:txBody>
      </p:sp>
      <p:sp>
        <p:nvSpPr>
          <p:cNvPr id="6511677" name="Shape 45"/>
          <p:cNvSpPr/>
          <p:nvPr/>
        </p:nvSpPr>
        <p:spPr bwMode="auto">
          <a:xfrm>
            <a:off x="777240" y="4681728"/>
            <a:ext cx="2377440" cy="475488"/>
          </a:xfrm>
          <a:prstGeom prst="rect">
            <a:avLst/>
          </a:prstGeom>
          <a:solidFill>
            <a:srgbClr val="0F1730"/>
          </a:solidFill>
          <a:ln w="12700">
            <a:solidFill>
              <a:srgbClr val="6E7CB8">
                <a:alpha val="35000"/>
              </a:srgbClr>
            </a:solidFill>
            <a:prstDash val="solid"/>
          </a:ln>
        </p:spPr>
      </p:sp>
      <p:sp>
        <p:nvSpPr>
          <p:cNvPr id="799708931" name="Text 46"/>
          <p:cNvSpPr/>
          <p:nvPr/>
        </p:nvSpPr>
        <p:spPr bwMode="auto">
          <a:xfrm>
            <a:off x="832104" y="4745736"/>
            <a:ext cx="22677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AF0FF"/>
                </a:solidFill>
              </a:rPr>
              <a:t>Taille boutons</a:t>
            </a:r>
            <a:endParaRPr lang="en-US" sz="1000"/>
          </a:p>
        </p:txBody>
      </p:sp>
      <p:sp>
        <p:nvSpPr>
          <p:cNvPr id="1108521920" name="Shape 47"/>
          <p:cNvSpPr/>
          <p:nvPr/>
        </p:nvSpPr>
        <p:spPr bwMode="auto">
          <a:xfrm>
            <a:off x="3154680" y="4681728"/>
            <a:ext cx="4754880" cy="475488"/>
          </a:xfrm>
          <a:prstGeom prst="rect">
            <a:avLst/>
          </a:prstGeom>
          <a:solidFill>
            <a:srgbClr val="0F1730"/>
          </a:solidFill>
          <a:ln w="12700">
            <a:solidFill>
              <a:srgbClr val="6E7CB8">
                <a:alpha val="35000"/>
              </a:srgbClr>
            </a:solidFill>
            <a:prstDash val="solid"/>
          </a:ln>
        </p:spPr>
      </p:sp>
      <p:sp>
        <p:nvSpPr>
          <p:cNvPr id="198460606" name="Text 48"/>
          <p:cNvSpPr/>
          <p:nvPr/>
        </p:nvSpPr>
        <p:spPr bwMode="auto">
          <a:xfrm>
            <a:off x="3209544" y="4745736"/>
            <a:ext cx="46451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AF0FF"/>
                </a:solidFill>
              </a:rPr>
              <a:t>Compacte / Standard / Grande / Très grande</a:t>
            </a:r>
            <a:endParaRPr lang="en-US" sz="1000"/>
          </a:p>
        </p:txBody>
      </p:sp>
      <p:sp>
        <p:nvSpPr>
          <p:cNvPr id="252844" name="Shape 49"/>
          <p:cNvSpPr/>
          <p:nvPr/>
        </p:nvSpPr>
        <p:spPr bwMode="auto">
          <a:xfrm>
            <a:off x="7909560" y="4681728"/>
            <a:ext cx="2011680" cy="475488"/>
          </a:xfrm>
          <a:prstGeom prst="rect">
            <a:avLst/>
          </a:prstGeom>
          <a:solidFill>
            <a:srgbClr val="0F1730"/>
          </a:solidFill>
          <a:ln w="12700">
            <a:solidFill>
              <a:srgbClr val="6E7CB8">
                <a:alpha val="35000"/>
              </a:srgbClr>
            </a:solidFill>
            <a:prstDash val="solid"/>
          </a:ln>
        </p:spPr>
      </p:sp>
      <p:sp>
        <p:nvSpPr>
          <p:cNvPr id="1170917219" name="Text 50"/>
          <p:cNvSpPr/>
          <p:nvPr/>
        </p:nvSpPr>
        <p:spPr bwMode="auto">
          <a:xfrm>
            <a:off x="7964424" y="4745736"/>
            <a:ext cx="19019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AF0FF"/>
                </a:solidFill>
              </a:rPr>
              <a:t>Grande</a:t>
            </a:r>
            <a:endParaRPr lang="en-US" sz="1000"/>
          </a:p>
        </p:txBody>
      </p:sp>
      <p:sp>
        <p:nvSpPr>
          <p:cNvPr id="1610475053" name="Shape 51"/>
          <p:cNvSpPr/>
          <p:nvPr/>
        </p:nvSpPr>
        <p:spPr bwMode="auto">
          <a:xfrm>
            <a:off x="777240" y="5157216"/>
            <a:ext cx="2377440" cy="475488"/>
          </a:xfrm>
          <a:prstGeom prst="rect">
            <a:avLst/>
          </a:prstGeom>
          <a:solidFill>
            <a:srgbClr val="111938"/>
          </a:solidFill>
          <a:ln w="12700">
            <a:solidFill>
              <a:srgbClr val="6E7CB8">
                <a:alpha val="35000"/>
              </a:srgbClr>
            </a:solidFill>
            <a:prstDash val="solid"/>
          </a:ln>
        </p:spPr>
      </p:sp>
      <p:sp>
        <p:nvSpPr>
          <p:cNvPr id="803400806" name="Text 52"/>
          <p:cNvSpPr/>
          <p:nvPr/>
        </p:nvSpPr>
        <p:spPr bwMode="auto">
          <a:xfrm>
            <a:off x="832104" y="5221224"/>
            <a:ext cx="22677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AF0FF"/>
                </a:solidFill>
              </a:rPr>
              <a:t>Police</a:t>
            </a:r>
            <a:endParaRPr lang="en-US" sz="1000"/>
          </a:p>
        </p:txBody>
      </p:sp>
      <p:sp>
        <p:nvSpPr>
          <p:cNvPr id="1246868113" name="Shape 53"/>
          <p:cNvSpPr/>
          <p:nvPr/>
        </p:nvSpPr>
        <p:spPr bwMode="auto">
          <a:xfrm>
            <a:off x="3154680" y="5157216"/>
            <a:ext cx="4754880" cy="475488"/>
          </a:xfrm>
          <a:prstGeom prst="rect">
            <a:avLst/>
          </a:prstGeom>
          <a:solidFill>
            <a:srgbClr val="111938"/>
          </a:solidFill>
          <a:ln w="12700">
            <a:solidFill>
              <a:srgbClr val="6E7CB8">
                <a:alpha val="35000"/>
              </a:srgbClr>
            </a:solidFill>
            <a:prstDash val="solid"/>
          </a:ln>
        </p:spPr>
      </p:sp>
      <p:sp>
        <p:nvSpPr>
          <p:cNvPr id="6986072" name="Text 54"/>
          <p:cNvSpPr/>
          <p:nvPr/>
        </p:nvSpPr>
        <p:spPr bwMode="auto">
          <a:xfrm>
            <a:off x="3209544" y="5221224"/>
            <a:ext cx="46451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AF0FF"/>
                </a:solidFill>
              </a:rPr>
              <a:t>Inter / Atkinson / autre</a:t>
            </a:r>
            <a:endParaRPr lang="en-US" sz="1000"/>
          </a:p>
        </p:txBody>
      </p:sp>
      <p:sp>
        <p:nvSpPr>
          <p:cNvPr id="73805936" name="Shape 55"/>
          <p:cNvSpPr/>
          <p:nvPr/>
        </p:nvSpPr>
        <p:spPr bwMode="auto">
          <a:xfrm>
            <a:off x="7909560" y="5157216"/>
            <a:ext cx="2011680" cy="475488"/>
          </a:xfrm>
          <a:prstGeom prst="rect">
            <a:avLst/>
          </a:prstGeom>
          <a:solidFill>
            <a:srgbClr val="111938"/>
          </a:solidFill>
          <a:ln w="12700">
            <a:solidFill>
              <a:srgbClr val="6E7CB8">
                <a:alpha val="35000"/>
              </a:srgbClr>
            </a:solidFill>
            <a:prstDash val="solid"/>
          </a:ln>
        </p:spPr>
      </p:sp>
      <p:sp>
        <p:nvSpPr>
          <p:cNvPr id="1900613776" name="Text 56"/>
          <p:cNvSpPr/>
          <p:nvPr/>
        </p:nvSpPr>
        <p:spPr bwMode="auto">
          <a:xfrm>
            <a:off x="7964424" y="5221224"/>
            <a:ext cx="19019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AF0FF"/>
                </a:solidFill>
              </a:rPr>
              <a:t>Inter</a:t>
            </a:r>
            <a:endParaRPr lang="en-US" sz="1000"/>
          </a:p>
        </p:txBody>
      </p:sp>
      <p:sp>
        <p:nvSpPr>
          <p:cNvPr id="615217705" name="Shape 57"/>
          <p:cNvSpPr/>
          <p:nvPr/>
        </p:nvSpPr>
        <p:spPr bwMode="auto">
          <a:xfrm>
            <a:off x="10012680" y="1417320"/>
            <a:ext cx="1508759" cy="3566160"/>
          </a:xfrm>
          <a:prstGeom prst="roundRect">
            <a:avLst>
              <a:gd name="adj" fmla="val 7273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7C8ACB">
                <a:alpha val="35000"/>
              </a:srgbClr>
            </a:solidFill>
            <a:prstDash val="solid"/>
          </a:ln>
          <a:effectLst>
            <a:outerShdw blurRad="19050" dist="15240" dir="27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999553719" name="Shape 58"/>
          <p:cNvSpPr/>
          <p:nvPr/>
        </p:nvSpPr>
        <p:spPr bwMode="auto">
          <a:xfrm>
            <a:off x="10012680" y="1417320"/>
            <a:ext cx="54864" cy="35661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166167131" name="Text 59"/>
          <p:cNvSpPr/>
          <p:nvPr/>
        </p:nvSpPr>
        <p:spPr bwMode="auto">
          <a:xfrm>
            <a:off x="10177272" y="1527048"/>
            <a:ext cx="1234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0070C0"/>
                </a:solidFill>
                <a:latin typeface="Aptos"/>
                <a:ea typeface="Aptos"/>
                <a:cs typeface="Aptos"/>
              </a:rPr>
              <a:t>Principe</a:t>
            </a:r>
            <a:endParaRPr sz="1400">
              <a:solidFill>
                <a:srgbClr val="0070C0"/>
              </a:solidFill>
            </a:endParaRPr>
          </a:p>
        </p:txBody>
      </p:sp>
      <p:sp>
        <p:nvSpPr>
          <p:cNvPr id="775875326" name="Text 60"/>
          <p:cNvSpPr/>
          <p:nvPr/>
        </p:nvSpPr>
        <p:spPr bwMode="auto">
          <a:xfrm>
            <a:off x="10177272" y="1801367"/>
            <a:ext cx="1252728" cy="3108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0070C0"/>
                </a:solidFill>
                <a:latin typeface="Aptos"/>
                <a:ea typeface="Aptos"/>
                <a:cs typeface="Aptos"/>
              </a:rPr>
              <a:t>Tout ce qui influence le confort, la vitesse ou le budget doit être pilotable : LLM, Browser Use, scroll, validation et densité visuelle.</a:t>
            </a:r>
            <a:endParaRPr sz="1400">
              <a:solidFill>
                <a:srgbClr val="0070C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8">
    <p:bg>
      <p:bgPr shadeToTitle="0">
        <a:solidFill>
          <a:srgbClr val="0B102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323978" name="Shape 0"/>
          <p:cNvSpPr/>
          <p:nvPr/>
        </p:nvSpPr>
        <p:spPr bwMode="auto">
          <a:xfrm>
            <a:off x="0" y="0"/>
            <a:ext cx="12191695" cy="256032"/>
          </a:xfrm>
          <a:prstGeom prst="rect">
            <a:avLst/>
          </a:prstGeom>
          <a:solidFill>
            <a:srgbClr val="3B2BA3"/>
          </a:solidFill>
          <a:ln w="12700">
            <a:solidFill>
              <a:srgbClr val="3B2BA3">
                <a:alpha val="0"/>
              </a:srgbClr>
            </a:solidFill>
            <a:prstDash val="solid"/>
          </a:ln>
        </p:spPr>
      </p:sp>
      <p:sp>
        <p:nvSpPr>
          <p:cNvPr id="954258201" name="Text 1"/>
          <p:cNvSpPr/>
          <p:nvPr/>
        </p:nvSpPr>
        <p:spPr bwMode="auto">
          <a:xfrm>
            <a:off x="502920" y="4114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F6F8FF"/>
                </a:solidFill>
                <a:latin typeface="Aptos Display"/>
                <a:ea typeface="Aptos Display"/>
                <a:cs typeface="Aptos Display"/>
              </a:rPr>
              <a:t>Lecture technique et commerciale</a:t>
            </a:r>
            <a:endParaRPr lang="en-US" sz="2800"/>
          </a:p>
        </p:txBody>
      </p:sp>
      <p:sp>
        <p:nvSpPr>
          <p:cNvPr id="1594136357" name="Text 2"/>
          <p:cNvSpPr/>
          <p:nvPr/>
        </p:nvSpPr>
        <p:spPr bwMode="auto">
          <a:xfrm>
            <a:off x="530352" y="896112"/>
            <a:ext cx="8778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B9C4EF"/>
                </a:solidFill>
                <a:latin typeface="Aptos"/>
                <a:ea typeface="Aptos"/>
                <a:cs typeface="Aptos"/>
              </a:rPr>
              <a:t>Pourquoi le projet est maintenant suffisamment cadré pour une V1</a:t>
            </a:r>
            <a:endParaRPr lang="en-US" sz="1100"/>
          </a:p>
        </p:txBody>
      </p:sp>
      <p:sp>
        <p:nvSpPr>
          <p:cNvPr id="453012382" name="Shape 3"/>
          <p:cNvSpPr/>
          <p:nvPr/>
        </p:nvSpPr>
        <p:spPr bwMode="auto">
          <a:xfrm>
            <a:off x="640080" y="1325880"/>
            <a:ext cx="3566160" cy="1737360"/>
          </a:xfrm>
          <a:prstGeom prst="roundRect">
            <a:avLst>
              <a:gd name="adj" fmla="val 6316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7C8ACB">
                <a:alpha val="35000"/>
              </a:srgbClr>
            </a:solidFill>
            <a:prstDash val="solid"/>
          </a:ln>
          <a:effectLst>
            <a:outerShdw blurRad="19050" dist="15240" dir="2700000" sx="100000" sy="100000" kx="0" ky="0" algn="bl" rotWithShape="0">
              <a:srgbClr val="000000">
                <a:alpha val="18000"/>
              </a:srgbClr>
            </a:outerShdw>
          </a:effectLst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1619079979" name="Shape 4"/>
          <p:cNvSpPr/>
          <p:nvPr/>
        </p:nvSpPr>
        <p:spPr bwMode="auto">
          <a:xfrm>
            <a:off x="640080" y="1325880"/>
            <a:ext cx="54864" cy="173736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1216951628" name="Text 5"/>
          <p:cNvSpPr/>
          <p:nvPr/>
        </p:nvSpPr>
        <p:spPr bwMode="auto">
          <a:xfrm>
            <a:off x="804672" y="143560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0070C0"/>
                </a:solidFill>
                <a:latin typeface="Aptos"/>
                <a:ea typeface="Aptos"/>
                <a:cs typeface="Aptos"/>
              </a:rPr>
              <a:t>Technique</a:t>
            </a:r>
            <a:endParaRPr sz="1400">
              <a:solidFill>
                <a:srgbClr val="0070C0"/>
              </a:solidFill>
            </a:endParaRPr>
          </a:p>
        </p:txBody>
      </p:sp>
      <p:sp>
        <p:nvSpPr>
          <p:cNvPr id="887953739" name="Text 6"/>
          <p:cNvSpPr/>
          <p:nvPr/>
        </p:nvSpPr>
        <p:spPr bwMode="auto">
          <a:xfrm>
            <a:off x="804672" y="1709928"/>
            <a:ext cx="3310127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0070C0"/>
                </a:solidFill>
                <a:latin typeface="Aptos"/>
                <a:ea typeface="Aptos"/>
                <a:cs typeface="Aptos"/>
              </a:rPr>
              <a:t>Architecture modulaire, paramètres complets, workflow séquentiel, Browser Use débrayable, LLM sélectionnable local ou distant.</a:t>
            </a:r>
            <a:endParaRPr sz="1400">
              <a:solidFill>
                <a:srgbClr val="0070C0"/>
              </a:solidFill>
            </a:endParaRPr>
          </a:p>
        </p:txBody>
      </p:sp>
      <p:sp>
        <p:nvSpPr>
          <p:cNvPr id="1563212998" name="Shape 7"/>
          <p:cNvSpPr/>
          <p:nvPr/>
        </p:nvSpPr>
        <p:spPr bwMode="auto">
          <a:xfrm>
            <a:off x="4343400" y="1325880"/>
            <a:ext cx="3566160" cy="1737360"/>
          </a:xfrm>
          <a:prstGeom prst="roundRect">
            <a:avLst>
              <a:gd name="adj" fmla="val 6316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7C8ACB">
                <a:alpha val="35000"/>
              </a:srgbClr>
            </a:solidFill>
            <a:prstDash val="solid"/>
          </a:ln>
          <a:effectLst>
            <a:outerShdw blurRad="19050" dist="15240" dir="27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1847557047" name="Shape 8"/>
          <p:cNvSpPr/>
          <p:nvPr/>
        </p:nvSpPr>
        <p:spPr bwMode="auto">
          <a:xfrm>
            <a:off x="4343400" y="1325880"/>
            <a:ext cx="54864" cy="17373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046544636" name="Text 9"/>
          <p:cNvSpPr/>
          <p:nvPr/>
        </p:nvSpPr>
        <p:spPr bwMode="auto">
          <a:xfrm>
            <a:off x="4507992" y="143560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0070C0"/>
                </a:solidFill>
                <a:latin typeface="Aptos"/>
                <a:ea typeface="Aptos"/>
                <a:cs typeface="Aptos"/>
              </a:rPr>
              <a:t>Produit</a:t>
            </a:r>
            <a:endParaRPr lang="en-US" sz="1400"/>
          </a:p>
        </p:txBody>
      </p:sp>
      <p:sp>
        <p:nvSpPr>
          <p:cNvPr id="1345782241" name="Text 10"/>
          <p:cNvSpPr/>
          <p:nvPr/>
        </p:nvSpPr>
        <p:spPr bwMode="auto">
          <a:xfrm>
            <a:off x="4507992" y="1709928"/>
            <a:ext cx="3310127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0070C0"/>
                </a:solidFill>
                <a:latin typeface="Aptos"/>
                <a:ea typeface="Aptos"/>
                <a:cs typeface="Aptos"/>
              </a:rPr>
              <a:t>Valeur claire : autonomie accrue, fatigue réduite, validation finale conservée, expérience stable et moderne.</a:t>
            </a:r>
            <a:endParaRPr sz="1400">
              <a:solidFill>
                <a:srgbClr val="0070C0"/>
              </a:solidFill>
            </a:endParaRPr>
          </a:p>
        </p:txBody>
      </p:sp>
      <p:sp>
        <p:nvSpPr>
          <p:cNvPr id="77382340" name="Shape 11"/>
          <p:cNvSpPr/>
          <p:nvPr/>
        </p:nvSpPr>
        <p:spPr bwMode="auto">
          <a:xfrm>
            <a:off x="8046720" y="1325880"/>
            <a:ext cx="3474720" cy="1737360"/>
          </a:xfrm>
          <a:prstGeom prst="roundRect">
            <a:avLst>
              <a:gd name="adj" fmla="val 6316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7C8ACB">
                <a:alpha val="35000"/>
              </a:srgbClr>
            </a:solidFill>
            <a:prstDash val="solid"/>
          </a:ln>
          <a:effectLst>
            <a:outerShdw blurRad="19050" dist="15240" dir="27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976249629" name="Shape 12"/>
          <p:cNvSpPr/>
          <p:nvPr/>
        </p:nvSpPr>
        <p:spPr bwMode="auto">
          <a:xfrm>
            <a:off x="8046720" y="1325880"/>
            <a:ext cx="54864" cy="1737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401365280" name="Text 13"/>
          <p:cNvSpPr/>
          <p:nvPr/>
        </p:nvSpPr>
        <p:spPr bwMode="auto">
          <a:xfrm>
            <a:off x="8211312" y="1435608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0070C0"/>
                </a:solidFill>
                <a:latin typeface="Aptos"/>
                <a:ea typeface="Aptos"/>
                <a:cs typeface="Aptos"/>
              </a:rPr>
              <a:t>Commercial</a:t>
            </a:r>
            <a:endParaRPr lang="en-US" sz="1400"/>
          </a:p>
        </p:txBody>
      </p:sp>
      <p:sp>
        <p:nvSpPr>
          <p:cNvPr id="1146086575" name="Text 14"/>
          <p:cNvSpPr/>
          <p:nvPr/>
        </p:nvSpPr>
        <p:spPr bwMode="auto">
          <a:xfrm>
            <a:off x="8211312" y="1709928"/>
            <a:ext cx="3218688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0070C0"/>
                </a:solidFill>
                <a:latin typeface="Aptos"/>
                <a:ea typeface="Aptos"/>
                <a:cs typeface="Aptos"/>
              </a:rPr>
              <a:t>Packaging simple : Essentiel, Assisté, Avancé. Déploiement possible auprès d’associations, structures médico-sociales et aidants.</a:t>
            </a:r>
            <a:endParaRPr sz="1400">
              <a:solidFill>
                <a:srgbClr val="0070C0"/>
              </a:solidFill>
            </a:endParaRPr>
          </a:p>
        </p:txBody>
      </p:sp>
      <p:sp>
        <p:nvSpPr>
          <p:cNvPr id="219383174" name="Shape 15"/>
          <p:cNvSpPr/>
          <p:nvPr/>
        </p:nvSpPr>
        <p:spPr bwMode="auto">
          <a:xfrm>
            <a:off x="914400" y="3703320"/>
            <a:ext cx="10241280" cy="1417320"/>
          </a:xfrm>
          <a:prstGeom prst="roundRect">
            <a:avLst>
              <a:gd name="adj" fmla="val 5161"/>
            </a:avLst>
          </a:prstGeom>
          <a:solidFill>
            <a:srgbClr val="111938"/>
          </a:solidFill>
          <a:ln w="12700">
            <a:solidFill>
              <a:srgbClr val="7C8ACB">
                <a:alpha val="35000"/>
              </a:srgbClr>
            </a:solidFill>
            <a:prstDash val="solid"/>
          </a:ln>
        </p:spPr>
      </p:sp>
      <p:sp>
        <p:nvSpPr>
          <p:cNvPr id="1951652279" name="Text 16"/>
          <p:cNvSpPr/>
          <p:nvPr/>
        </p:nvSpPr>
        <p:spPr bwMode="auto">
          <a:xfrm>
            <a:off x="1188720" y="4069080"/>
            <a:ext cx="9692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rgbClr val="FFFFFF"/>
                </a:solidFill>
              </a:rPr>
              <a:t>Décision recommandée : lancer une V1 avec Browser Use limité, simulation d’envoi, classification des mails, scroll paramétrable et moteur IA distant économique par défaut.</a:t>
            </a:r>
            <a:endParaRPr lang="en-US" sz="15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9">
    <p:bg>
      <p:bgPr shadeToTitle="0">
        <a:solidFill>
          <a:srgbClr val="0B102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7392043" name="Shape 0"/>
          <p:cNvSpPr/>
          <p:nvPr/>
        </p:nvSpPr>
        <p:spPr bwMode="auto">
          <a:xfrm>
            <a:off x="0" y="0"/>
            <a:ext cx="12191695" cy="256032"/>
          </a:xfrm>
          <a:prstGeom prst="rect">
            <a:avLst/>
          </a:prstGeom>
          <a:solidFill>
            <a:srgbClr val="3B2BA3"/>
          </a:solidFill>
          <a:ln w="12700">
            <a:solidFill>
              <a:srgbClr val="3B2BA3">
                <a:alpha val="0"/>
              </a:srgbClr>
            </a:solidFill>
            <a:prstDash val="solid"/>
          </a:ln>
        </p:spPr>
      </p:sp>
      <p:sp>
        <p:nvSpPr>
          <p:cNvPr id="470976285" name="Text 1"/>
          <p:cNvSpPr/>
          <p:nvPr/>
        </p:nvSpPr>
        <p:spPr bwMode="auto">
          <a:xfrm>
            <a:off x="502920" y="4114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F6F8FF"/>
                </a:solidFill>
                <a:latin typeface="Aptos Display"/>
                <a:ea typeface="Aptos Display"/>
                <a:cs typeface="Aptos Display"/>
              </a:rPr>
              <a:t>Roadmap recommandée</a:t>
            </a:r>
            <a:endParaRPr lang="en-US" sz="2800"/>
          </a:p>
        </p:txBody>
      </p:sp>
      <p:sp>
        <p:nvSpPr>
          <p:cNvPr id="109707308" name="Text 2"/>
          <p:cNvSpPr/>
          <p:nvPr/>
        </p:nvSpPr>
        <p:spPr bwMode="auto">
          <a:xfrm>
            <a:off x="530352" y="896112"/>
            <a:ext cx="8778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B9C4EF"/>
                </a:solidFill>
                <a:latin typeface="Aptos"/>
                <a:ea typeface="Aptos"/>
                <a:cs typeface="Aptos"/>
              </a:rPr>
              <a:t>Construire vite, sécuriser tôt, enrichir ensuite</a:t>
            </a:r>
            <a:endParaRPr lang="en-US" sz="1100"/>
          </a:p>
        </p:txBody>
      </p:sp>
      <p:sp>
        <p:nvSpPr>
          <p:cNvPr id="2146895665" name="Shape 3"/>
          <p:cNvSpPr/>
          <p:nvPr/>
        </p:nvSpPr>
        <p:spPr bwMode="auto">
          <a:xfrm>
            <a:off x="914400" y="1828800"/>
            <a:ext cx="3246120" cy="2011680"/>
          </a:xfrm>
          <a:prstGeom prst="roundRect">
            <a:avLst>
              <a:gd name="adj" fmla="val 5455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7C8ACB">
                <a:alpha val="35000"/>
              </a:srgbClr>
            </a:solidFill>
            <a:prstDash val="solid"/>
          </a:ln>
          <a:effectLst>
            <a:outerShdw blurRad="19050" dist="15240" dir="27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518023359" name="Shape 4"/>
          <p:cNvSpPr/>
          <p:nvPr/>
        </p:nvSpPr>
        <p:spPr bwMode="auto">
          <a:xfrm>
            <a:off x="914400" y="1828800"/>
            <a:ext cx="54864" cy="201168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1879417491" name="Text 5"/>
          <p:cNvSpPr/>
          <p:nvPr/>
        </p:nvSpPr>
        <p:spPr bwMode="auto">
          <a:xfrm>
            <a:off x="1078992" y="1938528"/>
            <a:ext cx="2971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0070C0"/>
                </a:solidFill>
                <a:latin typeface="Aptos"/>
                <a:ea typeface="Aptos"/>
                <a:cs typeface="Aptos"/>
              </a:rPr>
              <a:t>V1</a:t>
            </a:r>
            <a:endParaRPr lang="en-US" sz="1400"/>
          </a:p>
        </p:txBody>
      </p:sp>
      <p:sp>
        <p:nvSpPr>
          <p:cNvPr id="410821363" name="Text 6"/>
          <p:cNvSpPr/>
          <p:nvPr/>
        </p:nvSpPr>
        <p:spPr bwMode="auto">
          <a:xfrm>
            <a:off x="1078992" y="2212848"/>
            <a:ext cx="2990088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0070C0"/>
                </a:solidFill>
                <a:latin typeface="Aptos"/>
                <a:ea typeface="Aptos"/>
                <a:cs typeface="Aptos"/>
              </a:rPr>
              <a:t>Simulation d’envoi, Browser Use limité, classement, scroll paramétrable, journal.</a:t>
            </a:r>
            <a:endParaRPr sz="1400">
              <a:solidFill>
                <a:srgbClr val="0070C0"/>
              </a:solidFill>
            </a:endParaRPr>
          </a:p>
        </p:txBody>
      </p:sp>
      <p:sp>
        <p:nvSpPr>
          <p:cNvPr id="393964203" name="Shape 7"/>
          <p:cNvSpPr/>
          <p:nvPr/>
        </p:nvSpPr>
        <p:spPr bwMode="auto">
          <a:xfrm>
            <a:off x="4617720" y="1828800"/>
            <a:ext cx="3246120" cy="2011680"/>
          </a:xfrm>
          <a:prstGeom prst="roundRect">
            <a:avLst>
              <a:gd name="adj" fmla="val 5455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7C8ACB">
                <a:alpha val="35000"/>
              </a:srgbClr>
            </a:solidFill>
            <a:prstDash val="solid"/>
          </a:ln>
          <a:effectLst>
            <a:outerShdw blurRad="19050" dist="15240" dir="27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87672199" name="Shape 8"/>
          <p:cNvSpPr/>
          <p:nvPr/>
        </p:nvSpPr>
        <p:spPr bwMode="auto">
          <a:xfrm>
            <a:off x="4617720" y="1828800"/>
            <a:ext cx="54864" cy="20116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766933785" name="Text 9"/>
          <p:cNvSpPr/>
          <p:nvPr/>
        </p:nvSpPr>
        <p:spPr bwMode="auto">
          <a:xfrm>
            <a:off x="4782312" y="1938528"/>
            <a:ext cx="2971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0070C0"/>
                </a:solidFill>
                <a:latin typeface="Aptos"/>
                <a:ea typeface="Aptos"/>
                <a:cs typeface="Aptos"/>
              </a:rPr>
              <a:t>V1.5</a:t>
            </a:r>
            <a:endParaRPr lang="en-US" sz="1400"/>
          </a:p>
        </p:txBody>
      </p:sp>
      <p:sp>
        <p:nvSpPr>
          <p:cNvPr id="1371341294" name="Text 10"/>
          <p:cNvSpPr/>
          <p:nvPr/>
        </p:nvSpPr>
        <p:spPr bwMode="auto">
          <a:xfrm>
            <a:off x="4782312" y="2212848"/>
            <a:ext cx="2990088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0070C0"/>
                </a:solidFill>
                <a:latin typeface="Aptos"/>
                <a:ea typeface="Aptos"/>
                <a:cs typeface="Aptos"/>
              </a:rPr>
              <a:t>Pièces jointes output automatiques, profils utilisateurs, métriques de confiance.</a:t>
            </a:r>
            <a:endParaRPr sz="1400">
              <a:solidFill>
                <a:srgbClr val="0070C0"/>
              </a:solidFill>
            </a:endParaRPr>
          </a:p>
        </p:txBody>
      </p:sp>
      <p:sp>
        <p:nvSpPr>
          <p:cNvPr id="130072954" name="Shape 11"/>
          <p:cNvSpPr/>
          <p:nvPr/>
        </p:nvSpPr>
        <p:spPr bwMode="auto">
          <a:xfrm>
            <a:off x="8321039" y="1828800"/>
            <a:ext cx="3246120" cy="2011680"/>
          </a:xfrm>
          <a:prstGeom prst="roundRect">
            <a:avLst>
              <a:gd name="adj" fmla="val 5455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7C8ACB">
                <a:alpha val="35000"/>
              </a:srgbClr>
            </a:solidFill>
            <a:prstDash val="solid"/>
          </a:ln>
          <a:effectLst>
            <a:outerShdw blurRad="19050" dist="15240" dir="2700000" sx="100000" sy="100000" kx="0" ky="0" algn="bl" rotWithShape="0">
              <a:srgbClr val="000000">
                <a:alpha val="18000"/>
              </a:srgbClr>
            </a:outerShdw>
          </a:effectLst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2046233313" name="Shape 12"/>
          <p:cNvSpPr/>
          <p:nvPr/>
        </p:nvSpPr>
        <p:spPr bwMode="auto">
          <a:xfrm>
            <a:off x="8321039" y="1828800"/>
            <a:ext cx="54864" cy="20116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010483924" name="Text 13"/>
          <p:cNvSpPr/>
          <p:nvPr/>
        </p:nvSpPr>
        <p:spPr bwMode="auto">
          <a:xfrm>
            <a:off x="8485632" y="1938528"/>
            <a:ext cx="2971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0070C0"/>
                </a:solidFill>
                <a:latin typeface="Aptos"/>
                <a:ea typeface="Aptos"/>
                <a:cs typeface="Aptos"/>
              </a:rPr>
              <a:t>V2</a:t>
            </a:r>
            <a:endParaRPr lang="en-US" sz="1400"/>
          </a:p>
        </p:txBody>
      </p:sp>
      <p:sp>
        <p:nvSpPr>
          <p:cNvPr id="1898880452" name="Text 14"/>
          <p:cNvSpPr/>
          <p:nvPr/>
        </p:nvSpPr>
        <p:spPr bwMode="auto">
          <a:xfrm>
            <a:off x="8485632" y="2212848"/>
            <a:ext cx="2990088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0070C0"/>
                </a:solidFill>
                <a:latin typeface="Aptos"/>
                <a:ea typeface="Aptos"/>
                <a:cs typeface="Aptos"/>
              </a:rPr>
              <a:t>Routage intelligent multi-LLM, offres association, tableaux de bord usage et qualité.</a:t>
            </a:r>
            <a:endParaRPr sz="1400">
              <a:solidFill>
                <a:srgbClr val="0070C0"/>
              </a:solidFill>
            </a:endParaRPr>
          </a:p>
        </p:txBody>
      </p:sp>
      <p:sp>
        <p:nvSpPr>
          <p:cNvPr id="1883934123" name="Text 15"/>
          <p:cNvSpPr/>
          <p:nvPr/>
        </p:nvSpPr>
        <p:spPr bwMode="auto">
          <a:xfrm>
            <a:off x="1097280" y="4709160"/>
            <a:ext cx="9966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300">
                <a:solidFill>
                  <a:srgbClr val="E7EDFF"/>
                </a:solidFill>
              </a:rPr>
              <a:t>Critère de succès V1 : une personne handicapée traite un lot de mails avec moins d’actions, moins de fatigue et une validation finale toujours maîtrisée.</a:t>
            </a:r>
            <a:endParaRPr lang="en-US" sz="13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0">
    <p:bg>
      <p:bgPr shadeToTitle="0">
        <a:solidFill>
          <a:srgbClr val="0B102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4646211" name="Shape 0"/>
          <p:cNvSpPr/>
          <p:nvPr/>
        </p:nvSpPr>
        <p:spPr bwMode="auto">
          <a:xfrm>
            <a:off x="0" y="0"/>
            <a:ext cx="12191695" cy="256032"/>
          </a:xfrm>
          <a:prstGeom prst="rect">
            <a:avLst/>
          </a:prstGeom>
          <a:solidFill>
            <a:srgbClr val="3B2BA3"/>
          </a:solidFill>
          <a:ln w="12700">
            <a:solidFill>
              <a:srgbClr val="3B2BA3">
                <a:alpha val="0"/>
              </a:srgbClr>
            </a:solidFill>
            <a:prstDash val="solid"/>
          </a:ln>
        </p:spPr>
      </p:sp>
      <p:sp>
        <p:nvSpPr>
          <p:cNvPr id="1971936311" name="Text 1"/>
          <p:cNvSpPr/>
          <p:nvPr/>
        </p:nvSpPr>
        <p:spPr bwMode="auto">
          <a:xfrm>
            <a:off x="502920" y="4114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F6F8FF"/>
                </a:solidFill>
                <a:latin typeface="Aptos Display"/>
                <a:ea typeface="Aptos Display"/>
                <a:cs typeface="Aptos Display"/>
              </a:rPr>
              <a:t>Conclusion</a:t>
            </a:r>
            <a:endParaRPr lang="en-US" sz="2800"/>
          </a:p>
        </p:txBody>
      </p:sp>
      <p:sp>
        <p:nvSpPr>
          <p:cNvPr id="1417238690" name="Text 2"/>
          <p:cNvSpPr/>
          <p:nvPr/>
        </p:nvSpPr>
        <p:spPr bwMode="auto">
          <a:xfrm>
            <a:off x="530352" y="896112"/>
            <a:ext cx="8778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B9C4EF"/>
                </a:solidFill>
                <a:latin typeface="Aptos"/>
                <a:ea typeface="Aptos"/>
                <a:cs typeface="Aptos"/>
              </a:rPr>
              <a:t>Un produit cohérent, modulaire et défendable</a:t>
            </a:r>
            <a:endParaRPr lang="en-US" sz="1100"/>
          </a:p>
        </p:txBody>
      </p:sp>
      <p:sp>
        <p:nvSpPr>
          <p:cNvPr id="1645075199" name="Text 3"/>
          <p:cNvSpPr/>
          <p:nvPr/>
        </p:nvSpPr>
        <p:spPr bwMode="auto">
          <a:xfrm>
            <a:off x="822960" y="1463040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900" b="1">
                <a:solidFill>
                  <a:srgbClr val="FFFFFF"/>
                </a:solidFill>
              </a:rPr>
              <a:t>Le projet est prêt à entrer en phase de maquette détaillée puis de MVP.</a:t>
            </a:r>
            <a:endParaRPr lang="en-US" sz="1900"/>
          </a:p>
        </p:txBody>
      </p:sp>
      <p:sp>
        <p:nvSpPr>
          <p:cNvPr id="1006314043" name="Text 4"/>
          <p:cNvSpPr/>
          <p:nvPr/>
        </p:nvSpPr>
        <p:spPr bwMode="auto">
          <a:xfrm>
            <a:off x="914400" y="205740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8B5CF6"/>
                </a:solidFill>
              </a:rPr>
              <a:t>•</a:t>
            </a:r>
            <a:endParaRPr lang="en-US" sz="2000"/>
          </a:p>
        </p:txBody>
      </p:sp>
      <p:sp>
        <p:nvSpPr>
          <p:cNvPr id="1737291602" name="Text 5"/>
          <p:cNvSpPr/>
          <p:nvPr/>
        </p:nvSpPr>
        <p:spPr bwMode="auto">
          <a:xfrm>
            <a:off x="1143000" y="2066544"/>
            <a:ext cx="6583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E5ECFF"/>
                </a:solidFill>
              </a:rPr>
              <a:t>Valeur d’usage tangible pour l’accessibilité</a:t>
            </a:r>
            <a:endParaRPr lang="en-US" sz="1400"/>
          </a:p>
        </p:txBody>
      </p:sp>
      <p:sp>
        <p:nvSpPr>
          <p:cNvPr id="1665238066" name="Text 6"/>
          <p:cNvSpPr/>
          <p:nvPr/>
        </p:nvSpPr>
        <p:spPr bwMode="auto">
          <a:xfrm>
            <a:off x="914400" y="256032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8B5CF6"/>
                </a:solidFill>
              </a:rPr>
              <a:t>•</a:t>
            </a:r>
            <a:endParaRPr lang="en-US" sz="2000"/>
          </a:p>
        </p:txBody>
      </p:sp>
      <p:sp>
        <p:nvSpPr>
          <p:cNvPr id="587778241" name="Text 7"/>
          <p:cNvSpPr/>
          <p:nvPr/>
        </p:nvSpPr>
        <p:spPr bwMode="auto">
          <a:xfrm>
            <a:off x="1143000" y="2569464"/>
            <a:ext cx="6583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E5ECFF"/>
                </a:solidFill>
              </a:rPr>
              <a:t>Découplage propre entre UI, IA et Browser Use</a:t>
            </a:r>
            <a:endParaRPr lang="en-US" sz="1400"/>
          </a:p>
        </p:txBody>
      </p:sp>
      <p:sp>
        <p:nvSpPr>
          <p:cNvPr id="773489814" name="Text 8"/>
          <p:cNvSpPr/>
          <p:nvPr/>
        </p:nvSpPr>
        <p:spPr bwMode="auto">
          <a:xfrm>
            <a:off x="914400" y="306324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8B5CF6"/>
                </a:solidFill>
              </a:rPr>
              <a:t>•</a:t>
            </a:r>
            <a:endParaRPr lang="en-US" sz="2000"/>
          </a:p>
        </p:txBody>
      </p:sp>
      <p:sp>
        <p:nvSpPr>
          <p:cNvPr id="920531645" name="Text 9"/>
          <p:cNvSpPr/>
          <p:nvPr/>
        </p:nvSpPr>
        <p:spPr bwMode="auto">
          <a:xfrm>
            <a:off x="1143000" y="3072384"/>
            <a:ext cx="6583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E5ECFF"/>
                </a:solidFill>
              </a:rPr>
              <a:t>Réglages complets : scroll, classification, moteur IA, niveau d’automatisation</a:t>
            </a:r>
            <a:endParaRPr lang="en-US" sz="1400"/>
          </a:p>
        </p:txBody>
      </p:sp>
      <p:sp>
        <p:nvSpPr>
          <p:cNvPr id="817102586" name="Text 10"/>
          <p:cNvSpPr/>
          <p:nvPr/>
        </p:nvSpPr>
        <p:spPr bwMode="auto">
          <a:xfrm>
            <a:off x="914400" y="356616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8B5CF6"/>
                </a:solidFill>
              </a:rPr>
              <a:t>•</a:t>
            </a:r>
            <a:endParaRPr lang="en-US" sz="2000"/>
          </a:p>
        </p:txBody>
      </p:sp>
      <p:sp>
        <p:nvSpPr>
          <p:cNvPr id="425312281" name="Text 11"/>
          <p:cNvSpPr/>
          <p:nvPr/>
        </p:nvSpPr>
        <p:spPr bwMode="auto">
          <a:xfrm>
            <a:off x="1143000" y="3575303"/>
            <a:ext cx="6583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E5ECFF"/>
                </a:solidFill>
              </a:rPr>
              <a:t>Base claire pour un dossier association, financeur ou investisseur</a:t>
            </a:r>
            <a:endParaRPr lang="en-US" sz="1400"/>
          </a:p>
        </p:txBody>
      </p:sp>
      <p:sp>
        <p:nvSpPr>
          <p:cNvPr id="2056344088" name="Shape 12"/>
          <p:cNvSpPr/>
          <p:nvPr/>
        </p:nvSpPr>
        <p:spPr bwMode="auto">
          <a:xfrm>
            <a:off x="8641080" y="1783080"/>
            <a:ext cx="2468880" cy="2331720"/>
          </a:xfrm>
          <a:prstGeom prst="roundRect">
            <a:avLst>
              <a:gd name="adj" fmla="val 3922"/>
            </a:avLst>
          </a:prstGeom>
          <a:solidFill>
            <a:srgbClr val="111938"/>
          </a:solidFill>
          <a:ln w="12700">
            <a:solidFill>
              <a:srgbClr val="7B89C6">
                <a:alpha val="35000"/>
              </a:srgbClr>
            </a:solidFill>
            <a:prstDash val="solid"/>
          </a:ln>
        </p:spPr>
      </p:sp>
      <p:sp>
        <p:nvSpPr>
          <p:cNvPr id="1529052718" name="Text 13"/>
          <p:cNvSpPr/>
          <p:nvPr/>
        </p:nvSpPr>
        <p:spPr bwMode="auto">
          <a:xfrm>
            <a:off x="8805672" y="201168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FFFFFF"/>
                </a:solidFill>
              </a:rPr>
              <a:t>Prochaine étape</a:t>
            </a:r>
            <a:endParaRPr lang="en-US" sz="1600"/>
          </a:p>
        </p:txBody>
      </p:sp>
      <p:sp>
        <p:nvSpPr>
          <p:cNvPr id="79713765" name="Text 14"/>
          <p:cNvSpPr/>
          <p:nvPr/>
        </p:nvSpPr>
        <p:spPr bwMode="auto">
          <a:xfrm>
            <a:off x="8796528" y="25146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150">
                <a:solidFill>
                  <a:srgbClr val="D7E0FF"/>
                </a:solidFill>
              </a:rPr>
              <a:t>1. Maquette haute fidélité</a:t>
            </a:r>
            <a:endParaRPr lang="en-US" sz="1150"/>
          </a:p>
          <a:p>
            <a:pPr marL="0" indent="0" algn="ctr">
              <a:buNone/>
              <a:defRPr/>
            </a:pPr>
            <a:r>
              <a:rPr lang="en-US" sz="1150">
                <a:solidFill>
                  <a:srgbClr val="D7E0FF"/>
                </a:solidFill>
              </a:rPr>
              <a:t>2. Prototype Browser Use</a:t>
            </a:r>
            <a:endParaRPr lang="en-US" sz="1150"/>
          </a:p>
          <a:p>
            <a:pPr marL="0" indent="0" algn="ctr">
              <a:buNone/>
              <a:defRPr/>
            </a:pPr>
            <a:r>
              <a:rPr lang="en-US" sz="1150">
                <a:solidFill>
                  <a:srgbClr val="D7E0FF"/>
                </a:solidFill>
              </a:rPr>
              <a:t>3. Tests utilisateurs</a:t>
            </a:r>
            <a:endParaRPr lang="en-US" sz="1150"/>
          </a:p>
          <a:p>
            <a:pPr marL="0" indent="0" algn="ctr">
              <a:buNone/>
              <a:defRPr/>
            </a:pPr>
            <a:r>
              <a:rPr lang="en-US" sz="1150">
                <a:solidFill>
                  <a:srgbClr val="D7E0FF"/>
                </a:solidFill>
              </a:rPr>
              <a:t>4. MVP association</a:t>
            </a:r>
            <a:endParaRPr lang="en-US" sz="11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111634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4706311" name="Rectangle 1"/>
          <p:cNvSpPr/>
          <p:nvPr/>
        </p:nvSpPr>
        <p:spPr bwMode="auto">
          <a:xfrm>
            <a:off x="457200" y="411480"/>
            <a:ext cx="146304" cy="59436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6825408" name="TextBox 2"/>
          <p:cNvSpPr txBox="1"/>
          <p:nvPr/>
        </p:nvSpPr>
        <p:spPr bwMode="auto">
          <a:xfrm>
            <a:off x="822960" y="4114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2600" b="1">
                <a:solidFill>
                  <a:srgbClr val="F0F3FF"/>
                </a:solidFill>
              </a:rPr>
              <a:t>Compléments de périmètre</a:t>
            </a:r>
            <a:endParaRPr/>
          </a:p>
        </p:txBody>
      </p:sp>
      <p:sp>
        <p:nvSpPr>
          <p:cNvPr id="1980210862" name="Rectangle 3"/>
          <p:cNvSpPr/>
          <p:nvPr/>
        </p:nvSpPr>
        <p:spPr bwMode="auto">
          <a:xfrm>
            <a:off x="868680" y="1234440"/>
            <a:ext cx="10515600" cy="1325880"/>
          </a:xfrm>
          <a:prstGeom prst="rect">
            <a:avLst/>
          </a:prstGeom>
          <a:solidFill>
            <a:srgbClr val="1C224A"/>
          </a:solidFill>
          <a:ln>
            <a:solidFill>
              <a:srgbClr val="424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12721591" name="TextBox 4"/>
          <p:cNvSpPr txBox="1"/>
          <p:nvPr/>
        </p:nvSpPr>
        <p:spPr bwMode="auto">
          <a:xfrm flipH="0" flipV="0">
            <a:off x="1097279" y="1380744"/>
            <a:ext cx="10694720" cy="792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1800" b="1">
                <a:solidFill>
                  <a:srgbClr val="9BB7FF"/>
                </a:solidFill>
              </a:rPr>
              <a:t>Création de mails</a:t>
            </a:r>
            <a:endParaRPr/>
          </a:p>
          <a:p>
            <a:pPr>
              <a:defRPr sz="1400">
                <a:solidFill>
                  <a:srgbClr val="E5E9F6"/>
                </a:solidFill>
              </a:defRPr>
            </a:pPr>
            <a:r>
              <a:rPr/>
              <a:t>La même application pourra créer de nouveaux e-mails suivant le même principe : proposition IA, édition manuelle, ajout de liens / pièces jointes, puis exécution optionnelle des actions navigateur.</a:t>
            </a:r>
            <a:endParaRPr/>
          </a:p>
        </p:txBody>
      </p:sp>
      <p:sp>
        <p:nvSpPr>
          <p:cNvPr id="1784215267" name="Rectangle 5"/>
          <p:cNvSpPr/>
          <p:nvPr/>
        </p:nvSpPr>
        <p:spPr bwMode="auto">
          <a:xfrm>
            <a:off x="868680" y="2788920"/>
            <a:ext cx="10515600" cy="1325880"/>
          </a:xfrm>
          <a:prstGeom prst="rect">
            <a:avLst/>
          </a:prstGeom>
          <a:solidFill>
            <a:srgbClr val="1C224A"/>
          </a:solidFill>
          <a:ln>
            <a:solidFill>
              <a:srgbClr val="424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32971488" name="TextBox 6"/>
          <p:cNvSpPr txBox="1"/>
          <p:nvPr/>
        </p:nvSpPr>
        <p:spPr bwMode="auto">
          <a:xfrm flipH="0" flipV="0">
            <a:off x="1097279" y="2948939"/>
            <a:ext cx="10508866" cy="792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1800" b="1">
                <a:solidFill>
                  <a:srgbClr val="9BB7FF"/>
                </a:solidFill>
              </a:rPr>
              <a:t>Statistiques futures</a:t>
            </a:r>
            <a:endParaRPr/>
          </a:p>
          <a:p>
            <a:pPr>
              <a:defRPr sz="1400">
                <a:solidFill>
                  <a:srgbClr val="E5E9F6"/>
                </a:solidFill>
              </a:defRPr>
            </a:pPr>
            <a:r>
              <a:rPr/>
              <a:t>Un module statistiques sera ajouté plus tard, surtout pertinent pour les entreprises et services client : volumes, temps moyens, </a:t>
            </a:r>
            <a:endParaRPr/>
          </a:p>
          <a:p>
            <a:pPr>
              <a:defRPr sz="1400">
                <a:solidFill>
                  <a:srgbClr val="E5E9F6"/>
                </a:solidFill>
              </a:defRPr>
            </a:pPr>
            <a:r>
              <a:rPr/>
              <a:t>classes d’importance, taux de validation, rejets, usage de Browser Use.</a:t>
            </a:r>
            <a:endParaRPr/>
          </a:p>
        </p:txBody>
      </p:sp>
      <p:sp>
        <p:nvSpPr>
          <p:cNvPr id="1410225648" name="Rectangle 7"/>
          <p:cNvSpPr/>
          <p:nvPr/>
        </p:nvSpPr>
        <p:spPr bwMode="auto">
          <a:xfrm>
            <a:off x="868680" y="4343400"/>
            <a:ext cx="10515600" cy="1325880"/>
          </a:xfrm>
          <a:prstGeom prst="rect">
            <a:avLst/>
          </a:prstGeom>
          <a:solidFill>
            <a:srgbClr val="1C224A"/>
          </a:solidFill>
          <a:ln>
            <a:solidFill>
              <a:srgbClr val="424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8792454" name="TextBox 8"/>
          <p:cNvSpPr txBox="1"/>
          <p:nvPr/>
        </p:nvSpPr>
        <p:spPr bwMode="auto">
          <a:xfrm>
            <a:off x="1097280" y="4489704"/>
            <a:ext cx="100584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800" b="1">
                <a:solidFill>
                  <a:srgbClr val="9BB7FF"/>
                </a:solidFill>
              </a:rPr>
              <a:t>Choix des modèles</a:t>
            </a:r>
            <a:endParaRPr/>
          </a:p>
          <a:p>
            <a:pPr>
              <a:defRPr sz="1400">
                <a:solidFill>
                  <a:srgbClr val="E5E9F6"/>
                </a:solidFill>
              </a:defRPr>
            </a:pPr>
            <a:r>
              <a:rPr/>
              <a:t>L’UI présentera une liste de modèles sélectionnables, locaux et distants, indépendamment de Browser Use.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ONLYOFFICE/9.2.1.43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OpenAI</Company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technique et commerciale</dc:title>
  <dc:subject>Agent mail accessible</dc:subject>
  <dc:creator>OpenAI</dc:creator>
  <cp:lastModifiedBy/>
  <cp:revision>2</cp:revision>
  <dcterms:created xsi:type="dcterms:W3CDTF">2026-03-11T12:22:50Z</dcterms:created>
  <dcterms:modified xsi:type="dcterms:W3CDTF">2026-03-11T15:16:56Z</dcterms:modified>
</cp:coreProperties>
</file>