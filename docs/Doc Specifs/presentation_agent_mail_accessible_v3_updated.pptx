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8"/>
    <p:sldId id="268" r:id="rId19"/>
    <p:sldId id="269" r:id="rId20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tableStyles" Target="tableStyles.xml"/><Relationship Id="rId17" Type="http://schemas.openxmlformats.org/officeDocument/2006/relationships/viewProps" Target="viewProp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3128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955433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34384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061438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97073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933615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210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299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Image de couverture générée par OpenAI Image Generation.,- Browser Use Cloud est présenté comme une solution de browser automation avec sessions, workspaces, proxies et skills : https://docs.browser-use.com/ citeturn0search1</a:t>
            </a:r>
            <a:endParaRPr lang="en-US"/>
          </a:p>
        </p:txBody>
      </p:sp>
      <p:sp>
        <p:nvSpPr>
          <p:cNvPr id="1031329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59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2013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Synthèse basée sur les spécifications du projet élaborées avec l’utilisateur ; aucune source externe de benchmark clinique n’est revendiquée.</a:t>
            </a:r>
            <a:endParaRPr lang="en-US"/>
          </a:p>
        </p:txBody>
      </p:sp>
      <p:sp>
        <p:nvSpPr>
          <p:cNvPr id="1979053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133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15366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Le modèle Browser Use est présenté comme “Agent tasks” avec sessions et workspaces persistants : https://docs.browser-use.com/ citeturn0search1</a:t>
            </a:r>
            <a:endParaRPr lang="en-US"/>
          </a:p>
        </p:txBody>
      </p:sp>
      <p:sp>
        <p:nvSpPr>
          <p:cNvPr id="1850194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674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149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Browser Use Cloud fournit sessions, profiles, workspaces et browser infrastructure : https://docs.browser-use.com/ citeturn0search1,- DeepSeek API est compatible OpenAI via simple changement de base_url : https://api-docs.deepseek.com/ citeturn0search6,- Mistral recommande vLLM avec API compatible OpenAI pour le self-hosting : https://docs.mistral.ai/deployment/self-deployment/vllm citeturn0search3</a:t>
            </a:r>
            <a:endParaRPr lang="en-US"/>
          </a:p>
        </p:txBody>
      </p:sp>
      <p:sp>
        <p:nvSpPr>
          <p:cNvPr id="1390026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683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391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Les gains présentés sont des hypothèses de conception issues du dossier projet, non des mesures cliniques.</a:t>
            </a:r>
            <a:endParaRPr lang="en-US"/>
          </a:p>
        </p:txBody>
      </p:sp>
      <p:sp>
        <p:nvSpPr>
          <p:cNvPr id="1125195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4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26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Browser Use expose des tâches, sessions et infrastructure navigateur ; le comportement précis de scroll doit rester piloté par le design produit et les paramètres de l’application : https://docs.browser-use.com/ citeturn0search1</a:t>
            </a:r>
            <a:endParaRPr lang="en-US"/>
          </a:p>
        </p:txBody>
      </p:sp>
      <p:sp>
        <p:nvSpPr>
          <p:cNvPr id="2081848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5354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115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Le support de modèles externes est explicitement prévu : Browser Use open source peut connecter n’importe quel LLM compatible OpenAI via URL personnalisée : https://docs.browser-use.com/supported-models citeturn0search24</a:t>
            </a:r>
            <a:endParaRPr lang="en-US"/>
          </a:p>
        </p:txBody>
      </p:sp>
      <p:sp>
        <p:nvSpPr>
          <p:cNvPr id="1697271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432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7750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Repères de marché : Browser Use pricing public et options de session/skills : https://browser-use.com/pricing citeturn0search0turn0search4</a:t>
            </a:r>
            <a:endParaRPr lang="en-US"/>
          </a:p>
        </p:txBody>
      </p:sp>
      <p:sp>
        <p:nvSpPr>
          <p:cNvPr id="160247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05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353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Roadmap issue des arbitrages produits discutés dans le dossier ; pas de source externe.</a:t>
            </a:r>
            <a:endParaRPr lang="en-US"/>
          </a:p>
        </p:txBody>
      </p:sp>
      <p:sp>
        <p:nvSpPr>
          <p:cNvPr id="586737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060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9809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[Sources],- Synthèse finale basée sur le dossier projet créé dans cette session.</a:t>
            </a:r>
            <a:endParaRPr lang="en-US"/>
          </a:p>
        </p:txBody>
      </p:sp>
      <p:sp>
        <p:nvSpPr>
          <p:cNvPr id="1567110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2BCFDB-1AC9-D4AC-B0D7-6E4B93F25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MASTER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893813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noFill/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1703331719" name="Text 1"/>
          <p:cNvSpPr/>
          <p:nvPr/>
        </p:nvSpPr>
        <p:spPr bwMode="auto">
          <a:xfrm>
            <a:off x="365760" y="6473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AAB6E8"/>
                </a:solidFill>
                <a:latin typeface="Aptos"/>
                <a:ea typeface="Aptos"/>
                <a:cs typeface="Aptos"/>
              </a:rPr>
              <a:t>Agent mail accessible</a:t>
            </a:r>
            <a:endParaRPr lang="en-US" sz="800"/>
          </a:p>
        </p:txBody>
      </p:sp>
      <p:sp>
        <p:nvSpPr>
          <p:cNvPr id="1388782217" name="Text 2"/>
          <p:cNvSpPr/>
          <p:nvPr/>
        </p:nvSpPr>
        <p:spPr bwMode="auto">
          <a:xfrm>
            <a:off x="8778240" y="6473952"/>
            <a:ext cx="301751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800">
                <a:solidFill>
                  <a:srgbClr val="AAB6E8"/>
                </a:solidFill>
                <a:latin typeface="Aptos"/>
                <a:ea typeface="Aptos"/>
                <a:cs typeface="Aptos"/>
              </a:rPr>
              <a:t>Confidentiel – version de travail</a:t>
            </a:r>
            <a:endParaRPr lang="en-US" sz="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17696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pic>
        <p:nvPicPr>
          <p:cNvPr id="710652790" name="Image 0" descr="/mnt/data/a_pair_of_digital_3d_rendered_images_showcases_acc.png"/>
          <p:cNvPicPr>
            <a:picLocks noChangeAspect="1"/>
          </p:cNvPicPr>
          <p:nvPr/>
        </p:nvPicPr>
        <p:blipFill rotWithShape="1">
          <a:blip r:embed="rId3"/>
          <a:srcRect l="21468" t="0" r="21468" b="0"/>
          <a:stretch/>
        </p:blipFill>
        <p:spPr bwMode="auto">
          <a:xfrm>
            <a:off x="6537960" y="256032"/>
            <a:ext cx="5650992" cy="6601968"/>
          </a:xfrm>
          <a:prstGeom prst="rect">
            <a:avLst/>
          </a:prstGeom>
        </p:spPr>
      </p:pic>
      <p:sp>
        <p:nvSpPr>
          <p:cNvPr id="1880973531" name="Shape 1"/>
          <p:cNvSpPr/>
          <p:nvPr/>
        </p:nvSpPr>
        <p:spPr bwMode="auto">
          <a:xfrm>
            <a:off x="58079" y="0"/>
            <a:ext cx="12191695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93770885" name="Text 2"/>
          <p:cNvSpPr/>
          <p:nvPr/>
        </p:nvSpPr>
        <p:spPr bwMode="auto">
          <a:xfrm>
            <a:off x="548640" y="9144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 mail accessible assisté par IA</a:t>
            </a:r>
            <a:endParaRPr lang="en-US" sz="2600"/>
          </a:p>
        </p:txBody>
      </p:sp>
      <p:sp>
        <p:nvSpPr>
          <p:cNvPr id="583166057" name="Text 3"/>
          <p:cNvSpPr/>
          <p:nvPr/>
        </p:nvSpPr>
        <p:spPr bwMode="auto">
          <a:xfrm>
            <a:off x="566928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7D3FF"/>
                </a:solidFill>
                <a:latin typeface="Aptos"/>
                <a:ea typeface="Aptos"/>
                <a:cs typeface="Aptos"/>
              </a:rPr>
              <a:t>Présentation technique et commerciale</a:t>
            </a:r>
            <a:endParaRPr lang="en-US" sz="1500"/>
          </a:p>
        </p:txBody>
      </p:sp>
      <p:sp>
        <p:nvSpPr>
          <p:cNvPr id="1807816266" name="Text 4"/>
          <p:cNvSpPr/>
          <p:nvPr/>
        </p:nvSpPr>
        <p:spPr bwMode="auto">
          <a:xfrm>
            <a:off x="566928" y="2148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DDE6FF"/>
                </a:solidFill>
                <a:latin typeface="Aptos"/>
                <a:ea typeface="Aptos"/>
                <a:cs typeface="Aptos"/>
              </a:rPr>
              <a:t>UI accessible • moteur IA configurable • Browser Use débrayable</a:t>
            </a:r>
            <a:endParaRPr lang="en-US" sz="1200"/>
          </a:p>
        </p:txBody>
      </p:sp>
      <p:sp>
        <p:nvSpPr>
          <p:cNvPr id="830134912" name="Shape 5"/>
          <p:cNvSpPr/>
          <p:nvPr/>
        </p:nvSpPr>
        <p:spPr bwMode="auto">
          <a:xfrm flipH="0" flipV="0">
            <a:off x="822960" y="4876038"/>
            <a:ext cx="1417319" cy="930402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2037501268" name="Text 6"/>
          <p:cNvSpPr/>
          <p:nvPr/>
        </p:nvSpPr>
        <p:spPr bwMode="auto">
          <a:xfrm flipH="0" flipV="0">
            <a:off x="822960" y="4937759"/>
            <a:ext cx="1234440" cy="31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-58 %</a:t>
            </a:r>
            <a:endParaRPr lang="en-US" sz="2200"/>
          </a:p>
        </p:txBody>
      </p:sp>
      <p:sp>
        <p:nvSpPr>
          <p:cNvPr id="1445048105" name="Text 7"/>
          <p:cNvSpPr/>
          <p:nvPr/>
        </p:nvSpPr>
        <p:spPr bwMode="auto">
          <a:xfrm>
            <a:off x="777240" y="5413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temps estimé de gestion</a:t>
            </a:r>
            <a:endParaRPr lang="en-US" sz="1050"/>
          </a:p>
        </p:txBody>
      </p:sp>
      <p:sp>
        <p:nvSpPr>
          <p:cNvPr id="458046567" name="Shape 8"/>
          <p:cNvSpPr/>
          <p:nvPr/>
        </p:nvSpPr>
        <p:spPr bwMode="auto">
          <a:xfrm flipH="0" flipV="0">
            <a:off x="2377440" y="4876038"/>
            <a:ext cx="1417319" cy="992123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480909013" name="Text 9"/>
          <p:cNvSpPr/>
          <p:nvPr/>
        </p:nvSpPr>
        <p:spPr bwMode="auto">
          <a:xfrm flipH="0" flipV="0">
            <a:off x="2429962" y="4937759"/>
            <a:ext cx="1410517" cy="31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60–80 %</a:t>
            </a:r>
            <a:endParaRPr lang="en-US" sz="2200"/>
          </a:p>
        </p:txBody>
      </p:sp>
      <p:sp>
        <p:nvSpPr>
          <p:cNvPr id="2042272760" name="Text 10"/>
          <p:cNvSpPr/>
          <p:nvPr/>
        </p:nvSpPr>
        <p:spPr bwMode="auto">
          <a:xfrm flipH="0" flipV="0">
            <a:off x="2377440" y="5413247"/>
            <a:ext cx="138728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actions</a:t>
            </a:r>
            <a:r>
              <a:rPr lang="fr-FR" sz="1050">
                <a:solidFill>
                  <a:srgbClr val="B8C5F0"/>
                </a:solidFill>
              </a:rPr>
              <a:t> </a:t>
            </a:r>
            <a:r>
              <a:rPr lang="en-US" sz="1050">
                <a:solidFill>
                  <a:srgbClr val="B8C5F0"/>
                </a:solidFill>
              </a:rPr>
              <a:t>manuelles évitées</a:t>
            </a:r>
            <a:endParaRPr lang="en-US" sz="1050"/>
          </a:p>
        </p:txBody>
      </p:sp>
      <p:sp>
        <p:nvSpPr>
          <p:cNvPr id="1041116783" name="Shape 11"/>
          <p:cNvSpPr/>
          <p:nvPr/>
        </p:nvSpPr>
        <p:spPr bwMode="auto">
          <a:xfrm flipH="0" flipV="0">
            <a:off x="3886943" y="4876038"/>
            <a:ext cx="1919496" cy="971549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78165596" name="Text 12"/>
          <p:cNvSpPr/>
          <p:nvPr/>
        </p:nvSpPr>
        <p:spPr bwMode="auto">
          <a:xfrm flipH="0" flipV="0">
            <a:off x="4024103" y="4937759"/>
            <a:ext cx="1965960" cy="310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3 couches</a:t>
            </a:r>
            <a:endParaRPr lang="en-US" sz="2200"/>
          </a:p>
        </p:txBody>
      </p:sp>
      <p:sp>
        <p:nvSpPr>
          <p:cNvPr id="967650922" name="Text 13"/>
          <p:cNvSpPr/>
          <p:nvPr/>
        </p:nvSpPr>
        <p:spPr bwMode="auto">
          <a:xfrm>
            <a:off x="3977640" y="5413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UI • IA • Browser Use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445721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350188684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Problème </a:t>
            </a:r>
            <a:r>
              <a:rPr lang="fr-FR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pos</a:t>
            </a: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é</a:t>
            </a:r>
            <a:endParaRPr lang="en-US" sz="2800"/>
          </a:p>
        </p:txBody>
      </p:sp>
      <p:sp>
        <p:nvSpPr>
          <p:cNvPr id="1395684821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Pourquoi une messagerie classique reste coûteuse pour certains utilisateurs</a:t>
            </a:r>
            <a:endParaRPr lang="en-US" sz="1100"/>
          </a:p>
        </p:txBody>
      </p:sp>
      <p:sp>
        <p:nvSpPr>
          <p:cNvPr id="1555366960" name="Shape 3"/>
          <p:cNvSpPr/>
          <p:nvPr/>
        </p:nvSpPr>
        <p:spPr bwMode="auto">
          <a:xfrm>
            <a:off x="594360" y="13258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39278294" name="Shape 4"/>
          <p:cNvSpPr/>
          <p:nvPr/>
        </p:nvSpPr>
        <p:spPr bwMode="auto">
          <a:xfrm>
            <a:off x="594360" y="132588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63370264" name="Text 5"/>
          <p:cNvSpPr/>
          <p:nvPr/>
        </p:nvSpPr>
        <p:spPr bwMode="auto">
          <a:xfrm>
            <a:off x="758952" y="14356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Charge </a:t>
            </a: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interactionnelle </a:t>
            </a: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élevée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648651522" name="Text 6"/>
          <p:cNvSpPr/>
          <p:nvPr/>
        </p:nvSpPr>
        <p:spPr bwMode="auto">
          <a:xfrm>
            <a:off x="758952" y="1709928"/>
            <a:ext cx="340156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La webmail impose une succession de gestes fins : ouvrir, viser, scroller, revenir, joindre, vérifier. Pour un utilisateur fatigable ou en suivi oculaire, ces micro-actions deviennent le principal frein à l’autonomie.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177915236" name="Shape 7"/>
          <p:cNvSpPr/>
          <p:nvPr/>
        </p:nvSpPr>
        <p:spPr bwMode="auto">
          <a:xfrm>
            <a:off x="4434839" y="13258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81673794" name="Shape 8"/>
          <p:cNvSpPr/>
          <p:nvPr/>
        </p:nvSpPr>
        <p:spPr bwMode="auto">
          <a:xfrm>
            <a:off x="4434840" y="1325880"/>
            <a:ext cx="54864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3715892" name="Text 9"/>
          <p:cNvSpPr/>
          <p:nvPr/>
        </p:nvSpPr>
        <p:spPr bwMode="auto">
          <a:xfrm>
            <a:off x="4599432" y="14356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Coût cognitif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950159562" name="Text 10"/>
          <p:cNvSpPr/>
          <p:nvPr/>
        </p:nvSpPr>
        <p:spPr bwMode="auto">
          <a:xfrm>
            <a:off x="4599432" y="1709928"/>
            <a:ext cx="340156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Retrouver le bon mail, gérer les onglets, les pièces jointes et les liens détourne l’attention de la vraie valeur : lire, comprendre, décider et valider.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335173050" name="Shape 11"/>
          <p:cNvSpPr/>
          <p:nvPr/>
        </p:nvSpPr>
        <p:spPr bwMode="auto">
          <a:xfrm>
            <a:off x="8275320" y="132588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10070487" name="Shape 12"/>
          <p:cNvSpPr/>
          <p:nvPr/>
        </p:nvSpPr>
        <p:spPr bwMode="auto">
          <a:xfrm>
            <a:off x="8275320" y="1325880"/>
            <a:ext cx="54864" cy="19202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</p:sp>
      <p:sp>
        <p:nvSpPr>
          <p:cNvPr id="1647161941" name="Text 13"/>
          <p:cNvSpPr/>
          <p:nvPr/>
        </p:nvSpPr>
        <p:spPr bwMode="auto">
          <a:xfrm>
            <a:off x="8439912" y="1435608"/>
            <a:ext cx="30175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Risque opérationnel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69589436" name="Text 14"/>
          <p:cNvSpPr/>
          <p:nvPr/>
        </p:nvSpPr>
        <p:spPr bwMode="auto">
          <a:xfrm>
            <a:off x="8439912" y="1709928"/>
            <a:ext cx="303580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Oublis de pièces jointes, retours de navigation, perte de contexte et fatigue augmentent le risque d’erreur et la dépendance à un aidant.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2055167315" name="Shape 15"/>
          <p:cNvSpPr/>
          <p:nvPr/>
        </p:nvSpPr>
        <p:spPr bwMode="auto">
          <a:xfrm>
            <a:off x="594360" y="3611880"/>
            <a:ext cx="109728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236544802" name="Shape 16"/>
          <p:cNvSpPr/>
          <p:nvPr/>
        </p:nvSpPr>
        <p:spPr bwMode="auto">
          <a:xfrm>
            <a:off x="594360" y="3611880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20568268" name="Text 17"/>
          <p:cNvSpPr/>
          <p:nvPr/>
        </p:nvSpPr>
        <p:spPr bwMode="auto">
          <a:xfrm>
            <a:off x="758952" y="3721608"/>
            <a:ext cx="10698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Réponse produit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433905753" name="Text 18"/>
          <p:cNvSpPr/>
          <p:nvPr/>
        </p:nvSpPr>
        <p:spPr bwMode="auto">
          <a:xfrm>
            <a:off x="758952" y="3995928"/>
            <a:ext cx="107167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Le système traite un mail à la fois, présente le contenu complet à gauche, la réponse proposée à droite, et laisse Browser Use absorber la mécanique web répétitive pendant que l’utilisateur conserve la décision finale.</a:t>
            </a:r>
            <a:endParaRPr sz="140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233092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409659944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Workflow cible</a:t>
            </a:r>
            <a:endParaRPr lang="en-US" sz="2800"/>
          </a:p>
        </p:txBody>
      </p:sp>
      <p:sp>
        <p:nvSpPr>
          <p:cNvPr id="520979488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Du lancement de l’agent jusqu’au mail suivant</a:t>
            </a:r>
            <a:endParaRPr lang="en-US" sz="1100"/>
          </a:p>
        </p:txBody>
      </p:sp>
      <p:sp>
        <p:nvSpPr>
          <p:cNvPr id="369732239" name="Shape 3"/>
          <p:cNvSpPr/>
          <p:nvPr/>
        </p:nvSpPr>
        <p:spPr bwMode="auto">
          <a:xfrm>
            <a:off x="731520" y="14173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355875593" name="Text 4"/>
          <p:cNvSpPr/>
          <p:nvPr/>
        </p:nvSpPr>
        <p:spPr bwMode="auto">
          <a:xfrm>
            <a:off x="868680" y="1572768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1</a:t>
            </a:r>
            <a:endParaRPr lang="en-US" sz="1600"/>
          </a:p>
        </p:txBody>
      </p:sp>
      <p:sp>
        <p:nvSpPr>
          <p:cNvPr id="1321335262" name="Text 5"/>
          <p:cNvSpPr/>
          <p:nvPr/>
        </p:nvSpPr>
        <p:spPr bwMode="auto">
          <a:xfrm>
            <a:off x="1371600" y="1527048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1. Ouvrir la boîte mail</a:t>
            </a:r>
            <a:endParaRPr lang="en-US" sz="1300"/>
          </a:p>
        </p:txBody>
      </p:sp>
      <p:sp>
        <p:nvSpPr>
          <p:cNvPr id="1820880970" name="Text 6"/>
          <p:cNvSpPr/>
          <p:nvPr/>
        </p:nvSpPr>
        <p:spPr bwMode="auto">
          <a:xfrm>
            <a:off x="4526280" y="1517904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Browser Use lance le navigateur et retrouve la réception.</a:t>
            </a:r>
            <a:endParaRPr lang="en-US" sz="1100"/>
          </a:p>
        </p:txBody>
      </p:sp>
      <p:sp>
        <p:nvSpPr>
          <p:cNvPr id="1740781816" name="Shape 7"/>
          <p:cNvSpPr/>
          <p:nvPr/>
        </p:nvSpPr>
        <p:spPr bwMode="auto">
          <a:xfrm>
            <a:off x="731520" y="2313432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141410740" name="Text 8"/>
          <p:cNvSpPr/>
          <p:nvPr/>
        </p:nvSpPr>
        <p:spPr bwMode="auto">
          <a:xfrm>
            <a:off x="868680" y="2468880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2</a:t>
            </a:r>
            <a:endParaRPr lang="en-US" sz="1600"/>
          </a:p>
        </p:txBody>
      </p:sp>
      <p:sp>
        <p:nvSpPr>
          <p:cNvPr id="1729473975" name="Text 9"/>
          <p:cNvSpPr/>
          <p:nvPr/>
        </p:nvSpPr>
        <p:spPr bwMode="auto">
          <a:xfrm>
            <a:off x="1371600" y="2423160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2. Sélectionner le bon mail</a:t>
            </a:r>
            <a:endParaRPr lang="en-US" sz="1300"/>
          </a:p>
        </p:txBody>
      </p:sp>
      <p:sp>
        <p:nvSpPr>
          <p:cNvPr id="1224161397" name="Text 10"/>
          <p:cNvSpPr/>
          <p:nvPr/>
        </p:nvSpPr>
        <p:spPr bwMode="auto">
          <a:xfrm>
            <a:off x="4526280" y="2414016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Le prochain message prioritaire est identifié puis ouvert.</a:t>
            </a:r>
            <a:endParaRPr lang="en-US" sz="1100"/>
          </a:p>
        </p:txBody>
      </p:sp>
      <p:sp>
        <p:nvSpPr>
          <p:cNvPr id="1760136058" name="Shape 11"/>
          <p:cNvSpPr/>
          <p:nvPr/>
        </p:nvSpPr>
        <p:spPr bwMode="auto">
          <a:xfrm>
            <a:off x="731520" y="3209544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545044992" name="Text 12"/>
          <p:cNvSpPr/>
          <p:nvPr/>
        </p:nvSpPr>
        <p:spPr bwMode="auto">
          <a:xfrm>
            <a:off x="868680" y="3364992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3</a:t>
            </a:r>
            <a:endParaRPr lang="en-US" sz="1600"/>
          </a:p>
        </p:txBody>
      </p:sp>
      <p:sp>
        <p:nvSpPr>
          <p:cNvPr id="1362013610" name="Text 13"/>
          <p:cNvSpPr/>
          <p:nvPr/>
        </p:nvSpPr>
        <p:spPr bwMode="auto">
          <a:xfrm>
            <a:off x="1371600" y="3319272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3. Analyser le contexte</a:t>
            </a:r>
            <a:endParaRPr lang="en-US" sz="1300"/>
          </a:p>
        </p:txBody>
      </p:sp>
      <p:sp>
        <p:nvSpPr>
          <p:cNvPr id="1197137932" name="Text 14"/>
          <p:cNvSpPr/>
          <p:nvPr/>
        </p:nvSpPr>
        <p:spPr bwMode="auto">
          <a:xfrm>
            <a:off x="4526280" y="3310127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Le LLM lit le mail, la date, les liens, les pièces jointes et les règles.</a:t>
            </a:r>
            <a:endParaRPr lang="en-US" sz="1100"/>
          </a:p>
        </p:txBody>
      </p:sp>
      <p:sp>
        <p:nvSpPr>
          <p:cNvPr id="688423098" name="Shape 15"/>
          <p:cNvSpPr/>
          <p:nvPr/>
        </p:nvSpPr>
        <p:spPr bwMode="auto">
          <a:xfrm>
            <a:off x="731520" y="4105656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410320091" name="Text 16"/>
          <p:cNvSpPr/>
          <p:nvPr/>
        </p:nvSpPr>
        <p:spPr bwMode="auto">
          <a:xfrm>
            <a:off x="868680" y="4261104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4</a:t>
            </a:r>
            <a:endParaRPr lang="en-US" sz="1600"/>
          </a:p>
        </p:txBody>
      </p:sp>
      <p:sp>
        <p:nvSpPr>
          <p:cNvPr id="18296656" name="Text 17"/>
          <p:cNvSpPr/>
          <p:nvPr/>
        </p:nvSpPr>
        <p:spPr bwMode="auto">
          <a:xfrm>
            <a:off x="1371600" y="4215384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4. Exécuter les manipulations web</a:t>
            </a:r>
            <a:endParaRPr lang="en-US" sz="1300"/>
          </a:p>
        </p:txBody>
      </p:sp>
      <p:sp>
        <p:nvSpPr>
          <p:cNvPr id="1831350713" name="Text 18"/>
          <p:cNvSpPr/>
          <p:nvPr/>
        </p:nvSpPr>
        <p:spPr bwMode="auto">
          <a:xfrm>
            <a:off x="4526280" y="4206240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Liens, pièces jointes, portail métier, brouillon, retour à la réception.</a:t>
            </a:r>
            <a:endParaRPr lang="en-US" sz="1100"/>
          </a:p>
        </p:txBody>
      </p:sp>
      <p:sp>
        <p:nvSpPr>
          <p:cNvPr id="826179822" name="Shape 19"/>
          <p:cNvSpPr/>
          <p:nvPr/>
        </p:nvSpPr>
        <p:spPr bwMode="auto">
          <a:xfrm>
            <a:off x="731520" y="5001768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111938"/>
          </a:solidFill>
          <a:ln w="12700">
            <a:solidFill>
              <a:srgbClr val="8090CE">
                <a:alpha val="35000"/>
              </a:srgbClr>
            </a:solidFill>
            <a:prstDash val="solid"/>
          </a:ln>
        </p:spPr>
      </p:sp>
      <p:sp>
        <p:nvSpPr>
          <p:cNvPr id="1037977196" name="Text 20"/>
          <p:cNvSpPr/>
          <p:nvPr/>
        </p:nvSpPr>
        <p:spPr bwMode="auto">
          <a:xfrm>
            <a:off x="868680" y="5157216"/>
            <a:ext cx="347472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5</a:t>
            </a:r>
            <a:endParaRPr lang="en-US" sz="1600"/>
          </a:p>
        </p:txBody>
      </p:sp>
      <p:sp>
        <p:nvSpPr>
          <p:cNvPr id="61357628" name="Text 21"/>
          <p:cNvSpPr/>
          <p:nvPr/>
        </p:nvSpPr>
        <p:spPr bwMode="auto">
          <a:xfrm>
            <a:off x="1371600" y="5111496"/>
            <a:ext cx="2651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1F5FF"/>
                </a:solidFill>
              </a:rPr>
              <a:t>5. Laisser la main à l’utilisateur</a:t>
            </a:r>
            <a:endParaRPr lang="en-US" sz="1300"/>
          </a:p>
        </p:txBody>
      </p:sp>
      <p:sp>
        <p:nvSpPr>
          <p:cNvPr id="139049870" name="Text 22"/>
          <p:cNvSpPr/>
          <p:nvPr/>
        </p:nvSpPr>
        <p:spPr bwMode="auto">
          <a:xfrm>
            <a:off x="4526280" y="5102352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DFFA"/>
                </a:solidFill>
              </a:rPr>
              <a:t>Lecture, correction du textarea, validation, rejet ou ignore.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034094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201589164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Architecture modulaire</a:t>
            </a:r>
            <a:endParaRPr lang="en-US" sz="2800"/>
          </a:p>
        </p:txBody>
      </p:sp>
      <p:sp>
        <p:nvSpPr>
          <p:cNvPr id="627283601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Découplage complet entre UI, IA et automation navigateur</a:t>
            </a:r>
            <a:endParaRPr sz="1400"/>
          </a:p>
        </p:txBody>
      </p:sp>
      <p:sp>
        <p:nvSpPr>
          <p:cNvPr id="578883581" name="Shape 3"/>
          <p:cNvSpPr/>
          <p:nvPr/>
        </p:nvSpPr>
        <p:spPr bwMode="auto">
          <a:xfrm>
            <a:off x="2011680" y="1828800"/>
            <a:ext cx="178308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997211993" name="Shape 4"/>
          <p:cNvSpPr/>
          <p:nvPr/>
        </p:nvSpPr>
        <p:spPr bwMode="auto">
          <a:xfrm>
            <a:off x="5715000" y="1828800"/>
            <a:ext cx="187452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704521477" name="Shape 5"/>
          <p:cNvSpPr/>
          <p:nvPr/>
        </p:nvSpPr>
        <p:spPr bwMode="auto">
          <a:xfrm>
            <a:off x="9326880" y="1828800"/>
            <a:ext cx="0" cy="219456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604176113" name="Shape 6"/>
          <p:cNvSpPr/>
          <p:nvPr/>
        </p:nvSpPr>
        <p:spPr bwMode="auto">
          <a:xfrm>
            <a:off x="7589520" y="4023360"/>
            <a:ext cx="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51200600" name="Shape 7"/>
          <p:cNvSpPr/>
          <p:nvPr/>
        </p:nvSpPr>
        <p:spPr bwMode="auto">
          <a:xfrm>
            <a:off x="3794760" y="4023360"/>
            <a:ext cx="0" cy="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2052999027" name="Shape 8"/>
          <p:cNvSpPr/>
          <p:nvPr/>
        </p:nvSpPr>
        <p:spPr bwMode="auto">
          <a:xfrm>
            <a:off x="5715000" y="1828800"/>
            <a:ext cx="0" cy="2194560"/>
          </a:xfrm>
          <a:prstGeom prst="line">
            <a:avLst/>
          </a:prstGeom>
          <a:noFill/>
          <a:ln w="12700">
            <a:solidFill>
              <a:srgbClr val="90A0D8"/>
            </a:solidFill>
            <a:prstDash val="solid"/>
          </a:ln>
        </p:spPr>
      </p:sp>
      <p:sp>
        <p:nvSpPr>
          <p:cNvPr id="1249976409" name="Shape 9"/>
          <p:cNvSpPr/>
          <p:nvPr/>
        </p:nvSpPr>
        <p:spPr bwMode="auto">
          <a:xfrm flipH="0" flipV="0">
            <a:off x="594360" y="1280160"/>
            <a:ext cx="2468880" cy="1565723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92988651" name="Shape 10"/>
          <p:cNvSpPr/>
          <p:nvPr/>
        </p:nvSpPr>
        <p:spPr bwMode="auto">
          <a:xfrm>
            <a:off x="594360" y="1280160"/>
            <a:ext cx="54864" cy="10972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80890841" name="Text 11"/>
          <p:cNvSpPr/>
          <p:nvPr/>
        </p:nvSpPr>
        <p:spPr bwMode="auto">
          <a:xfrm>
            <a:off x="768096" y="1389887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UI accessible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325370626" name="Text 12"/>
          <p:cNvSpPr/>
          <p:nvPr/>
        </p:nvSpPr>
        <p:spPr bwMode="auto">
          <a:xfrm flipH="0" flipV="0">
            <a:off x="758952" y="1664208"/>
            <a:ext cx="2212848" cy="914511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Mail complet, réponse éditable, paramètres visuels, scroll, classification.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702588566" name="Shape 13"/>
          <p:cNvSpPr/>
          <p:nvPr/>
        </p:nvSpPr>
        <p:spPr bwMode="auto">
          <a:xfrm flipH="0" flipV="0">
            <a:off x="3566160" y="1280160"/>
            <a:ext cx="2468880" cy="1565723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24942330" name="Shape 14"/>
          <p:cNvSpPr/>
          <p:nvPr/>
        </p:nvSpPr>
        <p:spPr bwMode="auto">
          <a:xfrm>
            <a:off x="3566160" y="128016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41415980" name="Text 15"/>
          <p:cNvSpPr/>
          <p:nvPr/>
        </p:nvSpPr>
        <p:spPr bwMode="auto">
          <a:xfrm>
            <a:off x="3730752" y="13898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Orchestrateur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700268085" name="Text 16"/>
          <p:cNvSpPr/>
          <p:nvPr/>
        </p:nvSpPr>
        <p:spPr bwMode="auto">
          <a:xfrm flipH="0" flipV="0">
            <a:off x="3730752" y="1664208"/>
            <a:ext cx="2212848" cy="914511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Distribue les tâches, collecte les états, journalise, applique les règles.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2029157449" name="Shape 17"/>
          <p:cNvSpPr/>
          <p:nvPr/>
        </p:nvSpPr>
        <p:spPr bwMode="auto">
          <a:xfrm flipH="0" flipV="0">
            <a:off x="6492240" y="1280160"/>
            <a:ext cx="2468880" cy="1565723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72135954" name="Shape 18"/>
          <p:cNvSpPr/>
          <p:nvPr/>
        </p:nvSpPr>
        <p:spPr bwMode="auto">
          <a:xfrm>
            <a:off x="6492240" y="128016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71779467" name="Text 19"/>
          <p:cNvSpPr/>
          <p:nvPr/>
        </p:nvSpPr>
        <p:spPr bwMode="auto">
          <a:xfrm>
            <a:off x="6656832" y="13898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Moteur IA</a:t>
            </a:r>
            <a:endParaRPr lang="en-US" sz="1400"/>
          </a:p>
        </p:txBody>
      </p:sp>
      <p:sp>
        <p:nvSpPr>
          <p:cNvPr id="2061801008" name="Text 20"/>
          <p:cNvSpPr/>
          <p:nvPr/>
        </p:nvSpPr>
        <p:spPr bwMode="auto">
          <a:xfrm flipH="0" flipV="0">
            <a:off x="6656832" y="1664207"/>
            <a:ext cx="2212848" cy="1030669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LLM local ou distant : compréhension, classification, réponse, confiance.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347379412" name="Shape 21"/>
          <p:cNvSpPr/>
          <p:nvPr/>
        </p:nvSpPr>
        <p:spPr bwMode="auto">
          <a:xfrm flipH="0" flipV="0">
            <a:off x="9143999" y="1280160"/>
            <a:ext cx="2423160" cy="1565723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89961810" name="Shape 22"/>
          <p:cNvSpPr/>
          <p:nvPr/>
        </p:nvSpPr>
        <p:spPr bwMode="auto">
          <a:xfrm>
            <a:off x="9144000" y="128016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85517341" name="Text 23"/>
          <p:cNvSpPr/>
          <p:nvPr/>
        </p:nvSpPr>
        <p:spPr bwMode="auto">
          <a:xfrm>
            <a:off x="9308592" y="138988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Browser Use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010478458" name="Text 24"/>
          <p:cNvSpPr/>
          <p:nvPr/>
        </p:nvSpPr>
        <p:spPr bwMode="auto">
          <a:xfrm flipH="0" flipV="0">
            <a:off x="9308592" y="1664207"/>
            <a:ext cx="2167128" cy="640080"/>
          </a:xfrm>
          <a:prstGeom prst="rect">
            <a:avLst/>
          </a:prstGeom>
          <a:noFill/>
          <a:ln/>
        </p:spPr>
        <p:txBody>
          <a:bodyPr wrap="square" lIns="253" tIns="253" rIns="253" bIns="253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Ouvre, clique, scroll, navigue, joint, revient.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722464676" name="Shape 25"/>
          <p:cNvSpPr/>
          <p:nvPr/>
        </p:nvSpPr>
        <p:spPr bwMode="auto">
          <a:xfrm>
            <a:off x="594360" y="352044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06365842" name="Shape 26"/>
          <p:cNvSpPr/>
          <p:nvPr/>
        </p:nvSpPr>
        <p:spPr bwMode="auto">
          <a:xfrm>
            <a:off x="594360" y="3520440"/>
            <a:ext cx="54864" cy="1143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</p:sp>
      <p:sp>
        <p:nvSpPr>
          <p:cNvPr id="112364907" name="Text 27"/>
          <p:cNvSpPr/>
          <p:nvPr/>
        </p:nvSpPr>
        <p:spPr bwMode="auto">
          <a:xfrm>
            <a:off x="758952" y="3630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Données &amp; règles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822973488" name="Text 28"/>
          <p:cNvSpPr/>
          <p:nvPr/>
        </p:nvSpPr>
        <p:spPr bwMode="auto">
          <a:xfrm>
            <a:off x="749808" y="3904488"/>
            <a:ext cx="24871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Prix, âge, références, URLs officielles, documents sortants.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803862366" name="Shape 29"/>
          <p:cNvSpPr/>
          <p:nvPr/>
        </p:nvSpPr>
        <p:spPr bwMode="auto">
          <a:xfrm>
            <a:off x="3840480" y="352044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039843385" name="Shape 30"/>
          <p:cNvSpPr/>
          <p:nvPr/>
        </p:nvSpPr>
        <p:spPr bwMode="auto">
          <a:xfrm>
            <a:off x="3840480" y="3520440"/>
            <a:ext cx="54864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892107621" name="Text 31"/>
          <p:cNvSpPr/>
          <p:nvPr/>
        </p:nvSpPr>
        <p:spPr bwMode="auto">
          <a:xfrm>
            <a:off x="4005072" y="36301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Journalisation &amp; audit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263728544" name="Text 32"/>
          <p:cNvSpPr/>
          <p:nvPr/>
        </p:nvSpPr>
        <p:spPr bwMode="auto">
          <a:xfrm>
            <a:off x="4005072" y="3904488"/>
            <a:ext cx="34015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Actions Browser Use, simulations d’envoi, rejets, métriques.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148697542" name="Shape 33"/>
          <p:cNvSpPr/>
          <p:nvPr/>
        </p:nvSpPr>
        <p:spPr bwMode="auto">
          <a:xfrm>
            <a:off x="7955280" y="3520440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42496508" name="Shape 34"/>
          <p:cNvSpPr/>
          <p:nvPr/>
        </p:nvSpPr>
        <p:spPr bwMode="auto">
          <a:xfrm>
            <a:off x="7955280" y="3520440"/>
            <a:ext cx="54864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05777162" name="Text 35"/>
          <p:cNvSpPr/>
          <p:nvPr/>
        </p:nvSpPr>
        <p:spPr bwMode="auto">
          <a:xfrm>
            <a:off x="8119872" y="363016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Canaux d’exécution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967809641" name="Text 36"/>
          <p:cNvSpPr/>
          <p:nvPr/>
        </p:nvSpPr>
        <p:spPr bwMode="auto">
          <a:xfrm>
            <a:off x="8119872" y="3904488"/>
            <a:ext cx="335584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Webmail, portail métier, documentation officielle, dépôt documentaire.</a:t>
            </a:r>
            <a:endParaRPr sz="140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87688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489227906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Gains opérationnels estimés</a:t>
            </a:r>
            <a:endParaRPr lang="en-US" sz="2800"/>
          </a:p>
        </p:txBody>
      </p:sp>
      <p:sp>
        <p:nvSpPr>
          <p:cNvPr id="1268748463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Ordres de grandeur à valider en tests utilisateurs</a:t>
            </a:r>
            <a:endParaRPr lang="en-US" sz="1100"/>
          </a:p>
        </p:txBody>
      </p:sp>
      <p:sp>
        <p:nvSpPr>
          <p:cNvPr id="654399205" name="Shape 3"/>
          <p:cNvSpPr/>
          <p:nvPr/>
        </p:nvSpPr>
        <p:spPr bwMode="auto">
          <a:xfrm>
            <a:off x="502920" y="1417320"/>
            <a:ext cx="201168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1448656837" name="Text 4"/>
          <p:cNvSpPr/>
          <p:nvPr/>
        </p:nvSpPr>
        <p:spPr bwMode="auto">
          <a:xfrm>
            <a:off x="557784" y="149047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Tâche</a:t>
            </a:r>
            <a:endParaRPr lang="en-US" sz="1050"/>
          </a:p>
        </p:txBody>
      </p:sp>
      <p:sp>
        <p:nvSpPr>
          <p:cNvPr id="827406199" name="Shape 5"/>
          <p:cNvSpPr/>
          <p:nvPr/>
        </p:nvSpPr>
        <p:spPr bwMode="auto">
          <a:xfrm>
            <a:off x="2514600" y="1417320"/>
            <a:ext cx="192024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774356705" name="Text 6"/>
          <p:cNvSpPr/>
          <p:nvPr/>
        </p:nvSpPr>
        <p:spPr bwMode="auto">
          <a:xfrm>
            <a:off x="2569464" y="1490472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Manuel</a:t>
            </a:r>
            <a:endParaRPr lang="en-US" sz="1050"/>
          </a:p>
        </p:txBody>
      </p:sp>
      <p:sp>
        <p:nvSpPr>
          <p:cNvPr id="1547579305" name="Shape 7"/>
          <p:cNvSpPr/>
          <p:nvPr/>
        </p:nvSpPr>
        <p:spPr bwMode="auto">
          <a:xfrm>
            <a:off x="4434840" y="1417320"/>
            <a:ext cx="228600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999652399" name="Text 8"/>
          <p:cNvSpPr/>
          <p:nvPr/>
        </p:nvSpPr>
        <p:spPr bwMode="auto">
          <a:xfrm>
            <a:off x="4489704" y="1490472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Avec Browser Use</a:t>
            </a:r>
            <a:endParaRPr lang="en-US" sz="1050"/>
          </a:p>
        </p:txBody>
      </p:sp>
      <p:sp>
        <p:nvSpPr>
          <p:cNvPr id="258148630" name="Shape 9"/>
          <p:cNvSpPr/>
          <p:nvPr/>
        </p:nvSpPr>
        <p:spPr bwMode="auto">
          <a:xfrm>
            <a:off x="6720840" y="1417320"/>
            <a:ext cx="109728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1021269813" name="Text 10"/>
          <p:cNvSpPr/>
          <p:nvPr/>
        </p:nvSpPr>
        <p:spPr bwMode="auto">
          <a:xfrm>
            <a:off x="6775704" y="149047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Gain temps</a:t>
            </a:r>
            <a:endParaRPr lang="en-US" sz="1050"/>
          </a:p>
        </p:txBody>
      </p:sp>
      <p:sp>
        <p:nvSpPr>
          <p:cNvPr id="332376457" name="Shape 11"/>
          <p:cNvSpPr/>
          <p:nvPr/>
        </p:nvSpPr>
        <p:spPr bwMode="auto">
          <a:xfrm>
            <a:off x="7818120" y="1417320"/>
            <a:ext cx="3840480" cy="457200"/>
          </a:xfrm>
          <a:prstGeom prst="rect">
            <a:avLst/>
          </a:prstGeom>
          <a:solidFill>
            <a:srgbClr val="DDE6FF"/>
          </a:solidFill>
          <a:ln w="12700">
            <a:solidFill>
              <a:srgbClr val="A7B4E5"/>
            </a:solidFill>
            <a:prstDash val="solid"/>
          </a:ln>
        </p:spPr>
      </p:sp>
      <p:sp>
        <p:nvSpPr>
          <p:cNvPr id="346640455" name="Text 12"/>
          <p:cNvSpPr/>
          <p:nvPr/>
        </p:nvSpPr>
        <p:spPr bwMode="auto">
          <a:xfrm>
            <a:off x="7872984" y="1490472"/>
            <a:ext cx="3730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Impact accessibilité</a:t>
            </a:r>
            <a:endParaRPr lang="en-US" sz="1050"/>
          </a:p>
        </p:txBody>
      </p:sp>
      <p:sp>
        <p:nvSpPr>
          <p:cNvPr id="1287618893" name="Shape 13"/>
          <p:cNvSpPr/>
          <p:nvPr/>
        </p:nvSpPr>
        <p:spPr bwMode="auto">
          <a:xfrm>
            <a:off x="502920" y="1874520"/>
            <a:ext cx="20116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8573452" name="Text 14"/>
          <p:cNvSpPr/>
          <p:nvPr/>
        </p:nvSpPr>
        <p:spPr bwMode="auto">
          <a:xfrm>
            <a:off x="557784" y="1947671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Ouvrir la messagerie</a:t>
            </a:r>
            <a:endParaRPr lang="en-US" sz="1000"/>
          </a:p>
        </p:txBody>
      </p:sp>
      <p:sp>
        <p:nvSpPr>
          <p:cNvPr id="1613283149" name="Shape 15"/>
          <p:cNvSpPr/>
          <p:nvPr/>
        </p:nvSpPr>
        <p:spPr bwMode="auto">
          <a:xfrm>
            <a:off x="2514600" y="1874520"/>
            <a:ext cx="192024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471783703" name="Text 16"/>
          <p:cNvSpPr/>
          <p:nvPr/>
        </p:nvSpPr>
        <p:spPr bwMode="auto">
          <a:xfrm>
            <a:off x="2569464" y="1947671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navigation complète</a:t>
            </a:r>
            <a:endParaRPr lang="en-US" sz="1000"/>
          </a:p>
        </p:txBody>
      </p:sp>
      <p:sp>
        <p:nvSpPr>
          <p:cNvPr id="918748814" name="Shape 17"/>
          <p:cNvSpPr/>
          <p:nvPr/>
        </p:nvSpPr>
        <p:spPr bwMode="auto">
          <a:xfrm>
            <a:off x="4434840" y="1874520"/>
            <a:ext cx="228600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322234458" name="Text 18"/>
          <p:cNvSpPr/>
          <p:nvPr/>
        </p:nvSpPr>
        <p:spPr bwMode="auto">
          <a:xfrm>
            <a:off x="4489704" y="1947671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ouverture automatique</a:t>
            </a:r>
            <a:endParaRPr lang="en-US" sz="1000"/>
          </a:p>
        </p:txBody>
      </p:sp>
      <p:sp>
        <p:nvSpPr>
          <p:cNvPr id="280401203" name="Shape 19"/>
          <p:cNvSpPr/>
          <p:nvPr/>
        </p:nvSpPr>
        <p:spPr bwMode="auto">
          <a:xfrm>
            <a:off x="6720840" y="1874520"/>
            <a:ext cx="10972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62420300" name="Text 20"/>
          <p:cNvSpPr/>
          <p:nvPr/>
        </p:nvSpPr>
        <p:spPr bwMode="auto">
          <a:xfrm>
            <a:off x="6775704" y="1947671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30–60 s</a:t>
            </a:r>
            <a:endParaRPr lang="en-US" sz="1000"/>
          </a:p>
        </p:txBody>
      </p:sp>
      <p:sp>
        <p:nvSpPr>
          <p:cNvPr id="366242826" name="Shape 21"/>
          <p:cNvSpPr/>
          <p:nvPr/>
        </p:nvSpPr>
        <p:spPr bwMode="auto">
          <a:xfrm>
            <a:off x="7818120" y="1874520"/>
            <a:ext cx="38404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55531596" name="Text 22"/>
          <p:cNvSpPr/>
          <p:nvPr/>
        </p:nvSpPr>
        <p:spPr bwMode="auto">
          <a:xfrm>
            <a:off x="7872984" y="1947671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moins de recherche visuelle</a:t>
            </a:r>
            <a:endParaRPr lang="en-US" sz="1000"/>
          </a:p>
        </p:txBody>
      </p:sp>
      <p:sp>
        <p:nvSpPr>
          <p:cNvPr id="478885411" name="Shape 23"/>
          <p:cNvSpPr/>
          <p:nvPr/>
        </p:nvSpPr>
        <p:spPr bwMode="auto">
          <a:xfrm>
            <a:off x="502920" y="2441448"/>
            <a:ext cx="20116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479429543" name="Text 24"/>
          <p:cNvSpPr/>
          <p:nvPr/>
        </p:nvSpPr>
        <p:spPr bwMode="auto">
          <a:xfrm>
            <a:off x="557784" y="25146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Sélectionner le mail</a:t>
            </a:r>
            <a:endParaRPr lang="en-US" sz="1000"/>
          </a:p>
        </p:txBody>
      </p:sp>
      <p:sp>
        <p:nvSpPr>
          <p:cNvPr id="146398090" name="Shape 25"/>
          <p:cNvSpPr/>
          <p:nvPr/>
        </p:nvSpPr>
        <p:spPr bwMode="auto">
          <a:xfrm>
            <a:off x="2514600" y="2441448"/>
            <a:ext cx="192024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4067702" name="Text 26"/>
          <p:cNvSpPr/>
          <p:nvPr/>
        </p:nvSpPr>
        <p:spPr bwMode="auto">
          <a:xfrm>
            <a:off x="2569464" y="25146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parcours et ciblage</a:t>
            </a:r>
            <a:endParaRPr lang="en-US" sz="1000"/>
          </a:p>
        </p:txBody>
      </p:sp>
      <p:sp>
        <p:nvSpPr>
          <p:cNvPr id="1498041671" name="Shape 27"/>
          <p:cNvSpPr/>
          <p:nvPr/>
        </p:nvSpPr>
        <p:spPr bwMode="auto">
          <a:xfrm>
            <a:off x="4434840" y="2441448"/>
            <a:ext cx="228600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88198485" name="Text 28"/>
          <p:cNvSpPr/>
          <p:nvPr/>
        </p:nvSpPr>
        <p:spPr bwMode="auto">
          <a:xfrm>
            <a:off x="4489704" y="2514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sélection automatique</a:t>
            </a:r>
            <a:endParaRPr lang="en-US" sz="1000"/>
          </a:p>
        </p:txBody>
      </p:sp>
      <p:sp>
        <p:nvSpPr>
          <p:cNvPr id="782989885" name="Shape 29"/>
          <p:cNvSpPr/>
          <p:nvPr/>
        </p:nvSpPr>
        <p:spPr bwMode="auto">
          <a:xfrm>
            <a:off x="6720840" y="2441448"/>
            <a:ext cx="10972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302190037" name="Text 30"/>
          <p:cNvSpPr/>
          <p:nvPr/>
        </p:nvSpPr>
        <p:spPr bwMode="auto">
          <a:xfrm>
            <a:off x="6775704" y="251460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15–45 s</a:t>
            </a:r>
            <a:endParaRPr lang="en-US" sz="1000"/>
          </a:p>
        </p:txBody>
      </p:sp>
      <p:sp>
        <p:nvSpPr>
          <p:cNvPr id="532435966" name="Shape 31"/>
          <p:cNvSpPr/>
          <p:nvPr/>
        </p:nvSpPr>
        <p:spPr bwMode="auto">
          <a:xfrm>
            <a:off x="7818120" y="2441448"/>
            <a:ext cx="38404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0302317" name="Text 32"/>
          <p:cNvSpPr/>
          <p:nvPr/>
        </p:nvSpPr>
        <p:spPr bwMode="auto">
          <a:xfrm>
            <a:off x="7872984" y="2514600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moins de balayage cognitif</a:t>
            </a:r>
            <a:endParaRPr lang="en-US" sz="1000"/>
          </a:p>
        </p:txBody>
      </p:sp>
      <p:sp>
        <p:nvSpPr>
          <p:cNvPr id="1898092609" name="Shape 33"/>
          <p:cNvSpPr/>
          <p:nvPr/>
        </p:nvSpPr>
        <p:spPr bwMode="auto">
          <a:xfrm>
            <a:off x="502920" y="3008376"/>
            <a:ext cx="20116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94443514" name="Text 34"/>
          <p:cNvSpPr/>
          <p:nvPr/>
        </p:nvSpPr>
        <p:spPr bwMode="auto">
          <a:xfrm>
            <a:off x="557784" y="308152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Ouvrir lien / PJ</a:t>
            </a:r>
            <a:endParaRPr lang="en-US" sz="1000"/>
          </a:p>
        </p:txBody>
      </p:sp>
      <p:sp>
        <p:nvSpPr>
          <p:cNvPr id="345919155" name="Shape 35"/>
          <p:cNvSpPr/>
          <p:nvPr/>
        </p:nvSpPr>
        <p:spPr bwMode="auto">
          <a:xfrm>
            <a:off x="2514600" y="3008376"/>
            <a:ext cx="192024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675469882" name="Text 36"/>
          <p:cNvSpPr/>
          <p:nvPr/>
        </p:nvSpPr>
        <p:spPr bwMode="auto">
          <a:xfrm>
            <a:off x="2569464" y="308152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onglets + retour</a:t>
            </a:r>
            <a:endParaRPr lang="en-US" sz="1000"/>
          </a:p>
        </p:txBody>
      </p:sp>
      <p:sp>
        <p:nvSpPr>
          <p:cNvPr id="2089596703" name="Shape 37"/>
          <p:cNvSpPr/>
          <p:nvPr/>
        </p:nvSpPr>
        <p:spPr bwMode="auto">
          <a:xfrm>
            <a:off x="4434840" y="3008376"/>
            <a:ext cx="228600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344575539" name="Text 38"/>
          <p:cNvSpPr/>
          <p:nvPr/>
        </p:nvSpPr>
        <p:spPr bwMode="auto">
          <a:xfrm>
            <a:off x="4489704" y="308152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ouverture et retour automatiques</a:t>
            </a:r>
            <a:endParaRPr lang="en-US" sz="1000"/>
          </a:p>
        </p:txBody>
      </p:sp>
      <p:sp>
        <p:nvSpPr>
          <p:cNvPr id="1465213772" name="Shape 39"/>
          <p:cNvSpPr/>
          <p:nvPr/>
        </p:nvSpPr>
        <p:spPr bwMode="auto">
          <a:xfrm>
            <a:off x="6720840" y="3008376"/>
            <a:ext cx="10972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575892416" name="Text 40"/>
          <p:cNvSpPr/>
          <p:nvPr/>
        </p:nvSpPr>
        <p:spPr bwMode="auto">
          <a:xfrm>
            <a:off x="6775704" y="3081528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20–120 s</a:t>
            </a:r>
            <a:endParaRPr lang="en-US" sz="1000"/>
          </a:p>
        </p:txBody>
      </p:sp>
      <p:sp>
        <p:nvSpPr>
          <p:cNvPr id="2079671171" name="Shape 41"/>
          <p:cNvSpPr/>
          <p:nvPr/>
        </p:nvSpPr>
        <p:spPr bwMode="auto">
          <a:xfrm>
            <a:off x="7818120" y="3008376"/>
            <a:ext cx="38404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59827925" name="Text 42"/>
          <p:cNvSpPr/>
          <p:nvPr/>
        </p:nvSpPr>
        <p:spPr bwMode="auto">
          <a:xfrm>
            <a:off x="7872984" y="3081528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fort gain moteur</a:t>
            </a:r>
            <a:endParaRPr lang="en-US" sz="1000"/>
          </a:p>
        </p:txBody>
      </p:sp>
      <p:sp>
        <p:nvSpPr>
          <p:cNvPr id="1374003134" name="Shape 43"/>
          <p:cNvSpPr/>
          <p:nvPr/>
        </p:nvSpPr>
        <p:spPr bwMode="auto">
          <a:xfrm>
            <a:off x="502920" y="3575303"/>
            <a:ext cx="20116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44026560" name="Text 44"/>
          <p:cNvSpPr/>
          <p:nvPr/>
        </p:nvSpPr>
        <p:spPr bwMode="auto">
          <a:xfrm>
            <a:off x="557784" y="364845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Remplir le brouillon</a:t>
            </a:r>
            <a:endParaRPr lang="en-US" sz="1000"/>
          </a:p>
        </p:txBody>
      </p:sp>
      <p:sp>
        <p:nvSpPr>
          <p:cNvPr id="1416992210" name="Shape 45"/>
          <p:cNvSpPr/>
          <p:nvPr/>
        </p:nvSpPr>
        <p:spPr bwMode="auto">
          <a:xfrm>
            <a:off x="2514600" y="3575303"/>
            <a:ext cx="192024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86733832" name="Text 46"/>
          <p:cNvSpPr/>
          <p:nvPr/>
        </p:nvSpPr>
        <p:spPr bwMode="auto">
          <a:xfrm>
            <a:off x="2569464" y="3648456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copier / saisir</a:t>
            </a:r>
            <a:endParaRPr lang="en-US" sz="1000"/>
          </a:p>
        </p:txBody>
      </p:sp>
      <p:sp>
        <p:nvSpPr>
          <p:cNvPr id="399978057" name="Shape 47"/>
          <p:cNvSpPr/>
          <p:nvPr/>
        </p:nvSpPr>
        <p:spPr bwMode="auto">
          <a:xfrm>
            <a:off x="4434840" y="3575303"/>
            <a:ext cx="228600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845980440" name="Text 48"/>
          <p:cNvSpPr/>
          <p:nvPr/>
        </p:nvSpPr>
        <p:spPr bwMode="auto">
          <a:xfrm>
            <a:off x="4489704" y="3648456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insertion automatique</a:t>
            </a:r>
            <a:endParaRPr lang="en-US" sz="1000"/>
          </a:p>
        </p:txBody>
      </p:sp>
      <p:sp>
        <p:nvSpPr>
          <p:cNvPr id="487793605" name="Shape 49"/>
          <p:cNvSpPr/>
          <p:nvPr/>
        </p:nvSpPr>
        <p:spPr bwMode="auto">
          <a:xfrm>
            <a:off x="6720840" y="3575303"/>
            <a:ext cx="10972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83117426" name="Text 50"/>
          <p:cNvSpPr/>
          <p:nvPr/>
        </p:nvSpPr>
        <p:spPr bwMode="auto">
          <a:xfrm>
            <a:off x="6775704" y="3648456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20–60 s</a:t>
            </a:r>
            <a:endParaRPr lang="en-US" sz="1000"/>
          </a:p>
        </p:txBody>
      </p:sp>
      <p:sp>
        <p:nvSpPr>
          <p:cNvPr id="568661423" name="Shape 51"/>
          <p:cNvSpPr/>
          <p:nvPr/>
        </p:nvSpPr>
        <p:spPr bwMode="auto">
          <a:xfrm>
            <a:off x="7818120" y="3575303"/>
            <a:ext cx="38404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74776790" name="Text 52"/>
          <p:cNvSpPr/>
          <p:nvPr/>
        </p:nvSpPr>
        <p:spPr bwMode="auto">
          <a:xfrm>
            <a:off x="7872984" y="3648456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très utile avec clavier virtuel</a:t>
            </a:r>
            <a:endParaRPr lang="en-US" sz="1000"/>
          </a:p>
        </p:txBody>
      </p:sp>
      <p:sp>
        <p:nvSpPr>
          <p:cNvPr id="572106262" name="Shape 53"/>
          <p:cNvSpPr/>
          <p:nvPr/>
        </p:nvSpPr>
        <p:spPr bwMode="auto">
          <a:xfrm>
            <a:off x="502920" y="4142232"/>
            <a:ext cx="20116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329588070" name="Text 54"/>
          <p:cNvSpPr/>
          <p:nvPr/>
        </p:nvSpPr>
        <p:spPr bwMode="auto">
          <a:xfrm>
            <a:off x="557784" y="421538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Joindre document</a:t>
            </a:r>
            <a:endParaRPr lang="en-US" sz="1000"/>
          </a:p>
        </p:txBody>
      </p:sp>
      <p:sp>
        <p:nvSpPr>
          <p:cNvPr id="596939636" name="Shape 55"/>
          <p:cNvSpPr/>
          <p:nvPr/>
        </p:nvSpPr>
        <p:spPr bwMode="auto">
          <a:xfrm>
            <a:off x="2514600" y="4142232"/>
            <a:ext cx="192024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07970446" name="Text 56"/>
          <p:cNvSpPr/>
          <p:nvPr/>
        </p:nvSpPr>
        <p:spPr bwMode="auto">
          <a:xfrm>
            <a:off x="2569464" y="421538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explorateur + sélection</a:t>
            </a:r>
            <a:endParaRPr lang="en-US" sz="1000"/>
          </a:p>
        </p:txBody>
      </p:sp>
      <p:sp>
        <p:nvSpPr>
          <p:cNvPr id="671962687" name="Shape 57"/>
          <p:cNvSpPr/>
          <p:nvPr/>
        </p:nvSpPr>
        <p:spPr bwMode="auto">
          <a:xfrm>
            <a:off x="4434840" y="4142232"/>
            <a:ext cx="228600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1985845" name="Text 58"/>
          <p:cNvSpPr/>
          <p:nvPr/>
        </p:nvSpPr>
        <p:spPr bwMode="auto">
          <a:xfrm>
            <a:off x="4489704" y="421538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ajout automatique</a:t>
            </a:r>
            <a:endParaRPr lang="en-US" sz="1000"/>
          </a:p>
        </p:txBody>
      </p:sp>
      <p:sp>
        <p:nvSpPr>
          <p:cNvPr id="1298301050" name="Shape 59"/>
          <p:cNvSpPr/>
          <p:nvPr/>
        </p:nvSpPr>
        <p:spPr bwMode="auto">
          <a:xfrm>
            <a:off x="6720840" y="4142232"/>
            <a:ext cx="10972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58640415" name="Text 60"/>
          <p:cNvSpPr/>
          <p:nvPr/>
        </p:nvSpPr>
        <p:spPr bwMode="auto">
          <a:xfrm>
            <a:off x="6775704" y="4215384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30–120 s</a:t>
            </a:r>
            <a:endParaRPr lang="en-US" sz="1000"/>
          </a:p>
        </p:txBody>
      </p:sp>
      <p:sp>
        <p:nvSpPr>
          <p:cNvPr id="380580609" name="Shape 61"/>
          <p:cNvSpPr/>
          <p:nvPr/>
        </p:nvSpPr>
        <p:spPr bwMode="auto">
          <a:xfrm>
            <a:off x="7818120" y="4142232"/>
            <a:ext cx="3840480" cy="566928"/>
          </a:xfrm>
          <a:prstGeom prst="rect">
            <a:avLst/>
          </a:prstGeom>
          <a:solidFill>
            <a:srgbClr val="131B36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792938053" name="Text 62"/>
          <p:cNvSpPr/>
          <p:nvPr/>
        </p:nvSpPr>
        <p:spPr bwMode="auto">
          <a:xfrm>
            <a:off x="7872984" y="4215384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fort gain moteur et cognitif</a:t>
            </a:r>
            <a:endParaRPr lang="en-US" sz="1000"/>
          </a:p>
        </p:txBody>
      </p:sp>
      <p:sp>
        <p:nvSpPr>
          <p:cNvPr id="1110290281" name="Shape 63"/>
          <p:cNvSpPr/>
          <p:nvPr/>
        </p:nvSpPr>
        <p:spPr bwMode="auto">
          <a:xfrm>
            <a:off x="502920" y="4709160"/>
            <a:ext cx="20116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062431943" name="Text 64"/>
          <p:cNvSpPr/>
          <p:nvPr/>
        </p:nvSpPr>
        <p:spPr bwMode="auto">
          <a:xfrm>
            <a:off x="557784" y="47823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Revenir au suivant</a:t>
            </a:r>
            <a:endParaRPr lang="en-US" sz="1000"/>
          </a:p>
        </p:txBody>
      </p:sp>
      <p:sp>
        <p:nvSpPr>
          <p:cNvPr id="781575468" name="Shape 65"/>
          <p:cNvSpPr/>
          <p:nvPr/>
        </p:nvSpPr>
        <p:spPr bwMode="auto">
          <a:xfrm>
            <a:off x="2514600" y="4709160"/>
            <a:ext cx="192024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94178224" name="Text 66"/>
          <p:cNvSpPr/>
          <p:nvPr/>
        </p:nvSpPr>
        <p:spPr bwMode="auto">
          <a:xfrm>
            <a:off x="2569464" y="47823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fermer / revenir / retrouver</a:t>
            </a:r>
            <a:endParaRPr lang="en-US" sz="1000"/>
          </a:p>
        </p:txBody>
      </p:sp>
      <p:sp>
        <p:nvSpPr>
          <p:cNvPr id="1927493330" name="Shape 67"/>
          <p:cNvSpPr/>
          <p:nvPr/>
        </p:nvSpPr>
        <p:spPr bwMode="auto">
          <a:xfrm>
            <a:off x="4434840" y="4709160"/>
            <a:ext cx="228600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12920580" name="Text 68"/>
          <p:cNvSpPr/>
          <p:nvPr/>
        </p:nvSpPr>
        <p:spPr bwMode="auto">
          <a:xfrm>
            <a:off x="4489704" y="47823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enchaînement automatique</a:t>
            </a:r>
            <a:endParaRPr lang="en-US" sz="1000"/>
          </a:p>
        </p:txBody>
      </p:sp>
      <p:sp>
        <p:nvSpPr>
          <p:cNvPr id="1233281067" name="Shape 69"/>
          <p:cNvSpPr/>
          <p:nvPr/>
        </p:nvSpPr>
        <p:spPr bwMode="auto">
          <a:xfrm>
            <a:off x="6720840" y="4709160"/>
            <a:ext cx="10972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869325572" name="Text 70"/>
          <p:cNvSpPr/>
          <p:nvPr/>
        </p:nvSpPr>
        <p:spPr bwMode="auto">
          <a:xfrm>
            <a:off x="6775704" y="4782312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15–45 s</a:t>
            </a:r>
            <a:endParaRPr lang="en-US" sz="1000"/>
          </a:p>
        </p:txBody>
      </p:sp>
      <p:sp>
        <p:nvSpPr>
          <p:cNvPr id="757467468" name="Shape 71"/>
          <p:cNvSpPr/>
          <p:nvPr/>
        </p:nvSpPr>
        <p:spPr bwMode="auto">
          <a:xfrm>
            <a:off x="7818120" y="4709160"/>
            <a:ext cx="3840480" cy="56692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47047996" name="Text 72"/>
          <p:cNvSpPr/>
          <p:nvPr/>
        </p:nvSpPr>
        <p:spPr bwMode="auto">
          <a:xfrm>
            <a:off x="7872984" y="4782312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6EDFF"/>
                </a:solidFill>
              </a:rPr>
              <a:t>moins de fatigue sérielle</a:t>
            </a:r>
            <a:endParaRPr lang="en-US" sz="1000"/>
          </a:p>
        </p:txBody>
      </p:sp>
      <p:sp>
        <p:nvSpPr>
          <p:cNvPr id="102509583" name="Shape 73"/>
          <p:cNvSpPr/>
          <p:nvPr/>
        </p:nvSpPr>
        <p:spPr bwMode="auto">
          <a:xfrm>
            <a:off x="731520" y="5349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295097810" name="Text 74"/>
          <p:cNvSpPr/>
          <p:nvPr/>
        </p:nvSpPr>
        <p:spPr bwMode="auto">
          <a:xfrm>
            <a:off x="868680" y="547725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-58 %</a:t>
            </a:r>
            <a:endParaRPr lang="en-US" sz="2200"/>
          </a:p>
        </p:txBody>
      </p:sp>
      <p:sp>
        <p:nvSpPr>
          <p:cNvPr id="116717143" name="Text 75"/>
          <p:cNvSpPr/>
          <p:nvPr/>
        </p:nvSpPr>
        <p:spPr bwMode="auto">
          <a:xfrm>
            <a:off x="868680" y="5824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temps global estimé</a:t>
            </a:r>
            <a:endParaRPr lang="en-US" sz="1050"/>
          </a:p>
        </p:txBody>
      </p:sp>
      <p:sp>
        <p:nvSpPr>
          <p:cNvPr id="1998145306" name="Shape 76"/>
          <p:cNvSpPr/>
          <p:nvPr/>
        </p:nvSpPr>
        <p:spPr bwMode="auto">
          <a:xfrm>
            <a:off x="2834640" y="5349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746064397" name="Text 77"/>
          <p:cNvSpPr/>
          <p:nvPr/>
        </p:nvSpPr>
        <p:spPr bwMode="auto">
          <a:xfrm>
            <a:off x="2971800" y="547725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60–80 %</a:t>
            </a:r>
            <a:endParaRPr lang="en-US" sz="2200"/>
          </a:p>
        </p:txBody>
      </p:sp>
      <p:sp>
        <p:nvSpPr>
          <p:cNvPr id="790521550" name="Text 78"/>
          <p:cNvSpPr/>
          <p:nvPr/>
        </p:nvSpPr>
        <p:spPr bwMode="auto">
          <a:xfrm>
            <a:off x="2971800" y="5824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actions évitées</a:t>
            </a:r>
            <a:endParaRPr lang="en-US" sz="1050"/>
          </a:p>
        </p:txBody>
      </p:sp>
      <p:sp>
        <p:nvSpPr>
          <p:cNvPr id="684351114" name="Shape 79"/>
          <p:cNvSpPr/>
          <p:nvPr/>
        </p:nvSpPr>
        <p:spPr bwMode="auto">
          <a:xfrm>
            <a:off x="4937760" y="53492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938"/>
          </a:solidFill>
          <a:ln w="12700">
            <a:solidFill>
              <a:srgbClr val="7C8ACB">
                <a:alpha val="30000"/>
              </a:srgbClr>
            </a:solidFill>
            <a:prstDash val="solid"/>
          </a:ln>
        </p:spPr>
      </p:sp>
      <p:sp>
        <p:nvSpPr>
          <p:cNvPr id="179111735" name="Text 80"/>
          <p:cNvSpPr/>
          <p:nvPr/>
        </p:nvSpPr>
        <p:spPr bwMode="auto">
          <a:xfrm>
            <a:off x="5074920" y="5477255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</a:rPr>
              <a:t>20 mails</a:t>
            </a:r>
            <a:endParaRPr lang="en-US" sz="2200"/>
          </a:p>
        </p:txBody>
      </p:sp>
      <p:sp>
        <p:nvSpPr>
          <p:cNvPr id="666612595" name="Text 81"/>
          <p:cNvSpPr/>
          <p:nvPr/>
        </p:nvSpPr>
        <p:spPr bwMode="auto">
          <a:xfrm>
            <a:off x="5074920" y="5824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8C5F0"/>
                </a:solidFill>
              </a:rPr>
              <a:t>base de simulation / jour</a:t>
            </a:r>
            <a:endParaRPr lang="en-US" sz="1050"/>
          </a:p>
        </p:txBody>
      </p:sp>
      <p:sp>
        <p:nvSpPr>
          <p:cNvPr id="400747292" name="Text 82"/>
          <p:cNvSpPr/>
          <p:nvPr/>
        </p:nvSpPr>
        <p:spPr bwMode="auto">
          <a:xfrm>
            <a:off x="7132320" y="5486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4DEFF"/>
                </a:solidFill>
              </a:rPr>
              <a:t>Lecture : la valeur créée est surtout une réduction de gestes techniques et d’allers-retours d’interface, pas un remplacement du jugement utilisateur.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400141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87687520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Classification et scroll</a:t>
            </a:r>
            <a:endParaRPr lang="en-US" sz="2800"/>
          </a:p>
        </p:txBody>
      </p:sp>
      <p:sp>
        <p:nvSpPr>
          <p:cNvPr id="1675045347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Deux leviers qui améliorent fortement l’expérience utilisateur</a:t>
            </a:r>
            <a:endParaRPr lang="en-US" sz="1100"/>
          </a:p>
        </p:txBody>
      </p:sp>
      <p:sp>
        <p:nvSpPr>
          <p:cNvPr id="1278144135" name="Shape 3"/>
          <p:cNvSpPr/>
          <p:nvPr/>
        </p:nvSpPr>
        <p:spPr bwMode="auto">
          <a:xfrm>
            <a:off x="640080" y="13258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40057997" name="Shape 4"/>
          <p:cNvSpPr/>
          <p:nvPr/>
        </p:nvSpPr>
        <p:spPr bwMode="auto">
          <a:xfrm>
            <a:off x="640080" y="1325880"/>
            <a:ext cx="54864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8539901" name="Text 5"/>
          <p:cNvSpPr/>
          <p:nvPr/>
        </p:nvSpPr>
        <p:spPr bwMode="auto">
          <a:xfrm>
            <a:off x="804672" y="14356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Classification des mails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39186784" name="Text 6"/>
          <p:cNvSpPr/>
          <p:nvPr/>
        </p:nvSpPr>
        <p:spPr bwMode="auto">
          <a:xfrm>
            <a:off x="804672" y="1709928"/>
            <a:ext cx="513892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Avant ouverture, le système peut classer les messages : Urgent, Normal, Suspect, À vérifier, Administratif, Avec pièce jointe importante, Réponse simple possible. Ce tri réduit le coût cognitif de la boîte de réception et améliore la priorisation.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090582345" name="Shape 7"/>
          <p:cNvSpPr/>
          <p:nvPr/>
        </p:nvSpPr>
        <p:spPr bwMode="auto">
          <a:xfrm>
            <a:off x="6172200" y="13258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62343835" name="Shape 8"/>
          <p:cNvSpPr/>
          <p:nvPr/>
        </p:nvSpPr>
        <p:spPr bwMode="auto">
          <a:xfrm>
            <a:off x="6172200" y="1325880"/>
            <a:ext cx="54864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45734941" name="Text 9"/>
          <p:cNvSpPr/>
          <p:nvPr/>
        </p:nvSpPr>
        <p:spPr bwMode="auto">
          <a:xfrm>
            <a:off x="6336792" y="1435608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Scroll paramétrable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893118083" name="Text 10"/>
          <p:cNvSpPr/>
          <p:nvPr/>
        </p:nvSpPr>
        <p:spPr bwMode="auto">
          <a:xfrm>
            <a:off x="6336792" y="1709928"/>
            <a:ext cx="5093208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Le scroll n’est pas laissé au hasard. Dans les paramètres de l’application, l’utilisateur règle la quantité de contenu (1 écran, 3 paragraphes, 10 lignes) et la vitesse (Lent, Normal, Rapide).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533506263" name="Shape 11"/>
          <p:cNvSpPr/>
          <p:nvPr/>
        </p:nvSpPr>
        <p:spPr bwMode="auto">
          <a:xfrm>
            <a:off x="822960" y="365760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111938"/>
          </a:solidFill>
          <a:ln w="12700">
            <a:solidFill>
              <a:srgbClr val="7D8DCA">
                <a:alpha val="35000"/>
              </a:srgbClr>
            </a:solidFill>
            <a:prstDash val="solid"/>
          </a:ln>
        </p:spPr>
      </p:sp>
      <p:sp>
        <p:nvSpPr>
          <p:cNvPr id="1348451674" name="Text 12"/>
          <p:cNvSpPr/>
          <p:nvPr/>
        </p:nvSpPr>
        <p:spPr bwMode="auto">
          <a:xfrm>
            <a:off x="1005840" y="38221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Bon réglage recommandé pour V1</a:t>
            </a:r>
            <a:endParaRPr lang="en-US" sz="1300"/>
          </a:p>
        </p:txBody>
      </p:sp>
      <p:sp>
        <p:nvSpPr>
          <p:cNvPr id="466125825" name="Text 13"/>
          <p:cNvSpPr/>
          <p:nvPr/>
        </p:nvSpPr>
        <p:spPr bwMode="auto">
          <a:xfrm>
            <a:off x="1051560" y="4160519"/>
            <a:ext cx="1371600" cy="256032"/>
          </a:xfrm>
          <a:prstGeom prst="rect">
            <a:avLst/>
          </a:prstGeom>
          <a:solidFill>
            <a:srgbClr val="4F46E5"/>
          </a:solidFill>
          <a:ln>
            <a:solidFill>
              <a:srgbClr val="4F46E5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 activé</a:t>
            </a:r>
            <a:endParaRPr lang="en-US" sz="1000"/>
          </a:p>
        </p:txBody>
      </p:sp>
      <p:sp>
        <p:nvSpPr>
          <p:cNvPr id="231419431" name="Text 14"/>
          <p:cNvSpPr/>
          <p:nvPr/>
        </p:nvSpPr>
        <p:spPr bwMode="auto">
          <a:xfrm>
            <a:off x="2651760" y="4160519"/>
            <a:ext cx="1828800" cy="256032"/>
          </a:xfrm>
          <a:prstGeom prst="rect">
            <a:avLst/>
          </a:prstGeom>
          <a:solidFill>
            <a:srgbClr val="6366F1"/>
          </a:solidFill>
          <a:ln>
            <a:solidFill>
              <a:srgbClr val="6366F1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Scroll = 3 paragraphes</a:t>
            </a:r>
            <a:endParaRPr lang="en-US" sz="1000"/>
          </a:p>
        </p:txBody>
      </p:sp>
      <p:sp>
        <p:nvSpPr>
          <p:cNvPr id="219285890" name="Text 15"/>
          <p:cNvSpPr/>
          <p:nvPr/>
        </p:nvSpPr>
        <p:spPr bwMode="auto">
          <a:xfrm>
            <a:off x="4709160" y="4160519"/>
            <a:ext cx="1234440" cy="256032"/>
          </a:xfrm>
          <a:prstGeom prst="rect">
            <a:avLst/>
          </a:prstGeom>
          <a:solidFill>
            <a:srgbClr val="8B5CF6"/>
          </a:solidFill>
          <a:ln>
            <a:solidFill>
              <a:srgbClr val="8B5CF6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Vitesse = normal</a:t>
            </a:r>
            <a:endParaRPr lang="en-US" sz="1000"/>
          </a:p>
        </p:txBody>
      </p:sp>
      <p:sp>
        <p:nvSpPr>
          <p:cNvPr id="1149579940" name="Text 16"/>
          <p:cNvSpPr/>
          <p:nvPr/>
        </p:nvSpPr>
        <p:spPr bwMode="auto">
          <a:xfrm>
            <a:off x="6172200" y="4160519"/>
            <a:ext cx="182880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 = mixte</a:t>
            </a:r>
            <a:endParaRPr lang="en-US" sz="1000"/>
          </a:p>
        </p:txBody>
      </p:sp>
      <p:sp>
        <p:nvSpPr>
          <p:cNvPr id="1435988792" name="Text 17"/>
          <p:cNvSpPr/>
          <p:nvPr/>
        </p:nvSpPr>
        <p:spPr bwMode="auto">
          <a:xfrm>
            <a:off x="8229600" y="4160519"/>
            <a:ext cx="2468880" cy="256032"/>
          </a:xfrm>
          <a:prstGeom prst="rect">
            <a:avLst/>
          </a:prstGeom>
          <a:solidFill>
            <a:srgbClr val="0EA5E9"/>
          </a:solidFill>
          <a:ln>
            <a:solidFill>
              <a:srgbClr val="0EA5E9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Boutons Monter / Descendre</a:t>
            </a:r>
            <a:endParaRPr lang="en-US" sz="1000"/>
          </a:p>
        </p:txBody>
      </p:sp>
      <p:sp>
        <p:nvSpPr>
          <p:cNvPr id="343943033" name="Text 18"/>
          <p:cNvSpPr/>
          <p:nvPr/>
        </p:nvSpPr>
        <p:spPr bwMode="auto">
          <a:xfrm>
            <a:off x="1024128" y="45262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D7E0FF"/>
                </a:solidFill>
              </a:rPr>
              <a:t>Pourquoi c’est important : le tri réduit le coût de choix ; le scroll paramétrable réduit la fatigue visuelle et l’instabilité pour les utilisateurs en eye tracking ou clavier virtuel.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830881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882665056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Paramètres produit</a:t>
            </a:r>
            <a:endParaRPr lang="en-US" sz="2800"/>
          </a:p>
        </p:txBody>
      </p:sp>
      <p:sp>
        <p:nvSpPr>
          <p:cNvPr id="408258345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Les réglages clés à exposer dans l’application</a:t>
            </a:r>
            <a:endParaRPr lang="en-US" sz="1100"/>
          </a:p>
        </p:txBody>
      </p:sp>
      <p:sp>
        <p:nvSpPr>
          <p:cNvPr id="1053972054" name="Shape 3"/>
          <p:cNvSpPr/>
          <p:nvPr/>
        </p:nvSpPr>
        <p:spPr bwMode="auto">
          <a:xfrm>
            <a:off x="777240" y="1417320"/>
            <a:ext cx="2377440" cy="411480"/>
          </a:xfrm>
          <a:prstGeom prst="rect">
            <a:avLst/>
          </a:prstGeom>
          <a:solidFill>
            <a:srgbClr val="DDE6FF"/>
          </a:solidFill>
          <a:ln w="12700">
            <a:solidFill>
              <a:srgbClr val="9BAAE0"/>
            </a:solidFill>
            <a:prstDash val="solid"/>
          </a:ln>
        </p:spPr>
      </p:sp>
      <p:sp>
        <p:nvSpPr>
          <p:cNvPr id="562977164" name="Text 4"/>
          <p:cNvSpPr/>
          <p:nvPr/>
        </p:nvSpPr>
        <p:spPr bwMode="auto">
          <a:xfrm>
            <a:off x="832104" y="1490472"/>
            <a:ext cx="22677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Paramètre</a:t>
            </a:r>
            <a:endParaRPr lang="en-US" sz="1050"/>
          </a:p>
        </p:txBody>
      </p:sp>
      <p:sp>
        <p:nvSpPr>
          <p:cNvPr id="875772025" name="Shape 5"/>
          <p:cNvSpPr/>
          <p:nvPr/>
        </p:nvSpPr>
        <p:spPr bwMode="auto">
          <a:xfrm>
            <a:off x="3154680" y="1417320"/>
            <a:ext cx="4754880" cy="411480"/>
          </a:xfrm>
          <a:prstGeom prst="rect">
            <a:avLst/>
          </a:prstGeom>
          <a:solidFill>
            <a:srgbClr val="DDE6FF"/>
          </a:solidFill>
          <a:ln w="12700">
            <a:solidFill>
              <a:srgbClr val="9BAAE0"/>
            </a:solidFill>
            <a:prstDash val="solid"/>
          </a:ln>
        </p:spPr>
      </p:sp>
      <p:sp>
        <p:nvSpPr>
          <p:cNvPr id="1183016597" name="Text 6"/>
          <p:cNvSpPr/>
          <p:nvPr/>
        </p:nvSpPr>
        <p:spPr bwMode="auto">
          <a:xfrm>
            <a:off x="3209544" y="1490472"/>
            <a:ext cx="4645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Valeurs</a:t>
            </a:r>
            <a:endParaRPr lang="en-US" sz="1050"/>
          </a:p>
        </p:txBody>
      </p:sp>
      <p:sp>
        <p:nvSpPr>
          <p:cNvPr id="1479606015" name="Shape 7"/>
          <p:cNvSpPr/>
          <p:nvPr/>
        </p:nvSpPr>
        <p:spPr bwMode="auto">
          <a:xfrm>
            <a:off x="7909560" y="1417320"/>
            <a:ext cx="2011680" cy="411480"/>
          </a:xfrm>
          <a:prstGeom prst="rect">
            <a:avLst/>
          </a:prstGeom>
          <a:solidFill>
            <a:srgbClr val="DDE6FF"/>
          </a:solidFill>
          <a:ln w="12700">
            <a:solidFill>
              <a:srgbClr val="9BAAE0"/>
            </a:solidFill>
            <a:prstDash val="solid"/>
          </a:ln>
        </p:spPr>
      </p:sp>
      <p:sp>
        <p:nvSpPr>
          <p:cNvPr id="640437236" name="Text 8"/>
          <p:cNvSpPr/>
          <p:nvPr/>
        </p:nvSpPr>
        <p:spPr bwMode="auto">
          <a:xfrm>
            <a:off x="7964424" y="1490472"/>
            <a:ext cx="1901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B5C"/>
                </a:solidFill>
              </a:rPr>
              <a:t>Défaut</a:t>
            </a:r>
            <a:endParaRPr lang="en-US" sz="1050"/>
          </a:p>
        </p:txBody>
      </p:sp>
      <p:sp>
        <p:nvSpPr>
          <p:cNvPr id="254565771" name="Shape 9"/>
          <p:cNvSpPr/>
          <p:nvPr/>
        </p:nvSpPr>
        <p:spPr bwMode="auto">
          <a:xfrm>
            <a:off x="777240" y="1828800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699687295" name="Text 10"/>
          <p:cNvSpPr/>
          <p:nvPr/>
        </p:nvSpPr>
        <p:spPr bwMode="auto">
          <a:xfrm>
            <a:off x="832104" y="189280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Niveau Browser Use</a:t>
            </a:r>
            <a:endParaRPr lang="en-US" sz="1000"/>
          </a:p>
        </p:txBody>
      </p:sp>
      <p:sp>
        <p:nvSpPr>
          <p:cNvPr id="2003851170" name="Shape 11"/>
          <p:cNvSpPr/>
          <p:nvPr/>
        </p:nvSpPr>
        <p:spPr bwMode="auto">
          <a:xfrm>
            <a:off x="3154680" y="1828800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570842167" name="Text 12"/>
          <p:cNvSpPr/>
          <p:nvPr/>
        </p:nvSpPr>
        <p:spPr bwMode="auto">
          <a:xfrm>
            <a:off x="3209544" y="1892808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Désactivé / Limité / Étendu</a:t>
            </a:r>
            <a:endParaRPr lang="en-US" sz="1000"/>
          </a:p>
        </p:txBody>
      </p:sp>
      <p:sp>
        <p:nvSpPr>
          <p:cNvPr id="971429305" name="Shape 13"/>
          <p:cNvSpPr/>
          <p:nvPr/>
        </p:nvSpPr>
        <p:spPr bwMode="auto">
          <a:xfrm>
            <a:off x="7909560" y="1828800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58508926" name="Text 14"/>
          <p:cNvSpPr/>
          <p:nvPr/>
        </p:nvSpPr>
        <p:spPr bwMode="auto">
          <a:xfrm>
            <a:off x="7964424" y="189280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Limité</a:t>
            </a:r>
            <a:endParaRPr lang="en-US" sz="1000"/>
          </a:p>
        </p:txBody>
      </p:sp>
      <p:sp>
        <p:nvSpPr>
          <p:cNvPr id="612442638" name="Shape 15"/>
          <p:cNvSpPr/>
          <p:nvPr/>
        </p:nvSpPr>
        <p:spPr bwMode="auto">
          <a:xfrm>
            <a:off x="777240" y="2304288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609680291" name="Text 16"/>
          <p:cNvSpPr/>
          <p:nvPr/>
        </p:nvSpPr>
        <p:spPr bwMode="auto">
          <a:xfrm>
            <a:off x="832104" y="2368296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Moteur IA</a:t>
            </a:r>
            <a:endParaRPr lang="en-US" sz="1000"/>
          </a:p>
        </p:txBody>
      </p:sp>
      <p:sp>
        <p:nvSpPr>
          <p:cNvPr id="1056234915" name="Shape 17"/>
          <p:cNvSpPr/>
          <p:nvPr/>
        </p:nvSpPr>
        <p:spPr bwMode="auto">
          <a:xfrm>
            <a:off x="3154680" y="2304288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722896188" name="Text 18"/>
          <p:cNvSpPr/>
          <p:nvPr/>
        </p:nvSpPr>
        <p:spPr bwMode="auto">
          <a:xfrm>
            <a:off x="3209544" y="2368296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Local / Distant / Secours</a:t>
            </a:r>
            <a:endParaRPr lang="en-US" sz="1000"/>
          </a:p>
        </p:txBody>
      </p:sp>
      <p:sp>
        <p:nvSpPr>
          <p:cNvPr id="1475442312" name="Shape 19"/>
          <p:cNvSpPr/>
          <p:nvPr/>
        </p:nvSpPr>
        <p:spPr bwMode="auto">
          <a:xfrm>
            <a:off x="7909560" y="2304288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2124339305" name="Text 20"/>
          <p:cNvSpPr/>
          <p:nvPr/>
        </p:nvSpPr>
        <p:spPr bwMode="auto">
          <a:xfrm>
            <a:off x="7964424" y="236829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Distant économique</a:t>
            </a:r>
            <a:endParaRPr lang="en-US" sz="1000"/>
          </a:p>
        </p:txBody>
      </p:sp>
      <p:sp>
        <p:nvSpPr>
          <p:cNvPr id="1702499943" name="Shape 21"/>
          <p:cNvSpPr/>
          <p:nvPr/>
        </p:nvSpPr>
        <p:spPr bwMode="auto">
          <a:xfrm>
            <a:off x="777240" y="2779776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099484371" name="Text 22"/>
          <p:cNvSpPr/>
          <p:nvPr/>
        </p:nvSpPr>
        <p:spPr bwMode="auto">
          <a:xfrm>
            <a:off x="832104" y="2843784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Classification mail</a:t>
            </a:r>
            <a:endParaRPr lang="en-US" sz="1000"/>
          </a:p>
        </p:txBody>
      </p:sp>
      <p:sp>
        <p:nvSpPr>
          <p:cNvPr id="1789553254" name="Shape 23"/>
          <p:cNvSpPr/>
          <p:nvPr/>
        </p:nvSpPr>
        <p:spPr bwMode="auto">
          <a:xfrm>
            <a:off x="3154680" y="2779776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100124463" name="Text 24"/>
          <p:cNvSpPr/>
          <p:nvPr/>
        </p:nvSpPr>
        <p:spPr bwMode="auto">
          <a:xfrm>
            <a:off x="3209544" y="284378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Oui / Non</a:t>
            </a:r>
            <a:endParaRPr lang="en-US" sz="1000"/>
          </a:p>
        </p:txBody>
      </p:sp>
      <p:sp>
        <p:nvSpPr>
          <p:cNvPr id="1210011958" name="Shape 25"/>
          <p:cNvSpPr/>
          <p:nvPr/>
        </p:nvSpPr>
        <p:spPr bwMode="auto">
          <a:xfrm>
            <a:off x="7909560" y="2779776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211697783" name="Text 26"/>
          <p:cNvSpPr/>
          <p:nvPr/>
        </p:nvSpPr>
        <p:spPr bwMode="auto">
          <a:xfrm>
            <a:off x="7964424" y="284378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Oui</a:t>
            </a:r>
            <a:endParaRPr lang="en-US" sz="1000"/>
          </a:p>
        </p:txBody>
      </p:sp>
      <p:sp>
        <p:nvSpPr>
          <p:cNvPr id="589137646" name="Shape 27"/>
          <p:cNvSpPr/>
          <p:nvPr/>
        </p:nvSpPr>
        <p:spPr bwMode="auto">
          <a:xfrm>
            <a:off x="777240" y="3255264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610259386" name="Text 28"/>
          <p:cNvSpPr/>
          <p:nvPr/>
        </p:nvSpPr>
        <p:spPr bwMode="auto">
          <a:xfrm>
            <a:off x="832104" y="3319272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Quantité de scroll</a:t>
            </a:r>
            <a:endParaRPr lang="en-US" sz="1000"/>
          </a:p>
        </p:txBody>
      </p:sp>
      <p:sp>
        <p:nvSpPr>
          <p:cNvPr id="1668336559" name="Shape 29"/>
          <p:cNvSpPr/>
          <p:nvPr/>
        </p:nvSpPr>
        <p:spPr bwMode="auto">
          <a:xfrm>
            <a:off x="3154680" y="3255264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744599030" name="Text 30"/>
          <p:cNvSpPr/>
          <p:nvPr/>
        </p:nvSpPr>
        <p:spPr bwMode="auto">
          <a:xfrm>
            <a:off x="3209544" y="331927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1 écran / 3 paragraphes / 10 lignes</a:t>
            </a:r>
            <a:endParaRPr lang="en-US" sz="1000"/>
          </a:p>
        </p:txBody>
      </p:sp>
      <p:sp>
        <p:nvSpPr>
          <p:cNvPr id="2135152850" name="Shape 31"/>
          <p:cNvSpPr/>
          <p:nvPr/>
        </p:nvSpPr>
        <p:spPr bwMode="auto">
          <a:xfrm>
            <a:off x="7909560" y="3255264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334437747" name="Text 32"/>
          <p:cNvSpPr/>
          <p:nvPr/>
        </p:nvSpPr>
        <p:spPr bwMode="auto">
          <a:xfrm>
            <a:off x="7964424" y="3319272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3 paragraphes</a:t>
            </a:r>
            <a:endParaRPr lang="en-US" sz="1000"/>
          </a:p>
        </p:txBody>
      </p:sp>
      <p:sp>
        <p:nvSpPr>
          <p:cNvPr id="2033688765" name="Shape 33"/>
          <p:cNvSpPr/>
          <p:nvPr/>
        </p:nvSpPr>
        <p:spPr bwMode="auto">
          <a:xfrm>
            <a:off x="777240" y="3730752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295341503" name="Text 34"/>
          <p:cNvSpPr/>
          <p:nvPr/>
        </p:nvSpPr>
        <p:spPr bwMode="auto">
          <a:xfrm>
            <a:off x="832104" y="379476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Vitesse de scroll</a:t>
            </a:r>
            <a:endParaRPr lang="en-US" sz="1000"/>
          </a:p>
        </p:txBody>
      </p:sp>
      <p:sp>
        <p:nvSpPr>
          <p:cNvPr id="911817671" name="Shape 35"/>
          <p:cNvSpPr/>
          <p:nvPr/>
        </p:nvSpPr>
        <p:spPr bwMode="auto">
          <a:xfrm>
            <a:off x="3154680" y="3730752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970961333" name="Text 36"/>
          <p:cNvSpPr/>
          <p:nvPr/>
        </p:nvSpPr>
        <p:spPr bwMode="auto">
          <a:xfrm>
            <a:off x="3209544" y="3794760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Lent / Normal / Rapide</a:t>
            </a:r>
            <a:endParaRPr lang="en-US" sz="1000"/>
          </a:p>
        </p:txBody>
      </p:sp>
      <p:sp>
        <p:nvSpPr>
          <p:cNvPr id="1014488940" name="Shape 37"/>
          <p:cNvSpPr/>
          <p:nvPr/>
        </p:nvSpPr>
        <p:spPr bwMode="auto">
          <a:xfrm>
            <a:off x="7909560" y="3730752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069507497" name="Text 38"/>
          <p:cNvSpPr/>
          <p:nvPr/>
        </p:nvSpPr>
        <p:spPr bwMode="auto">
          <a:xfrm>
            <a:off x="7964424" y="37947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Normal</a:t>
            </a:r>
            <a:endParaRPr lang="en-US" sz="1000"/>
          </a:p>
        </p:txBody>
      </p:sp>
      <p:sp>
        <p:nvSpPr>
          <p:cNvPr id="430051357" name="Shape 39"/>
          <p:cNvSpPr/>
          <p:nvPr/>
        </p:nvSpPr>
        <p:spPr bwMode="auto">
          <a:xfrm>
            <a:off x="777240" y="4206240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902616535" name="Text 40"/>
          <p:cNvSpPr/>
          <p:nvPr/>
        </p:nvSpPr>
        <p:spPr bwMode="auto">
          <a:xfrm>
            <a:off x="832104" y="4270248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Mode envoi</a:t>
            </a:r>
            <a:endParaRPr lang="en-US" sz="1000"/>
          </a:p>
        </p:txBody>
      </p:sp>
      <p:sp>
        <p:nvSpPr>
          <p:cNvPr id="108762070" name="Shape 41"/>
          <p:cNvSpPr/>
          <p:nvPr/>
        </p:nvSpPr>
        <p:spPr bwMode="auto">
          <a:xfrm>
            <a:off x="3154680" y="4206240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50524759" name="Text 42"/>
          <p:cNvSpPr/>
          <p:nvPr/>
        </p:nvSpPr>
        <p:spPr bwMode="auto">
          <a:xfrm>
            <a:off x="3209544" y="4270248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Simulation / Validation simple / Double validation</a:t>
            </a:r>
            <a:endParaRPr lang="en-US" sz="1000"/>
          </a:p>
        </p:txBody>
      </p:sp>
      <p:sp>
        <p:nvSpPr>
          <p:cNvPr id="1739035743" name="Shape 43"/>
          <p:cNvSpPr/>
          <p:nvPr/>
        </p:nvSpPr>
        <p:spPr bwMode="auto">
          <a:xfrm>
            <a:off x="7909560" y="4206240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357200909" name="Text 44"/>
          <p:cNvSpPr/>
          <p:nvPr/>
        </p:nvSpPr>
        <p:spPr bwMode="auto">
          <a:xfrm>
            <a:off x="7964424" y="4270248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Simulation</a:t>
            </a:r>
            <a:endParaRPr lang="en-US" sz="1000"/>
          </a:p>
        </p:txBody>
      </p:sp>
      <p:sp>
        <p:nvSpPr>
          <p:cNvPr id="6511677" name="Shape 45"/>
          <p:cNvSpPr/>
          <p:nvPr/>
        </p:nvSpPr>
        <p:spPr bwMode="auto">
          <a:xfrm>
            <a:off x="777240" y="4681728"/>
            <a:ext cx="237744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799708931" name="Text 46"/>
          <p:cNvSpPr/>
          <p:nvPr/>
        </p:nvSpPr>
        <p:spPr bwMode="auto">
          <a:xfrm>
            <a:off x="832104" y="4745736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Taille boutons</a:t>
            </a:r>
            <a:endParaRPr lang="en-US" sz="1000"/>
          </a:p>
        </p:txBody>
      </p:sp>
      <p:sp>
        <p:nvSpPr>
          <p:cNvPr id="1108521920" name="Shape 47"/>
          <p:cNvSpPr/>
          <p:nvPr/>
        </p:nvSpPr>
        <p:spPr bwMode="auto">
          <a:xfrm>
            <a:off x="3154680" y="4681728"/>
            <a:ext cx="47548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8460606" name="Text 48"/>
          <p:cNvSpPr/>
          <p:nvPr/>
        </p:nvSpPr>
        <p:spPr bwMode="auto">
          <a:xfrm>
            <a:off x="3209544" y="4745736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Compacte / Standard / Grande / Très grande</a:t>
            </a:r>
            <a:endParaRPr lang="en-US" sz="1000"/>
          </a:p>
        </p:txBody>
      </p:sp>
      <p:sp>
        <p:nvSpPr>
          <p:cNvPr id="252844" name="Shape 49"/>
          <p:cNvSpPr/>
          <p:nvPr/>
        </p:nvSpPr>
        <p:spPr bwMode="auto">
          <a:xfrm>
            <a:off x="7909560" y="4681728"/>
            <a:ext cx="2011680" cy="475488"/>
          </a:xfrm>
          <a:prstGeom prst="rect">
            <a:avLst/>
          </a:prstGeom>
          <a:solidFill>
            <a:srgbClr val="0F1730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170917219" name="Text 50"/>
          <p:cNvSpPr/>
          <p:nvPr/>
        </p:nvSpPr>
        <p:spPr bwMode="auto">
          <a:xfrm>
            <a:off x="7964424" y="4745736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Grande</a:t>
            </a:r>
            <a:endParaRPr lang="en-US" sz="1000"/>
          </a:p>
        </p:txBody>
      </p:sp>
      <p:sp>
        <p:nvSpPr>
          <p:cNvPr id="1610475053" name="Shape 51"/>
          <p:cNvSpPr/>
          <p:nvPr/>
        </p:nvSpPr>
        <p:spPr bwMode="auto">
          <a:xfrm>
            <a:off x="777240" y="5157216"/>
            <a:ext cx="237744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803400806" name="Text 52"/>
          <p:cNvSpPr/>
          <p:nvPr/>
        </p:nvSpPr>
        <p:spPr bwMode="auto">
          <a:xfrm>
            <a:off x="832104" y="5221224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Police</a:t>
            </a:r>
            <a:endParaRPr lang="en-US" sz="1000"/>
          </a:p>
        </p:txBody>
      </p:sp>
      <p:sp>
        <p:nvSpPr>
          <p:cNvPr id="1246868113" name="Shape 53"/>
          <p:cNvSpPr/>
          <p:nvPr/>
        </p:nvSpPr>
        <p:spPr bwMode="auto">
          <a:xfrm>
            <a:off x="3154680" y="5157216"/>
            <a:ext cx="47548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6986072" name="Text 54"/>
          <p:cNvSpPr/>
          <p:nvPr/>
        </p:nvSpPr>
        <p:spPr bwMode="auto">
          <a:xfrm>
            <a:off x="3209544" y="5221224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Inter / Atkinson / autre</a:t>
            </a:r>
            <a:endParaRPr lang="en-US" sz="1000"/>
          </a:p>
        </p:txBody>
      </p:sp>
      <p:sp>
        <p:nvSpPr>
          <p:cNvPr id="73805936" name="Shape 55"/>
          <p:cNvSpPr/>
          <p:nvPr/>
        </p:nvSpPr>
        <p:spPr bwMode="auto">
          <a:xfrm>
            <a:off x="7909560" y="5157216"/>
            <a:ext cx="2011680" cy="475488"/>
          </a:xfrm>
          <a:prstGeom prst="rect">
            <a:avLst/>
          </a:prstGeom>
          <a:solidFill>
            <a:srgbClr val="111938"/>
          </a:solidFill>
          <a:ln w="12700">
            <a:solidFill>
              <a:srgbClr val="6E7CB8">
                <a:alpha val="35000"/>
              </a:srgbClr>
            </a:solidFill>
            <a:prstDash val="solid"/>
          </a:ln>
        </p:spPr>
      </p:sp>
      <p:sp>
        <p:nvSpPr>
          <p:cNvPr id="1900613776" name="Text 56"/>
          <p:cNvSpPr/>
          <p:nvPr/>
        </p:nvSpPr>
        <p:spPr bwMode="auto">
          <a:xfrm>
            <a:off x="7964424" y="5221224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F0FF"/>
                </a:solidFill>
              </a:rPr>
              <a:t>Inter</a:t>
            </a:r>
            <a:endParaRPr lang="en-US" sz="1000"/>
          </a:p>
        </p:txBody>
      </p:sp>
      <p:sp>
        <p:nvSpPr>
          <p:cNvPr id="615217705" name="Shape 57"/>
          <p:cNvSpPr/>
          <p:nvPr/>
        </p:nvSpPr>
        <p:spPr bwMode="auto">
          <a:xfrm>
            <a:off x="10012680" y="1417320"/>
            <a:ext cx="1508759" cy="3566160"/>
          </a:xfrm>
          <a:prstGeom prst="roundRect">
            <a:avLst>
              <a:gd name="adj" fmla="val 727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99553719" name="Shape 58"/>
          <p:cNvSpPr/>
          <p:nvPr/>
        </p:nvSpPr>
        <p:spPr bwMode="auto">
          <a:xfrm>
            <a:off x="10012680" y="1417320"/>
            <a:ext cx="54864" cy="3566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6167131" name="Text 59"/>
          <p:cNvSpPr/>
          <p:nvPr/>
        </p:nvSpPr>
        <p:spPr bwMode="auto">
          <a:xfrm>
            <a:off x="10177272" y="15270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Principe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775875326" name="Text 60"/>
          <p:cNvSpPr/>
          <p:nvPr/>
        </p:nvSpPr>
        <p:spPr bwMode="auto">
          <a:xfrm>
            <a:off x="10177272" y="1801367"/>
            <a:ext cx="1252728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Tout ce qui influence le confort, la vitesse ou le budget doit être pilotable : LLM, Browser Use, scroll, validation et densité visuelle.</a:t>
            </a:r>
            <a:endParaRPr sz="140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23978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954258201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Lecture technique et commerciale</a:t>
            </a:r>
            <a:endParaRPr lang="en-US" sz="2800"/>
          </a:p>
        </p:txBody>
      </p:sp>
      <p:sp>
        <p:nvSpPr>
          <p:cNvPr id="1594136357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Pourquoi le projet est maintenant suffisamment cadré pour une V1</a:t>
            </a:r>
            <a:endParaRPr lang="en-US" sz="1100"/>
          </a:p>
        </p:txBody>
      </p:sp>
      <p:sp>
        <p:nvSpPr>
          <p:cNvPr id="453012382" name="Shape 3"/>
          <p:cNvSpPr/>
          <p:nvPr/>
        </p:nvSpPr>
        <p:spPr bwMode="auto">
          <a:xfrm>
            <a:off x="640080" y="13258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19079979" name="Shape 4"/>
          <p:cNvSpPr/>
          <p:nvPr/>
        </p:nvSpPr>
        <p:spPr bwMode="auto">
          <a:xfrm>
            <a:off x="640080" y="1325880"/>
            <a:ext cx="54864" cy="1737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216951628" name="Text 5"/>
          <p:cNvSpPr/>
          <p:nvPr/>
        </p:nvSpPr>
        <p:spPr bwMode="auto">
          <a:xfrm>
            <a:off x="804672" y="14356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Technique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887953739" name="Text 6"/>
          <p:cNvSpPr/>
          <p:nvPr/>
        </p:nvSpPr>
        <p:spPr bwMode="auto">
          <a:xfrm>
            <a:off x="804672" y="1709928"/>
            <a:ext cx="3310127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Architecture modulaire, paramètres complets, workflow séquentiel, Browser Use débrayable, LLM sélectionnable local ou distant.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563212998" name="Shape 7"/>
          <p:cNvSpPr/>
          <p:nvPr/>
        </p:nvSpPr>
        <p:spPr bwMode="auto">
          <a:xfrm>
            <a:off x="4343400" y="132588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47557047" name="Shape 8"/>
          <p:cNvSpPr/>
          <p:nvPr/>
        </p:nvSpPr>
        <p:spPr bwMode="auto">
          <a:xfrm>
            <a:off x="4343400" y="1325880"/>
            <a:ext cx="54864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46544636" name="Text 9"/>
          <p:cNvSpPr/>
          <p:nvPr/>
        </p:nvSpPr>
        <p:spPr bwMode="auto">
          <a:xfrm>
            <a:off x="4507992" y="14356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Produit</a:t>
            </a:r>
            <a:endParaRPr lang="en-US" sz="1400"/>
          </a:p>
        </p:txBody>
      </p:sp>
      <p:sp>
        <p:nvSpPr>
          <p:cNvPr id="1345782241" name="Text 10"/>
          <p:cNvSpPr/>
          <p:nvPr/>
        </p:nvSpPr>
        <p:spPr bwMode="auto">
          <a:xfrm>
            <a:off x="4507992" y="1709928"/>
            <a:ext cx="3310127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Valeur claire : autonomie accrue, fatigue réduite, validation finale conservée, expérience stable et moderne.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77382340" name="Shape 11"/>
          <p:cNvSpPr/>
          <p:nvPr/>
        </p:nvSpPr>
        <p:spPr bwMode="auto">
          <a:xfrm>
            <a:off x="8046720" y="13258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76249629" name="Shape 12"/>
          <p:cNvSpPr/>
          <p:nvPr/>
        </p:nvSpPr>
        <p:spPr bwMode="auto">
          <a:xfrm>
            <a:off x="8046720" y="1325880"/>
            <a:ext cx="54864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01365280" name="Text 13"/>
          <p:cNvSpPr/>
          <p:nvPr/>
        </p:nvSpPr>
        <p:spPr bwMode="auto">
          <a:xfrm>
            <a:off x="8211312" y="14356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Commercial</a:t>
            </a:r>
            <a:endParaRPr lang="en-US" sz="1400"/>
          </a:p>
        </p:txBody>
      </p:sp>
      <p:sp>
        <p:nvSpPr>
          <p:cNvPr id="1146086575" name="Text 14"/>
          <p:cNvSpPr/>
          <p:nvPr/>
        </p:nvSpPr>
        <p:spPr bwMode="auto">
          <a:xfrm>
            <a:off x="8211312" y="1709928"/>
            <a:ext cx="321868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t>Offres modulables selon options activées : moteur IA choisi, niveau Browser Use, règles métier, création de mails, quotas et statistiques.</a:t>
            </a:r>
          </a:p>
        </p:txBody>
      </p:sp>
      <p:sp>
        <p:nvSpPr>
          <p:cNvPr id="219383174" name="Shape 15"/>
          <p:cNvSpPr/>
          <p:nvPr/>
        </p:nvSpPr>
        <p:spPr bwMode="auto">
          <a:xfrm>
            <a:off x="914400" y="370332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111938"/>
          </a:solidFill>
          <a:ln w="12700">
            <a:solidFill>
              <a:srgbClr val="7C8ACB">
                <a:alpha val="35000"/>
              </a:srgbClr>
            </a:solidFill>
            <a:prstDash val="solid"/>
          </a:ln>
        </p:spPr>
      </p:sp>
      <p:sp>
        <p:nvSpPr>
          <p:cNvPr id="1951652279" name="Text 16"/>
          <p:cNvSpPr/>
          <p:nvPr/>
        </p:nvSpPr>
        <p:spPr bwMode="auto">
          <a:xfrm>
            <a:off x="1188720" y="4069080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Décision recommandée : lancer une V1 modulaire, avec options activables par client et positionnement progressif Essentiel / Assisté / Avancé.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92043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470976285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Roadmap recommandée</a:t>
            </a:r>
            <a:endParaRPr lang="en-US" sz="2800"/>
          </a:p>
        </p:txBody>
      </p:sp>
      <p:sp>
        <p:nvSpPr>
          <p:cNvPr id="109707308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9C4EF"/>
                </a:solidFill>
                <a:latin typeface="Aptos"/>
                <a:ea typeface="Aptos"/>
                <a:cs typeface="Aptos"/>
              </a:rPr>
              <a:t>Construire vite, sécuriser tôt, enrichir ensuite</a:t>
            </a:r>
            <a:endParaRPr lang="en-US" sz="1100"/>
          </a:p>
        </p:txBody>
      </p:sp>
      <p:sp>
        <p:nvSpPr>
          <p:cNvPr id="2146895665" name="Shape 3"/>
          <p:cNvSpPr/>
          <p:nvPr/>
        </p:nvSpPr>
        <p:spPr bwMode="auto">
          <a:xfrm>
            <a:off x="914400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18023359" name="Shape 4"/>
          <p:cNvSpPr/>
          <p:nvPr/>
        </p:nvSpPr>
        <p:spPr bwMode="auto">
          <a:xfrm>
            <a:off x="914400" y="1828800"/>
            <a:ext cx="54864" cy="2011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879417491" name="Text 5"/>
          <p:cNvSpPr/>
          <p:nvPr/>
        </p:nvSpPr>
        <p:spPr bwMode="auto">
          <a:xfrm>
            <a:off x="1078992" y="19385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V1</a:t>
            </a:r>
            <a:endParaRPr lang="en-US" sz="1400"/>
          </a:p>
        </p:txBody>
      </p:sp>
      <p:sp>
        <p:nvSpPr>
          <p:cNvPr id="410821363" name="Text 6"/>
          <p:cNvSpPr/>
          <p:nvPr/>
        </p:nvSpPr>
        <p:spPr bwMode="auto">
          <a:xfrm>
            <a:off x="1078992" y="2212848"/>
            <a:ext cx="29900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Simulation d’envoi, Browser Use limité, classement, scroll paramétrable, journal.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393964203" name="Shape 7"/>
          <p:cNvSpPr/>
          <p:nvPr/>
        </p:nvSpPr>
        <p:spPr bwMode="auto">
          <a:xfrm>
            <a:off x="4617720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87672199" name="Shape 8"/>
          <p:cNvSpPr/>
          <p:nvPr/>
        </p:nvSpPr>
        <p:spPr bwMode="auto">
          <a:xfrm>
            <a:off x="4617720" y="1828800"/>
            <a:ext cx="54864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66933785" name="Text 9"/>
          <p:cNvSpPr/>
          <p:nvPr/>
        </p:nvSpPr>
        <p:spPr bwMode="auto">
          <a:xfrm>
            <a:off x="4782312" y="19385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V1.5</a:t>
            </a:r>
            <a:endParaRPr lang="en-US" sz="1400"/>
          </a:p>
        </p:txBody>
      </p:sp>
      <p:sp>
        <p:nvSpPr>
          <p:cNvPr id="1371341294" name="Text 10"/>
          <p:cNvSpPr/>
          <p:nvPr/>
        </p:nvSpPr>
        <p:spPr bwMode="auto">
          <a:xfrm>
            <a:off x="4782312" y="2212848"/>
            <a:ext cx="29900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Pièces jointes output automatiques, profils utilisateurs, métriques de confiance.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30072954" name="Shape 11"/>
          <p:cNvSpPr/>
          <p:nvPr/>
        </p:nvSpPr>
        <p:spPr bwMode="auto">
          <a:xfrm>
            <a:off x="8321039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7C8ACB">
                <a:alpha val="35000"/>
              </a:srgbClr>
            </a:solidFill>
            <a:prstDash val="solid"/>
          </a:ln>
          <a:effectLst>
            <a:outerShdw blurRad="19050" dist="15240" dir="27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46233313" name="Shape 12"/>
          <p:cNvSpPr/>
          <p:nvPr/>
        </p:nvSpPr>
        <p:spPr bwMode="auto">
          <a:xfrm>
            <a:off x="8321039" y="1828800"/>
            <a:ext cx="54864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10483924" name="Text 13"/>
          <p:cNvSpPr/>
          <p:nvPr/>
        </p:nvSpPr>
        <p:spPr bwMode="auto">
          <a:xfrm>
            <a:off x="8485632" y="1938528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70C0"/>
                </a:solidFill>
                <a:latin typeface="Aptos"/>
                <a:ea typeface="Aptos"/>
                <a:cs typeface="Aptos"/>
              </a:rPr>
              <a:t>V2</a:t>
            </a:r>
            <a:endParaRPr lang="en-US" sz="1400"/>
          </a:p>
        </p:txBody>
      </p:sp>
      <p:sp>
        <p:nvSpPr>
          <p:cNvPr id="1898880452" name="Text 14"/>
          <p:cNvSpPr/>
          <p:nvPr/>
        </p:nvSpPr>
        <p:spPr bwMode="auto">
          <a:xfrm>
            <a:off x="8485632" y="2212848"/>
            <a:ext cx="2990088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0070C0"/>
                </a:solidFill>
                <a:latin typeface="Aptos"/>
                <a:ea typeface="Aptos"/>
                <a:cs typeface="Aptos"/>
              </a:rPr>
              <a:t>Routage intelligent multi-LLM, offres association, tableaux de bord usage et qualité.</a:t>
            </a:r>
            <a:endParaRPr sz="1400">
              <a:solidFill>
                <a:srgbClr val="0070C0"/>
              </a:solidFill>
            </a:endParaRPr>
          </a:p>
        </p:txBody>
      </p:sp>
      <p:sp>
        <p:nvSpPr>
          <p:cNvPr id="1883934123" name="Text 15"/>
          <p:cNvSpPr/>
          <p:nvPr/>
        </p:nvSpPr>
        <p:spPr bwMode="auto">
          <a:xfrm>
            <a:off x="1097280" y="4709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E7EDFF"/>
                </a:solidFill>
              </a:rPr>
              <a:t>Critère de succès V1 : une personne handicapée traite un lot de mails avec moins d’actions, moins de fatigue et une validation finale toujours maîtrisée.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B10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646211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3B2BA3"/>
          </a:solidFill>
          <a:ln w="12700">
            <a:solidFill>
              <a:srgbClr val="3B2BA3">
                <a:alpha val="0"/>
              </a:srgbClr>
            </a:solidFill>
            <a:prstDash val="solid"/>
          </a:ln>
        </p:spPr>
      </p:sp>
      <p:sp>
        <p:nvSpPr>
          <p:cNvPr id="1971936311" name="Text 1"/>
          <p:cNvSpPr/>
          <p:nvPr/>
        </p:nvSpPr>
        <p:spPr bwMode="auto">
          <a:xfrm>
            <a:off x="50292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6F8FF"/>
                </a:solidFill>
                <a:latin typeface="Aptos Display"/>
                <a:ea typeface="Aptos Display"/>
                <a:cs typeface="Aptos Display"/>
              </a:rPr>
              <a:t>Conclusion</a:t>
            </a:r>
            <a:endParaRPr lang="en-US" sz="2800"/>
          </a:p>
        </p:txBody>
      </p:sp>
      <p:sp>
        <p:nvSpPr>
          <p:cNvPr id="1417238690" name="Text 2"/>
          <p:cNvSpPr/>
          <p:nvPr/>
        </p:nvSpPr>
        <p:spPr bwMode="auto">
          <a:xfrm>
            <a:off x="530352" y="89611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B9C4EF"/>
                </a:solidFill>
                <a:latin typeface="Aptos"/>
                <a:ea typeface="Aptos"/>
                <a:cs typeface="Aptos"/>
              </a:rPr>
              <a:t>Un produit cohérent, modulaire et défendable</a:t>
            </a:r>
            <a:endParaRPr lang="en-US" sz="1100"/>
          </a:p>
        </p:txBody>
      </p:sp>
      <p:sp>
        <p:nvSpPr>
          <p:cNvPr id="1645075199" name="Text 3"/>
          <p:cNvSpPr/>
          <p:nvPr/>
        </p:nvSpPr>
        <p:spPr bwMode="auto">
          <a:xfrm>
            <a:off x="822960" y="14630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</a:rPr>
              <a:t>Le projet est prêt à entrer en phase de maquette détaillée puis de MVP.</a:t>
            </a:r>
            <a:endParaRPr lang="en-US" sz="1900"/>
          </a:p>
        </p:txBody>
      </p:sp>
      <p:sp>
        <p:nvSpPr>
          <p:cNvPr id="1006314043" name="Text 4"/>
          <p:cNvSpPr/>
          <p:nvPr/>
        </p:nvSpPr>
        <p:spPr bwMode="auto">
          <a:xfrm>
            <a:off x="914400" y="2057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1737291602" name="Text 5"/>
          <p:cNvSpPr/>
          <p:nvPr/>
        </p:nvSpPr>
        <p:spPr bwMode="auto">
          <a:xfrm>
            <a:off x="1143000" y="206654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Valeur d’usage tangible pour l’accessibilité</a:t>
            </a:r>
            <a:endParaRPr lang="en-US" sz="1400"/>
          </a:p>
        </p:txBody>
      </p:sp>
      <p:sp>
        <p:nvSpPr>
          <p:cNvPr id="1665238066" name="Text 6"/>
          <p:cNvSpPr/>
          <p:nvPr/>
        </p:nvSpPr>
        <p:spPr bwMode="auto">
          <a:xfrm>
            <a:off x="914400" y="2560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587778241" name="Text 7"/>
          <p:cNvSpPr/>
          <p:nvPr/>
        </p:nvSpPr>
        <p:spPr bwMode="auto">
          <a:xfrm>
            <a:off x="1143000" y="256946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Découplage propre entre UI, IA et Browser Use</a:t>
            </a:r>
            <a:endParaRPr lang="en-US" sz="1400"/>
          </a:p>
        </p:txBody>
      </p:sp>
      <p:sp>
        <p:nvSpPr>
          <p:cNvPr id="773489814" name="Text 8"/>
          <p:cNvSpPr/>
          <p:nvPr/>
        </p:nvSpPr>
        <p:spPr bwMode="auto">
          <a:xfrm>
            <a:off x="914400" y="3063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920531645" name="Text 9"/>
          <p:cNvSpPr/>
          <p:nvPr/>
        </p:nvSpPr>
        <p:spPr bwMode="auto">
          <a:xfrm>
            <a:off x="1143000" y="3072384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Réglages complets : scroll, classification, moteur IA, niveau d’automatisation</a:t>
            </a:r>
            <a:endParaRPr lang="en-US" sz="1400"/>
          </a:p>
        </p:txBody>
      </p:sp>
      <p:sp>
        <p:nvSpPr>
          <p:cNvPr id="817102586" name="Text 10"/>
          <p:cNvSpPr/>
          <p:nvPr/>
        </p:nvSpPr>
        <p:spPr bwMode="auto">
          <a:xfrm>
            <a:off x="914400" y="3566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B5CF6"/>
                </a:solidFill>
              </a:rPr>
              <a:t>•</a:t>
            </a:r>
            <a:endParaRPr lang="en-US" sz="2000"/>
          </a:p>
        </p:txBody>
      </p:sp>
      <p:sp>
        <p:nvSpPr>
          <p:cNvPr id="425312281" name="Text 11"/>
          <p:cNvSpPr/>
          <p:nvPr/>
        </p:nvSpPr>
        <p:spPr bwMode="auto">
          <a:xfrm>
            <a:off x="1143000" y="3575303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5ECFF"/>
                </a:solidFill>
              </a:rPr>
              <a:t>Base claire pour un dossier association, financeur ou investisseur</a:t>
            </a:r>
            <a:endParaRPr lang="en-US" sz="1400"/>
          </a:p>
        </p:txBody>
      </p:sp>
      <p:sp>
        <p:nvSpPr>
          <p:cNvPr id="2056344088" name="Shape 12"/>
          <p:cNvSpPr/>
          <p:nvPr/>
        </p:nvSpPr>
        <p:spPr bwMode="auto">
          <a:xfrm>
            <a:off x="8641080" y="1783080"/>
            <a:ext cx="2468880" cy="2331720"/>
          </a:xfrm>
          <a:prstGeom prst="roundRect">
            <a:avLst>
              <a:gd name="adj" fmla="val 3922"/>
            </a:avLst>
          </a:prstGeom>
          <a:solidFill>
            <a:srgbClr val="111938"/>
          </a:solidFill>
          <a:ln w="12700">
            <a:solidFill>
              <a:srgbClr val="7B89C6">
                <a:alpha val="35000"/>
              </a:srgbClr>
            </a:solidFill>
            <a:prstDash val="solid"/>
          </a:ln>
        </p:spPr>
      </p:sp>
      <p:sp>
        <p:nvSpPr>
          <p:cNvPr id="1529052718" name="Text 13"/>
          <p:cNvSpPr/>
          <p:nvPr/>
        </p:nvSpPr>
        <p:spPr bwMode="auto">
          <a:xfrm>
            <a:off x="8805672" y="20116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</a:rPr>
              <a:t>Prochaine étape</a:t>
            </a:r>
            <a:endParaRPr lang="en-US" sz="1600"/>
          </a:p>
        </p:txBody>
      </p:sp>
      <p:sp>
        <p:nvSpPr>
          <p:cNvPr id="79713765" name="Text 14"/>
          <p:cNvSpPr/>
          <p:nvPr/>
        </p:nvSpPr>
        <p:spPr bwMode="auto">
          <a:xfrm>
            <a:off x="8796528" y="2514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1. Maquette haute fidélité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2. Prototype Browser Use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3. Tests utilisateurs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D7E0FF"/>
                </a:solidFill>
              </a:rPr>
              <a:t>4. MVP association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1163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06311" name="Rectangle 1"/>
          <p:cNvSpPr/>
          <p:nvPr/>
        </p:nvSpPr>
        <p:spPr bwMode="auto">
          <a:xfrm>
            <a:off x="457200" y="411480"/>
            <a:ext cx="146304" cy="5943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825408" name="TextBox 2"/>
          <p:cNvSpPr txBox="1"/>
          <p:nvPr/>
        </p:nvSpPr>
        <p:spPr bwMode="auto">
          <a:xfrm>
            <a:off x="82296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2600" b="1">
                <a:solidFill>
                  <a:srgbClr val="F0F3FF"/>
                </a:solidFill>
              </a:rPr>
              <a:t>Compléments de périmètre</a:t>
            </a:r>
            <a:endParaRPr/>
          </a:p>
        </p:txBody>
      </p:sp>
      <p:sp>
        <p:nvSpPr>
          <p:cNvPr id="1980210862" name="Rectangle 3"/>
          <p:cNvSpPr/>
          <p:nvPr/>
        </p:nvSpPr>
        <p:spPr bwMode="auto">
          <a:xfrm>
            <a:off x="868680" y="1234440"/>
            <a:ext cx="10515600" cy="1325880"/>
          </a:xfrm>
          <a:prstGeom prst="rect">
            <a:avLst/>
          </a:prstGeom>
          <a:solidFill>
            <a:srgbClr val="1C224A"/>
          </a:solidFill>
          <a:ln>
            <a:solidFill>
              <a:srgbClr val="42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2721591" name="TextBox 4"/>
          <p:cNvSpPr txBox="1"/>
          <p:nvPr/>
        </p:nvSpPr>
        <p:spPr bwMode="auto">
          <a:xfrm flipH="0" flipV="0">
            <a:off x="1097279" y="1380744"/>
            <a:ext cx="10694720" cy="79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9BB7FF"/>
                </a:solidFill>
              </a:rPr>
              <a:t>Création de mails</a:t>
            </a:r>
            <a:endParaRPr/>
          </a:p>
          <a:p>
            <a:pPr>
              <a:defRPr sz="1400">
                <a:solidFill>
                  <a:srgbClr val="E5E9F6"/>
                </a:solidFill>
              </a:defRPr>
            </a:pPr>
            <a:r>
              <a:rPr/>
              <a:t>La même application pourra créer de nouveaux e-mails suivant le même principe : proposition IA, édition manuelle, ajout de liens / pièces jointes, puis exécution optionnelle des actions navigateur.</a:t>
            </a:r>
            <a:endParaRPr/>
          </a:p>
        </p:txBody>
      </p:sp>
      <p:sp>
        <p:nvSpPr>
          <p:cNvPr id="1784215267" name="Rectangle 5"/>
          <p:cNvSpPr/>
          <p:nvPr/>
        </p:nvSpPr>
        <p:spPr bwMode="auto">
          <a:xfrm>
            <a:off x="868680" y="2788920"/>
            <a:ext cx="10515600" cy="1325880"/>
          </a:xfrm>
          <a:prstGeom prst="rect">
            <a:avLst/>
          </a:prstGeom>
          <a:solidFill>
            <a:srgbClr val="1C224A"/>
          </a:solidFill>
          <a:ln>
            <a:solidFill>
              <a:srgbClr val="42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2971488" name="TextBox 6"/>
          <p:cNvSpPr txBox="1"/>
          <p:nvPr/>
        </p:nvSpPr>
        <p:spPr bwMode="auto">
          <a:xfrm flipH="0" flipV="0">
            <a:off x="1097279" y="2948939"/>
            <a:ext cx="10508866" cy="79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9BB7FF"/>
                </a:solidFill>
              </a:rPr>
              <a:t>Statistiques futures</a:t>
            </a:r>
            <a:endParaRPr/>
          </a:p>
          <a:p>
            <a:pPr>
              <a:defRPr sz="1400">
                <a:solidFill>
                  <a:srgbClr val="E5E9F6"/>
                </a:solidFill>
              </a:defRPr>
            </a:pPr>
            <a:r>
              <a:rPr/>
              <a:t>Un module statistiques sera ajouté plus tard, surtout pertinent pour les entreprises et services client : volumes, temps moyens, </a:t>
            </a:r>
            <a:endParaRPr/>
          </a:p>
          <a:p>
            <a:pPr>
              <a:defRPr sz="1400">
                <a:solidFill>
                  <a:srgbClr val="E5E9F6"/>
                </a:solidFill>
              </a:defRPr>
            </a:pPr>
            <a:r>
              <a:rPr/>
              <a:t>classes d’importance, taux de validation, rejets, usage de Browser Use.</a:t>
            </a:r>
            <a:endParaRPr/>
          </a:p>
        </p:txBody>
      </p:sp>
      <p:sp>
        <p:nvSpPr>
          <p:cNvPr id="1410225648" name="Rectangle 7"/>
          <p:cNvSpPr/>
          <p:nvPr/>
        </p:nvSpPr>
        <p:spPr bwMode="auto">
          <a:xfrm>
            <a:off x="868680" y="4343400"/>
            <a:ext cx="10515600" cy="1325880"/>
          </a:xfrm>
          <a:prstGeom prst="rect">
            <a:avLst/>
          </a:prstGeom>
          <a:solidFill>
            <a:srgbClr val="1C224A"/>
          </a:solidFill>
          <a:ln>
            <a:solidFill>
              <a:srgbClr val="42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792454" name="TextBox 8"/>
          <p:cNvSpPr txBox="1"/>
          <p:nvPr/>
        </p:nvSpPr>
        <p:spPr bwMode="auto">
          <a:xfrm>
            <a:off x="1097280" y="4489704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9BB7FF"/>
                </a:solidFill>
              </a:rPr>
              <a:t>Choix des modèles</a:t>
            </a:r>
            <a:endParaRPr/>
          </a:p>
          <a:p>
            <a:pPr>
              <a:defRPr sz="1400">
                <a:solidFill>
                  <a:srgbClr val="E5E9F6"/>
                </a:solidFill>
              </a:defRPr>
            </a:pPr>
            <a:r>
              <a:rPr/>
              <a:t>L’UI présentera une liste de modèles sélectionnables, locaux et distants, indépendamment de Browser Use.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 Display"/>
              </a:rPr>
              <a:t>Modalités de développement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9C4EF"/>
                </a:solidFill>
                <a:latin typeface="Aptos"/>
              </a:rPr>
              <a:t>Outillage, maintenance IA, sécurité, confidentialité et standards techniques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657600" cy="182880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63624"/>
            <a:ext cx="109728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Développement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33284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Frontend : application web responsive orientée accessibilité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Backend : orchestrateur modulaire + journalisation + règles métier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Outils : Git, CI/CD, tickets, documentation, tests end-to-end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Outputs standardisés entre modules : JSON strict versionné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657600" cy="182880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563624"/>
            <a:ext cx="1097280" cy="256032"/>
          </a:xfrm>
          <a:prstGeom prst="roundRect">
            <a:avLst/>
          </a:prstGeom>
          <a:solidFill>
            <a:srgbClr val="5C4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087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Maintenance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20240"/>
            <a:ext cx="33284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Analyse des logs et incidents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Génération de tests et aide au debug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Mise à jour des prompts et règles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Supervision des régressions par scénario métier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20440" cy="182880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563624"/>
            <a:ext cx="1097280" cy="256032"/>
          </a:xfrm>
          <a:prstGeom prst="roundRect">
            <a:avLst/>
          </a:prstGeom>
          <a:solidFill>
            <a:srgbClr val="189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5087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Hébergement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920240"/>
            <a:ext cx="319125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Local client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Prestataire / cloud dédié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Mutualisé ou hybride selon confidentialité et budget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5577840" cy="196596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666744"/>
            <a:ext cx="1097280" cy="256032"/>
          </a:xfrm>
          <a:prstGeom prst="round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11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Sécurité &amp; confidentialité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23360"/>
            <a:ext cx="524865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Chiffrement en transit et au repos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Gestion des rôles et cloisonnement par organisation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Rotation des clés API et audit des actions sensibles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Browser Use débrayable, simulation d’envoi et validation explicite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520440"/>
            <a:ext cx="5303520" cy="196596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3666744"/>
            <a:ext cx="109728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6118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Protections minimales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023360"/>
            <a:ext cx="4974336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Authentification forte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Quotas d’usage et plafonds Browser Use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Journaux exploitables et supervision des coûts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Désactivation distante et gestion multi-clients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2CE"/>
                </a:solidFill>
                <a:latin typeface="Aptos"/>
              </a:rPr>
              <a:t>Présentation mise à jour – exploitation, sécurité et industrialisation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 Display"/>
              </a:rPr>
              <a:t>Plan de réalisation modulaire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9C4EF"/>
                </a:solidFill>
                <a:latin typeface="Aptos"/>
              </a:rPr>
              <a:t>Construire vite, tester tôt, industrialiser progressivement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1463040" cy="233172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92224"/>
            <a:ext cx="109728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7373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0. Cadrage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148840"/>
            <a:ext cx="1133856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Périmètre, profils, règles, backlog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645920"/>
            <a:ext cx="1463040" cy="233172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1792224"/>
            <a:ext cx="1097280" cy="256032"/>
          </a:xfrm>
          <a:prstGeom prst="roundRect">
            <a:avLst/>
          </a:prstGeom>
          <a:solidFill>
            <a:srgbClr val="5C4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7373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1.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2148840"/>
            <a:ext cx="1133856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Maquettes, écran principal, accessibilité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645920"/>
            <a:ext cx="1463040" cy="233172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31920" y="1792224"/>
            <a:ext cx="1097280" cy="256032"/>
          </a:xfrm>
          <a:prstGeom prst="roundRect">
            <a:avLst/>
          </a:prstGeom>
          <a:solidFill>
            <a:srgbClr val="189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17373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2.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2148840"/>
            <a:ext cx="1133856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Lecture, réponse, édition, simulation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1645920"/>
            <a:ext cx="1463040" cy="233172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77840" y="1792224"/>
            <a:ext cx="1097280" cy="256032"/>
          </a:xfrm>
          <a:prstGeom prst="round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2" y="17373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3. Browser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2148840"/>
            <a:ext cx="1133856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Ouverture mails, scroll, liens, PJ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645920"/>
            <a:ext cx="1463040" cy="233172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0" y="1792224"/>
            <a:ext cx="109728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17373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4. IA configurable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2148840"/>
            <a:ext cx="1133856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LLM local/distant, fallback, paramètres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645920"/>
            <a:ext cx="1188720" cy="233172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9680" y="1792224"/>
            <a:ext cx="1097280" cy="256032"/>
          </a:xfrm>
          <a:prstGeom prst="roundRect">
            <a:avLst/>
          </a:prstGeom>
          <a:solidFill>
            <a:srgbClr val="5C4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17373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5.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7112" y="2148840"/>
            <a:ext cx="859536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Création mails, PJ output, liens sortants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1645920"/>
            <a:ext cx="1645920" cy="233172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95560" y="1792224"/>
            <a:ext cx="1097280" cy="256032"/>
          </a:xfrm>
          <a:prstGeom prst="roundRect">
            <a:avLst/>
          </a:prstGeom>
          <a:solidFill>
            <a:srgbClr val="189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22992" y="17373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6. 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2992" y="2148840"/>
            <a:ext cx="1316736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Statistiques, exploitation,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343400"/>
            <a:ext cx="3749039" cy="109728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4489704"/>
            <a:ext cx="109728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" y="44348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Principe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4846320"/>
            <a:ext cx="34198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Chaque phase doit être livrable, testable et compatible avec la suivante.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343400"/>
            <a:ext cx="3200400" cy="109728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663440" y="4489704"/>
            <a:ext cx="1097280" cy="256032"/>
          </a:xfrm>
          <a:prstGeom prst="roundRect">
            <a:avLst/>
          </a:prstGeom>
          <a:solidFill>
            <a:srgbClr val="189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90872" y="44348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Critère V1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0872" y="4846320"/>
            <a:ext cx="2871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Réduction tangible des actions manuelles et validation finale conservée.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343400"/>
            <a:ext cx="3657600" cy="109728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46720" y="4489704"/>
            <a:ext cx="1097280" cy="256032"/>
          </a:xfrm>
          <a:prstGeom prst="round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4152" y="44348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Critère industriel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2" y="4846320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Architecture modulaire, coûts suivis, quotas et options activables par client.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263640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2CE"/>
                </a:solidFill>
                <a:latin typeface="Aptos"/>
              </a:rPr>
              <a:t>Roadmap modulaire – base de pilotage projet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 Display"/>
              </a:rPr>
              <a:t>Exploitation, propriété intellectuelle et commercialisation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9C4EF"/>
                </a:solidFill>
                <a:latin typeface="Aptos"/>
              </a:rPr>
              <a:t>Le modèle économique dépendra des options activées et du niveau d’automatisation retenu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657600" cy="1874519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63624"/>
            <a:ext cx="1097280" cy="256032"/>
          </a:xfrm>
          <a:prstGeom prst="roundRect">
            <a:avLst/>
          </a:prstGeom>
          <a:solidFill>
            <a:srgbClr val="5C4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Propriété intellectuelle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3328416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Protéger code, architecture, prompts, UI, marque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Prévoir contrats de titularité / cession et clauses de confidentialité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Documenter les versions et preuves d’antériorité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657600" cy="1874519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563624"/>
            <a:ext cx="1097280" cy="256032"/>
          </a:xfrm>
          <a:prstGeom prst="round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087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Anti-usage non autorisé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20240"/>
            <a:ext cx="3328416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Activation par licence / organisation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Quotas d’usage, plafonds Browser Use et désactivation distante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Contrôle des versions et cloisonnement des clients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20440" cy="1874519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563624"/>
            <a:ext cx="1097280" cy="256032"/>
          </a:xfrm>
          <a:prstGeom prst="roundRect">
            <a:avLst/>
          </a:prstGeom>
          <a:solidFill>
            <a:srgbClr val="189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5087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920240"/>
            <a:ext cx="3191256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Déploiement dédié ou mutualisé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Paramètres personnalisés par client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Suivi comptable et ventilation des coûts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80"/>
            <a:ext cx="5212080" cy="173736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758184"/>
            <a:ext cx="1097280" cy="25603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033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Commercialisation recommandée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14800"/>
            <a:ext cx="48828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Offre Essentiel : assistance de lecture/réponse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Offre Assisté : Browser Use limité, liens et PJ</a:t>
            </a:r>
          </a:p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• Offre Avancé : Browser Use étendu, création de mails, statistiques futures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611880"/>
            <a:ext cx="5669280" cy="1737360"/>
          </a:xfrm>
          <a:prstGeom prst="roundRect">
            <a:avLst/>
          </a:prstGeom>
          <a:solidFill>
            <a:srgbClr val="141D38"/>
          </a:solidFill>
          <a:ln w="12700">
            <a:solidFill>
              <a:srgbClr val="2C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758184"/>
            <a:ext cx="1097280" cy="256032"/>
          </a:xfrm>
          <a:prstGeom prst="round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37033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Conséquence pour la présentation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4114800"/>
            <a:ext cx="534009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E6EBF8"/>
                </a:solidFill>
                <a:latin typeface="Aptos"/>
              </a:defRPr>
            </a:pPr>
            <a:r>
              <a:t>La promesse produit reste valide. En revanche, le packaging commercial, les tarifs et l’exploitation doivent rester modulaires, car ils dépendront du niveau d’automatisation, du moteur IA choisi et des options activées.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2CE"/>
                </a:solidFill>
                <a:latin typeface="Aptos"/>
              </a:rPr>
              <a:t>Positionnement technique et commercial mis à jour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technique et commerciale</dc:title>
  <dc:subject>Agent mail accessible</dc:subject>
  <dc:creator>OpenAI</dc:creator>
  <cp:lastModifiedBy/>
  <cp:revision>2</cp:revision>
  <dcterms:created xsi:type="dcterms:W3CDTF">2026-03-11T12:22:50Z</dcterms:created>
  <dcterms:modified xsi:type="dcterms:W3CDTF">2026-03-11T15:16:56Z</dcterms:modified>
</cp:coreProperties>
</file>